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4480560"/>
            <a:ext cx="9144000" cy="667512"/>
          </a:xfrm>
          <a:prstGeom prst="rect">
            <a:avLst/>
          </a:prstGeom>
          <a:solidFill>
            <a:srgbClr val="16241C"/>
          </a:solidFill>
          <a:ln w="12700">
            <a:solidFill>
              <a:srgbClr val="16241C"/>
            </a:solidFill>
            <a:prstDash val="solid"/>
          </a:ln>
        </p:spPr>
      </p:sp>
      <p:sp>
        <p:nvSpPr>
          <p:cNvPr id="4" name="Text 2"/>
          <p:cNvSpPr/>
          <p:nvPr/>
        </p:nvSpPr>
        <p:spPr>
          <a:xfrm>
            <a:off x="502920" y="1371600"/>
            <a:ext cx="8138160" cy="640080"/>
          </a:xfrm>
          <a:prstGeom prst="rect">
            <a:avLst/>
          </a:prstGeom>
          <a:noFill/>
          <a:ln/>
        </p:spPr>
        <p:txBody>
          <a:bodyPr wrap="square" rtlCol="0" anchor="ctr"/>
          <a:lstStyle/>
          <a:p>
            <a:pPr indent="0" marL="0">
              <a:buNone/>
            </a:pPr>
            <a:r>
              <a:rPr lang="en-US" sz="4000" spc="300" kern="0" dirty="0">
                <a:solidFill>
                  <a:srgbClr val="EDE6DA"/>
                </a:solidFill>
                <a:latin typeface="Century Gothic" pitchFamily="34" charset="0"/>
                <a:ea typeface="Century Gothic" pitchFamily="34" charset="-122"/>
                <a:cs typeface="Century Gothic" pitchFamily="34" charset="-120"/>
              </a:rPr>
              <a:t>L&amp;K WELLNESS</a:t>
            </a:r>
            <a:endParaRPr lang="en-US" sz="4000" dirty="0"/>
          </a:p>
        </p:txBody>
      </p:sp>
      <p:sp>
        <p:nvSpPr>
          <p:cNvPr id="5" name="Shape 3"/>
          <p:cNvSpPr/>
          <p:nvPr/>
        </p:nvSpPr>
        <p:spPr>
          <a:xfrm>
            <a:off x="502920" y="2121408"/>
            <a:ext cx="822960" cy="41148"/>
          </a:xfrm>
          <a:prstGeom prst="rect">
            <a:avLst/>
          </a:prstGeom>
          <a:solidFill>
            <a:srgbClr val="C08D7C"/>
          </a:solidFill>
          <a:ln w="12700">
            <a:solidFill>
              <a:srgbClr val="C08D7C"/>
            </a:solidFill>
            <a:prstDash val="solid"/>
          </a:ln>
        </p:spPr>
      </p:sp>
      <p:sp>
        <p:nvSpPr>
          <p:cNvPr id="6" name="Text 4"/>
          <p:cNvSpPr/>
          <p:nvPr/>
        </p:nvSpPr>
        <p:spPr>
          <a:xfrm>
            <a:off x="502920" y="2331720"/>
            <a:ext cx="8138160" cy="411480"/>
          </a:xfrm>
          <a:prstGeom prst="rect">
            <a:avLst/>
          </a:prstGeom>
          <a:noFill/>
          <a:ln/>
        </p:spPr>
        <p:txBody>
          <a:bodyPr wrap="square" rtlCol="0" anchor="ctr"/>
          <a:lstStyle/>
          <a:p>
            <a:pPr indent="0" marL="0">
              <a:buNone/>
            </a:pPr>
            <a:r>
              <a:rPr lang="en-US" sz="2000" dirty="0">
                <a:solidFill>
                  <a:srgbClr val="EDE6DA"/>
                </a:solidFill>
                <a:latin typeface="Century Gothic" pitchFamily="34" charset="0"/>
                <a:ea typeface="Century Gothic" pitchFamily="34" charset="-122"/>
                <a:cs typeface="Century Gothic" pitchFamily="34" charset="-120"/>
              </a:rPr>
              <a:t>A licensed clinic inside a private club.</a:t>
            </a:r>
            <a:endParaRPr lang="en-US" sz="2000" dirty="0"/>
          </a:p>
        </p:txBody>
      </p:sp>
      <p:sp>
        <p:nvSpPr>
          <p:cNvPr id="7" name="Text 5"/>
          <p:cNvSpPr/>
          <p:nvPr/>
        </p:nvSpPr>
        <p:spPr>
          <a:xfrm>
            <a:off x="502920" y="2788920"/>
            <a:ext cx="6510528" cy="457200"/>
          </a:xfrm>
          <a:prstGeom prst="rect">
            <a:avLst/>
          </a:prstGeom>
          <a:noFill/>
          <a:ln/>
        </p:spPr>
        <p:txBody>
          <a:bodyPr wrap="square" rtlCol="0" anchor="ctr"/>
          <a:lstStyle/>
          <a:p>
            <a:pPr indent="0" marL="0">
              <a:buNone/>
            </a:pPr>
            <a:r>
              <a:rPr lang="en-US" sz="1250" dirty="0">
                <a:solidFill>
                  <a:srgbClr val="C08D7C"/>
                </a:solidFill>
                <a:latin typeface="Calibri" pitchFamily="34" charset="0"/>
                <a:ea typeface="Calibri" pitchFamily="34" charset="-122"/>
                <a:cs typeface="Calibri" pitchFamily="34" charset="-120"/>
              </a:rPr>
              <a:t>The medicine is open to everyone. The room you want to stay in is members only.</a:t>
            </a:r>
            <a:endParaRPr lang="en-US" sz="1250" dirty="0"/>
          </a:p>
        </p:txBody>
      </p:sp>
      <p:sp>
        <p:nvSpPr>
          <p:cNvPr id="8" name="Text 6"/>
          <p:cNvSpPr/>
          <p:nvPr/>
        </p:nvSpPr>
        <p:spPr>
          <a:xfrm>
            <a:off x="502920" y="3429000"/>
            <a:ext cx="8138160" cy="274320"/>
          </a:xfrm>
          <a:prstGeom prst="rect">
            <a:avLst/>
          </a:prstGeom>
          <a:noFill/>
          <a:ln/>
        </p:spPr>
        <p:txBody>
          <a:bodyPr wrap="square" rtlCol="0" anchor="ctr"/>
          <a:lstStyle/>
          <a:p>
            <a:pPr indent="0" marL="0">
              <a:buNone/>
            </a:pPr>
            <a:r>
              <a:rPr lang="en-US" sz="1050" dirty="0">
                <a:solidFill>
                  <a:srgbClr val="A8A296"/>
                </a:solidFill>
                <a:latin typeface="Calibri" pitchFamily="34" charset="0"/>
                <a:ea typeface="Calibri" pitchFamily="34" charset="-122"/>
                <a:cs typeface="Calibri" pitchFamily="34" charset="-120"/>
              </a:rPr>
              <a:t>Playa Vista, California   ·   5,825 SF   ·   Est. 2026   ·   Surgical case, $5.3M project</a:t>
            </a:r>
            <a:endParaRPr lang="en-US" sz="1050" dirty="0"/>
          </a:p>
        </p:txBody>
      </p:sp>
      <p:sp>
        <p:nvSpPr>
          <p:cNvPr id="9" name="Text 7"/>
          <p:cNvSpPr/>
          <p:nvPr/>
        </p:nvSpPr>
        <p:spPr>
          <a:xfrm>
            <a:off x="502920" y="4645152"/>
            <a:ext cx="8138160" cy="274320"/>
          </a:xfrm>
          <a:prstGeom prst="rect">
            <a:avLst/>
          </a:prstGeom>
          <a:noFill/>
          <a:ln/>
        </p:spPr>
        <p:txBody>
          <a:bodyPr wrap="square" rtlCol="0" anchor="ctr"/>
          <a:lstStyle/>
          <a:p>
            <a:pPr indent="0" marL="0">
              <a:buNone/>
            </a:pPr>
            <a:r>
              <a:rPr lang="en-US" sz="800" spc="200" kern="0" dirty="0">
                <a:solidFill>
                  <a:srgbClr val="A8A296"/>
                </a:solidFill>
                <a:latin typeface="Century Gothic" pitchFamily="34" charset="0"/>
                <a:ea typeface="Century Gothic" pitchFamily="34" charset="-122"/>
                <a:cs typeface="Century Gothic" pitchFamily="34" charset="-120"/>
              </a:rPr>
              <a:t>CONFIDENTIAL  ·  INVESTOR AND SBA BRIEF  ·  FOR QUALIFIED RECIPIENTS ONLY</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PROBLEM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Wellness on the Westside is fragmented.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patient optimizing their health today visits a medspa for injectables, a recovery studio for cold plunge, a longevity clinic for labs, and a concierge doctor for hormones. Four intakes, four records, four bills. Not one of them is somewhere you would choose to spend a Saturday morning.</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4+</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Separate providers a patient coordinates for care that belongs in one building.</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24 of 30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Services on the L&amp;K menu that require a physician, nurse practitioner or nurse. A recovery studio without a physician can offer 6.</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10,488</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US medical spas as of 2023, up from 8,899 the year before. The category is commoditizing on treatment alone.</a:t>
            </a:r>
            <a:endParaRPr lang="en-US" sz="9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INSIGHT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Others proved the format. Only a licensed facility can deliver it.</a:t>
            </a:r>
            <a:endParaRPr lang="en-US" sz="2600" dirty="0"/>
          </a:p>
        </p:txBody>
      </p:sp>
      <p:sp>
        <p:nvSpPr>
          <p:cNvPr id="4" name="Shape 2"/>
          <p:cNvSpPr/>
          <p:nvPr/>
        </p:nvSpPr>
        <p:spPr>
          <a:xfrm>
            <a:off x="502920" y="1463040"/>
            <a:ext cx="3986784" cy="1371600"/>
          </a:xfrm>
          <a:prstGeom prst="roundRect">
            <a:avLst>
              <a:gd name="adj" fmla="val 4000"/>
            </a:avLst>
          </a:prstGeom>
          <a:solidFill>
            <a:srgbClr val="16241C"/>
          </a:solidFill>
          <a:ln w="12700">
            <a:solidFill>
              <a:srgbClr val="2E4237"/>
            </a:solidFill>
            <a:prstDash val="solid"/>
          </a:ln>
        </p:spPr>
      </p:sp>
      <p:sp>
        <p:nvSpPr>
          <p:cNvPr id="5" name="Text 3"/>
          <p:cNvSpPr/>
          <p:nvPr/>
        </p:nvSpPr>
        <p:spPr>
          <a:xfrm>
            <a:off x="649224"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Remedy Place</a:t>
            </a:r>
            <a:endParaRPr lang="en-US" sz="2000" dirty="0"/>
          </a:p>
        </p:txBody>
      </p:sp>
      <p:sp>
        <p:nvSpPr>
          <p:cNvPr id="6" name="Text 4"/>
          <p:cNvSpPr/>
          <p:nvPr/>
        </p:nvSpPr>
        <p:spPr>
          <a:xfrm>
            <a:off x="649224"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a non-medical operator stops. No physician on site means no PRP, no IV therapy, no neuromodulators, no filler, no laser. Not features they skipped: the other side of a licensing threshold.</a:t>
            </a:r>
            <a:endParaRPr lang="en-US" sz="900" dirty="0"/>
          </a:p>
        </p:txBody>
      </p:sp>
      <p:sp>
        <p:nvSpPr>
          <p:cNvPr id="7" name="Shape 5"/>
          <p:cNvSpPr/>
          <p:nvPr/>
        </p:nvSpPr>
        <p:spPr>
          <a:xfrm>
            <a:off x="4654296" y="1463040"/>
            <a:ext cx="3986784" cy="1371600"/>
          </a:xfrm>
          <a:prstGeom prst="roundRect">
            <a:avLst>
              <a:gd name="adj" fmla="val 4000"/>
            </a:avLst>
          </a:prstGeom>
          <a:solidFill>
            <a:srgbClr val="16241C"/>
          </a:solidFill>
          <a:ln w="12700">
            <a:solidFill>
              <a:srgbClr val="2E4237"/>
            </a:solidFill>
            <a:prstDash val="solid"/>
          </a:ln>
        </p:spPr>
      </p:sp>
      <p:sp>
        <p:nvSpPr>
          <p:cNvPr id="8" name="Text 6"/>
          <p:cNvSpPr/>
          <p:nvPr/>
        </p:nvSpPr>
        <p:spPr>
          <a:xfrm>
            <a:off x="4800600" y="1591056"/>
            <a:ext cx="3694176"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Soho House</a:t>
            </a:r>
            <a:endParaRPr lang="en-US" sz="2000" dirty="0"/>
          </a:p>
        </p:txBody>
      </p:sp>
      <p:sp>
        <p:nvSpPr>
          <p:cNvPr id="9" name="Text 7"/>
          <p:cNvSpPr/>
          <p:nvPr/>
        </p:nvSpPr>
        <p:spPr>
          <a:xfrm>
            <a:off x="4800600" y="2029968"/>
            <a:ext cx="3694176" cy="67665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Where the ladder was proven. Soho Friends is a published annual tier buying discounts and event invitations but no club access. What they lack is medicine.</a:t>
            </a:r>
            <a:endParaRPr lang="en-US" sz="900" dirty="0"/>
          </a:p>
        </p:txBody>
      </p:sp>
      <p:sp>
        <p:nvSpPr>
          <p:cNvPr id="10" name="Shape 8"/>
          <p:cNvSpPr/>
          <p:nvPr/>
        </p:nvSpPr>
        <p:spPr>
          <a:xfrm>
            <a:off x="502920" y="3017520"/>
            <a:ext cx="8138160" cy="1417320"/>
          </a:xfrm>
          <a:prstGeom prst="roundRect">
            <a:avLst>
              <a:gd name="adj" fmla="val 3871"/>
            </a:avLst>
          </a:prstGeom>
          <a:solidFill>
            <a:srgbClr val="241C1A"/>
          </a:solidFill>
          <a:ln w="12700">
            <a:solidFill>
              <a:srgbClr val="C08D7C"/>
            </a:solidFill>
            <a:prstDash val="solid"/>
          </a:ln>
        </p:spPr>
      </p:sp>
      <p:sp>
        <p:nvSpPr>
          <p:cNvPr id="11" name="Text 9"/>
          <p:cNvSpPr/>
          <p:nvPr/>
        </p:nvSpPr>
        <p:spPr>
          <a:xfrm>
            <a:off x="704088" y="3154680"/>
            <a:ext cx="7735824"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THE DIFFERENCE</a:t>
            </a:r>
            <a:endParaRPr lang="en-US" sz="850" dirty="0"/>
          </a:p>
        </p:txBody>
      </p:sp>
      <p:sp>
        <p:nvSpPr>
          <p:cNvPr id="12" name="Text 10"/>
          <p:cNvSpPr/>
          <p:nvPr/>
        </p:nvSpPr>
        <p:spPr>
          <a:xfrm>
            <a:off x="704088" y="3383280"/>
            <a:ext cx="7735824" cy="411480"/>
          </a:xfrm>
          <a:prstGeom prst="rect">
            <a:avLst/>
          </a:prstGeom>
          <a:noFill/>
          <a:ln/>
        </p:spPr>
        <p:txBody>
          <a:bodyPr wrap="square" rtlCol="0" anchor="ctr"/>
          <a:lstStyle/>
          <a:p>
            <a:pPr indent="0" marL="0">
              <a:buNone/>
            </a:pPr>
            <a:r>
              <a:rPr lang="en-US" sz="1450" dirty="0">
                <a:solidFill>
                  <a:srgbClr val="EDE6DA"/>
                </a:solidFill>
                <a:latin typeface="Century Gothic" pitchFamily="34" charset="0"/>
                <a:ea typeface="Century Gothic" pitchFamily="34" charset="-122"/>
                <a:cs typeface="Century Gothic" pitchFamily="34" charset="-120"/>
              </a:rPr>
              <a:t>L&amp;K is not a practice built around a doctor. It is the facility a doctor needs.</a:t>
            </a:r>
            <a:endParaRPr lang="en-US" sz="1450" dirty="0"/>
          </a:p>
        </p:txBody>
      </p:sp>
      <p:sp>
        <p:nvSpPr>
          <p:cNvPr id="13" name="Text 11"/>
          <p:cNvSpPr/>
          <p:nvPr/>
        </p:nvSpPr>
        <p:spPr>
          <a:xfrm>
            <a:off x="704088" y="3803904"/>
            <a:ext cx="7735824" cy="548640"/>
          </a:xfrm>
          <a:prstGeom prst="rect">
            <a:avLst/>
          </a:prstGeom>
          <a:noFill/>
          <a:ln/>
        </p:spPr>
        <p:txBody>
          <a:bodyPr wrap="square" rtlCol="0" anchor="ctr"/>
          <a:lstStyle/>
          <a:p>
            <a:pPr indent="0" marL="0">
              <a:lnSpc>
                <a:spcPct val="120000"/>
              </a:lnSpc>
              <a:buNone/>
            </a:pPr>
            <a:r>
              <a:rPr lang="en-US" sz="1050" dirty="0">
                <a:solidFill>
                  <a:srgbClr val="A8A296"/>
                </a:solidFill>
                <a:latin typeface="Calibri" pitchFamily="34" charset="0"/>
                <a:ea typeface="Calibri" pitchFamily="34" charset="-122"/>
                <a:cs typeface="Calibri" pitchFamily="34" charset="-120"/>
              </a:rPr>
              <a:t>The rooms, the diagnostics, the infusion suite, the operating suite, the staff and the accreditation, already standing. Physicians practice here. Investors own the building they practice in, which is why the surgical lines bill a facility fee while the surgeon bills their own patients directly.</a:t>
            </a:r>
            <a:endParaRPr lang="en-US" sz="105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building. Two layers. Different doors.</a:t>
            </a:r>
            <a:endParaRPr lang="en-US" sz="2600" dirty="0"/>
          </a:p>
        </p:txBody>
      </p:sp>
      <p:sp>
        <p:nvSpPr>
          <p:cNvPr id="4" name="Shape 2"/>
          <p:cNvSpPr/>
          <p:nvPr/>
        </p:nvSpPr>
        <p:spPr>
          <a:xfrm>
            <a:off x="1508760" y="1325880"/>
            <a:ext cx="6126480" cy="1325880"/>
          </a:xfrm>
          <a:prstGeom prst="roundRect">
            <a:avLst>
              <a:gd name="adj" fmla="val 4138"/>
            </a:avLst>
          </a:prstGeom>
          <a:solidFill>
            <a:srgbClr val="241C1A"/>
          </a:solidFill>
          <a:ln w="15875">
            <a:solidFill>
              <a:srgbClr val="C08D7C"/>
            </a:solidFill>
            <a:prstDash val="solid"/>
          </a:ln>
        </p:spPr>
      </p:sp>
      <p:sp>
        <p:nvSpPr>
          <p:cNvPr id="5" name="Text 3"/>
          <p:cNvSpPr/>
          <p:nvPr/>
        </p:nvSpPr>
        <p:spPr>
          <a:xfrm>
            <a:off x="1691640" y="1444752"/>
            <a:ext cx="5760720" cy="182880"/>
          </a:xfrm>
          <a:prstGeom prst="rect">
            <a:avLst/>
          </a:prstGeom>
          <a:noFill/>
          <a:ln/>
        </p:spPr>
        <p:txBody>
          <a:bodyPr wrap="square" rtlCol="0" anchor="ctr"/>
          <a:lstStyle/>
          <a:p>
            <a:pPr indent="0" marL="0">
              <a:buNone/>
            </a:pPr>
            <a:r>
              <a:rPr lang="en-US" sz="800" spc="240" kern="0" dirty="0">
                <a:solidFill>
                  <a:srgbClr val="C08D7C"/>
                </a:solidFill>
                <a:latin typeface="Century Gothic" pitchFamily="34" charset="0"/>
                <a:ea typeface="Century Gothic" pitchFamily="34" charset="-122"/>
                <a:cs typeface="Century Gothic" pitchFamily="34" charset="-120"/>
              </a:rPr>
              <a:t>MEMBERS ONLY  ·  CAPPED</a:t>
            </a:r>
            <a:endParaRPr lang="en-US" sz="800" dirty="0"/>
          </a:p>
        </p:txBody>
      </p:sp>
      <p:sp>
        <p:nvSpPr>
          <p:cNvPr id="6" name="Text 4"/>
          <p:cNvSpPr/>
          <p:nvPr/>
        </p:nvSpPr>
        <p:spPr>
          <a:xfrm>
            <a:off x="1691640" y="1627632"/>
            <a:ext cx="5760720"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Club</a:t>
            </a:r>
            <a:endParaRPr lang="en-US" sz="1600" dirty="0"/>
          </a:p>
        </p:txBody>
      </p:sp>
      <p:sp>
        <p:nvSpPr>
          <p:cNvPr id="7" name="Text 5"/>
          <p:cNvSpPr/>
          <p:nvPr/>
        </p:nvSpPr>
        <p:spPr>
          <a:xfrm>
            <a:off x="1691640" y="1956816"/>
            <a:ext cx="5760720" cy="548640"/>
          </a:xfrm>
          <a:prstGeom prst="rect">
            <a:avLst/>
          </a:prstGeom>
          <a:noFill/>
          <a:ln/>
        </p:spPr>
        <p:txBody>
          <a:bodyPr wrap="square" rtlCol="0" anchor="ctr"/>
          <a:lstStyle/>
          <a:p>
            <a:pPr indent="0" marL="0">
              <a:lnSpc>
                <a:spcPct val="120000"/>
              </a:lnSpc>
              <a:buNone/>
            </a:pPr>
            <a:r>
              <a:rPr lang="en-US" sz="1000" dirty="0">
                <a:solidFill>
                  <a:srgbClr val="A8A296"/>
                </a:solidFill>
                <a:latin typeface="Calibri" pitchFamily="34" charset="0"/>
                <a:ea typeface="Calibri" pitchFamily="34" charset="-122"/>
                <a:cs typeface="Calibri" pitchFamily="34" charset="-120"/>
              </a:rPr>
              <a:t>Contrast suite  ·  Sauna and cold plunge ritual  ·  The Lounge  ·  Member events  ·  Guest passes  ·  Priority booking  ·  Private buyouts</a:t>
            </a:r>
            <a:endParaRPr lang="en-US" sz="1000" dirty="0"/>
          </a:p>
        </p:txBody>
      </p:sp>
      <p:sp>
        <p:nvSpPr>
          <p:cNvPr id="8" name="Text 6"/>
          <p:cNvSpPr/>
          <p:nvPr/>
        </p:nvSpPr>
        <p:spPr>
          <a:xfrm>
            <a:off x="502920" y="2697480"/>
            <a:ext cx="8138160" cy="237744"/>
          </a:xfrm>
          <a:prstGeom prst="rect">
            <a:avLst/>
          </a:prstGeom>
          <a:noFill/>
          <a:ln/>
        </p:spPr>
        <p:txBody>
          <a:bodyPr wrap="square" rtlCol="0" anchor="ctr"/>
          <a:lstStyle/>
          <a:p>
            <a:pPr algn="ctr" indent="0" marL="0">
              <a:buNone/>
            </a:pPr>
            <a:r>
              <a:rPr lang="en-US" sz="900" spc="200" kern="0" dirty="0">
                <a:solidFill>
                  <a:srgbClr val="6E6A62"/>
                </a:solidFill>
                <a:latin typeface="Century Gothic" pitchFamily="34" charset="0"/>
                <a:ea typeface="Century Gothic" pitchFamily="34" charset="-122"/>
                <a:cs typeface="Century Gothic" pitchFamily="34" charset="-120"/>
              </a:rPr>
              <a:t>Membership sits on top. It never sits in front.</a:t>
            </a:r>
            <a:endParaRPr lang="en-US" sz="900" dirty="0"/>
          </a:p>
        </p:txBody>
      </p:sp>
      <p:sp>
        <p:nvSpPr>
          <p:cNvPr id="9" name="Shape 7"/>
          <p:cNvSpPr/>
          <p:nvPr/>
        </p:nvSpPr>
        <p:spPr>
          <a:xfrm>
            <a:off x="502920" y="2999232"/>
            <a:ext cx="8138160" cy="1463040"/>
          </a:xfrm>
          <a:prstGeom prst="roundRect">
            <a:avLst>
              <a:gd name="adj" fmla="val 3750"/>
            </a:avLst>
          </a:prstGeom>
          <a:solidFill>
            <a:srgbClr val="16241C"/>
          </a:solidFill>
          <a:ln w="12700">
            <a:solidFill>
              <a:srgbClr val="2E4237"/>
            </a:solidFill>
            <a:prstDash val="solid"/>
          </a:ln>
        </p:spPr>
      </p:sp>
      <p:sp>
        <p:nvSpPr>
          <p:cNvPr id="10" name="Text 8"/>
          <p:cNvSpPr/>
          <p:nvPr/>
        </p:nvSpPr>
        <p:spPr>
          <a:xfrm>
            <a:off x="704088" y="3127248"/>
            <a:ext cx="7735824" cy="182880"/>
          </a:xfrm>
          <a:prstGeom prst="rect">
            <a:avLst/>
          </a:prstGeom>
          <a:noFill/>
          <a:ln/>
        </p:spPr>
        <p:txBody>
          <a:bodyPr wrap="square" rtlCol="0" anchor="ctr"/>
          <a:lstStyle/>
          <a:p>
            <a:pPr indent="0" marL="0">
              <a:buNone/>
            </a:pPr>
            <a:r>
              <a:rPr lang="en-US" sz="800" spc="240" kern="0" dirty="0">
                <a:solidFill>
                  <a:srgbClr val="6E6A62"/>
                </a:solidFill>
                <a:latin typeface="Century Gothic" pitchFamily="34" charset="0"/>
                <a:ea typeface="Century Gothic" pitchFamily="34" charset="-122"/>
                <a:cs typeface="Century Gothic" pitchFamily="34" charset="-120"/>
              </a:rPr>
              <a:t>OPEN TO EVERYONE  ·  NO MEMBERSHIP REQUIRED</a:t>
            </a:r>
            <a:endParaRPr lang="en-US" sz="800" dirty="0"/>
          </a:p>
        </p:txBody>
      </p:sp>
      <p:sp>
        <p:nvSpPr>
          <p:cNvPr id="11" name="Text 9"/>
          <p:cNvSpPr/>
          <p:nvPr/>
        </p:nvSpPr>
        <p:spPr>
          <a:xfrm>
            <a:off x="704088" y="3310128"/>
            <a:ext cx="7735824" cy="292608"/>
          </a:xfrm>
          <a:prstGeom prst="rect">
            <a:avLst/>
          </a:prstGeom>
          <a:noFill/>
          <a:ln/>
        </p:spPr>
        <p:txBody>
          <a:bodyPr wrap="square" rtlCol="0" anchor="ctr"/>
          <a:lstStyle/>
          <a:p>
            <a:pPr indent="0" marL="0">
              <a:buNone/>
            </a:pPr>
            <a:r>
              <a:rPr lang="en-US" sz="1600" dirty="0">
                <a:solidFill>
                  <a:srgbClr val="EDE6DA"/>
                </a:solidFill>
                <a:latin typeface="Century Gothic" pitchFamily="34" charset="0"/>
                <a:ea typeface="Century Gothic" pitchFamily="34" charset="-122"/>
                <a:cs typeface="Century Gothic" pitchFamily="34" charset="-120"/>
              </a:rPr>
              <a:t>The Clinic</a:t>
            </a:r>
            <a:endParaRPr lang="en-US" sz="1600" dirty="0"/>
          </a:p>
        </p:txBody>
      </p:sp>
      <p:sp>
        <p:nvSpPr>
          <p:cNvPr id="12" name="Text 10"/>
          <p:cNvSpPr/>
          <p:nvPr/>
        </p:nvSpPr>
        <p:spPr>
          <a:xfrm>
            <a:off x="704088" y="3639312"/>
            <a:ext cx="7735824" cy="731520"/>
          </a:xfrm>
          <a:prstGeom prst="rect">
            <a:avLst/>
          </a:prstGeom>
          <a:noFill/>
          <a:ln/>
        </p:spPr>
        <p:txBody>
          <a:bodyPr wrap="square" rtlCol="0" anchor="ctr"/>
          <a:lstStyle/>
          <a:p>
            <a:pPr indent="0" marL="0">
              <a:lnSpc>
                <a:spcPct val="120000"/>
              </a:lnSpc>
              <a:buNone/>
            </a:pPr>
            <a:r>
              <a:rPr lang="en-US" sz="950" dirty="0">
                <a:solidFill>
                  <a:srgbClr val="A8A296"/>
                </a:solidFill>
                <a:latin typeface="Calibri" pitchFamily="34" charset="0"/>
                <a:ea typeface="Calibri" pitchFamily="34" charset="-122"/>
                <a:cs typeface="Calibri" pitchFamily="34" charset="-120"/>
              </a:rPr>
              <a:t>Aescape Robotic Massage  ·  Ammortal Chamber  ·  Red Light Therapy  ·  Hyperbaric Oxygen  ·  Compression Therapy  ·  PRP: Hair &amp; Scalp  ·  PRP: Face &amp; Aesthetic  ·  PRP: Scar &amp; Skin Repair  ·  PRP: Soft Tissue  ·  PRP: Joint &amp; Cartilage  ·  PRP: Post-procedure  ·  Basic Hydration  ·  Myers Cocktail  ·  Recovery / Hangover  ·  Immunity / High-Dose C  ·  Beauty / Glutathione  ·  Athletic Performance  ·  NAD+ 100mg  ·  NAD+ 250mg  ·  NAD+ 500mg  ·  IM Shot: B12 / Lipo  ·  Therapeutic medications  ·  Botox (15-unit minimum)  ·  Filler (0.5 ml)  ·  RF Microneedling  ·  Laser Platform  ·  Advanced Biometrics  ·  DNA Analysis  ·  DUTCH Plus Test  ·  DEXA Scan  ·  Blepharoplasty (facility fee)  ·  Facial Contouring Surgery (facility fee)  ·  Awake Liposuction &amp; Body Contouring (facility fee)  ·  Fat Grafting &amp; Transfer (facility fee)  ·  Hair Restoration Surgery  ·  Office Surgical Procedures  ·  Ablative Laser &amp; Skin Tightening</a:t>
            </a:r>
            <a:endParaRPr lang="en-US" sz="95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SURGERY SUITE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One accredited operating room, inside the clinic.</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A 900 SF office-based surgery suite planned to the published iOR Partners specification, accredited by Quad A. It sits in the clinic layer, so anyone can book it, surgery is never a membership benefit. L&amp;K bills a facility fee; the operating surgeon is a principal who bills their professional fee directly.</a:t>
            </a:r>
            <a:endParaRPr lang="en-US" sz="1150" dirty="0"/>
          </a:p>
        </p:txBody>
      </p:sp>
      <p:sp>
        <p:nvSpPr>
          <p:cNvPr id="5" name="Shape 3"/>
          <p:cNvSpPr/>
          <p:nvPr/>
        </p:nvSpPr>
        <p:spPr>
          <a:xfrm>
            <a:off x="502920" y="1645920"/>
            <a:ext cx="8138160" cy="841248"/>
          </a:xfrm>
          <a:prstGeom prst="roundRect">
            <a:avLst>
              <a:gd name="adj" fmla="val 6522"/>
            </a:avLst>
          </a:prstGeom>
          <a:solidFill>
            <a:srgbClr val="241C1A"/>
          </a:solidFill>
          <a:ln w="15875">
            <a:solidFill>
              <a:srgbClr val="C08D7C"/>
            </a:solidFill>
            <a:prstDash val="solid"/>
          </a:ln>
        </p:spPr>
      </p:sp>
      <p:sp>
        <p:nvSpPr>
          <p:cNvPr id="6" name="Text 4"/>
          <p:cNvSpPr/>
          <p:nvPr/>
        </p:nvSpPr>
        <p:spPr>
          <a:xfrm>
            <a:off x="704088" y="1737360"/>
            <a:ext cx="7735824" cy="256032"/>
          </a:xfrm>
          <a:prstGeom prst="rect">
            <a:avLst/>
          </a:prstGeom>
          <a:noFill/>
          <a:ln/>
        </p:spPr>
        <p:txBody>
          <a:bodyPr wrap="square" rtlCol="0" anchor="ctr"/>
          <a:lstStyle/>
          <a:p>
            <a:pPr indent="0" marL="0">
              <a:buNone/>
            </a:pPr>
            <a:r>
              <a:rPr lang="en-US" sz="1300" dirty="0">
                <a:solidFill>
                  <a:srgbClr val="EDE6DA"/>
                </a:solidFill>
                <a:latin typeface="Century Gothic" pitchFamily="34" charset="0"/>
                <a:ea typeface="Century Gothic" pitchFamily="34" charset="-122"/>
                <a:cs typeface="Century Gothic" pitchFamily="34" charset="-120"/>
              </a:rPr>
              <a:t>Moderate sedation. Under two hours of recovery. Nothing above that line.</a:t>
            </a:r>
            <a:endParaRPr lang="en-US" sz="1300" dirty="0"/>
          </a:p>
        </p:txBody>
      </p:sp>
      <p:sp>
        <p:nvSpPr>
          <p:cNvPr id="7" name="Text 5"/>
          <p:cNvSpPr/>
          <p:nvPr/>
        </p:nvSpPr>
        <p:spPr>
          <a:xfrm>
            <a:off x="704088" y="2011680"/>
            <a:ext cx="7735824" cy="420624"/>
          </a:xfrm>
          <a:prstGeom prst="rect">
            <a:avLst/>
          </a:prstGeom>
          <a:noFill/>
          <a:ln/>
        </p:spPr>
        <p:txBody>
          <a:bodyPr wrap="square" rtlCol="0" anchor="ctr"/>
          <a:lstStyle/>
          <a:p>
            <a:pPr indent="0" marL="0">
              <a:lnSpc>
                <a:spcPct val="112000"/>
              </a:lnSpc>
              <a:buNone/>
            </a:pPr>
            <a:r>
              <a:rPr lang="en-US" sz="900" dirty="0">
                <a:solidFill>
                  <a:srgbClr val="A8A296"/>
                </a:solidFill>
                <a:latin typeface="Calibri" pitchFamily="34" charset="0"/>
                <a:ea typeface="Calibri" pitchFamily="34" charset="-122"/>
                <a:cs typeface="Calibri" pitchFamily="34" charset="-120"/>
              </a:rPr>
              <a:t>A design decision, not a limitation. It is why there is no anesthesiologist on payroll, no anesthesia machine in the budget, and only three PACU bays. California requires accreditation only when protective reflexes may be lost; moderate sedation preserves them, so this suite sits below the trigger. We accredit anyway.</a:t>
            </a:r>
            <a:endParaRPr lang="en-US" sz="900" dirty="0"/>
          </a:p>
        </p:txBody>
      </p:sp>
      <p:sp>
        <p:nvSpPr>
          <p:cNvPr id="8" name="Shape 6"/>
          <p:cNvSpPr/>
          <p:nvPr/>
        </p:nvSpPr>
        <p:spPr>
          <a:xfrm>
            <a:off x="502920" y="2578608"/>
            <a:ext cx="3986784" cy="1901952"/>
          </a:xfrm>
          <a:prstGeom prst="roundRect">
            <a:avLst>
              <a:gd name="adj" fmla="val 2885"/>
            </a:avLst>
          </a:prstGeom>
          <a:solidFill>
            <a:srgbClr val="16241C"/>
          </a:solidFill>
          <a:ln w="12700">
            <a:solidFill>
              <a:srgbClr val="2E4237"/>
            </a:solidFill>
            <a:prstDash val="solid"/>
          </a:ln>
        </p:spPr>
      </p:sp>
      <p:sp>
        <p:nvSpPr>
          <p:cNvPr id="9" name="Text 7"/>
          <p:cNvSpPr/>
          <p:nvPr/>
        </p:nvSpPr>
        <p:spPr>
          <a:xfrm>
            <a:off x="649224"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OPERATING ROOM</a:t>
            </a:r>
            <a:endParaRPr lang="en-US" sz="750" dirty="0"/>
          </a:p>
        </p:txBody>
      </p:sp>
      <p:sp>
        <p:nvSpPr>
          <p:cNvPr id="10" name="Text 8"/>
          <p:cNvSpPr/>
          <p:nvPr/>
        </p:nvSpPr>
        <p:spPr>
          <a:xfrm>
            <a:off x="649224"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Blepharoplasty, upper, lower and combined</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Brow lift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Otoplasty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Chin augmentation and implant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Buccal fat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Facial fat grafting and transfer</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Liposuction, single or limited area, awake tumescent</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Submental neck contouring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Limited body-contouring revision</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Scar revision, facial and body</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Nasal valve procedures sold as elective self-pay</a:t>
            </a:r>
            <a:endParaRPr lang="en-US" sz="700" dirty="0"/>
          </a:p>
        </p:txBody>
      </p:sp>
      <p:sp>
        <p:nvSpPr>
          <p:cNvPr id="11" name="Shape 9"/>
          <p:cNvSpPr/>
          <p:nvPr/>
        </p:nvSpPr>
        <p:spPr>
          <a:xfrm>
            <a:off x="4654296" y="2578608"/>
            <a:ext cx="3986784" cy="1901952"/>
          </a:xfrm>
          <a:prstGeom prst="roundRect">
            <a:avLst>
              <a:gd name="adj" fmla="val 2885"/>
            </a:avLst>
          </a:prstGeom>
          <a:solidFill>
            <a:srgbClr val="16241C"/>
          </a:solidFill>
          <a:ln w="12700">
            <a:solidFill>
              <a:srgbClr val="2E4237"/>
            </a:solidFill>
            <a:prstDash val="solid"/>
          </a:ln>
        </p:spPr>
      </p:sp>
      <p:sp>
        <p:nvSpPr>
          <p:cNvPr id="12" name="Text 10"/>
          <p:cNvSpPr/>
          <p:nvPr/>
        </p:nvSpPr>
        <p:spPr>
          <a:xfrm>
            <a:off x="4800600" y="2670048"/>
            <a:ext cx="3694176" cy="164592"/>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IN THE TREATMENT ROOMS, UNDER LOCAL</a:t>
            </a:r>
            <a:endParaRPr lang="en-US" sz="750" dirty="0"/>
          </a:p>
        </p:txBody>
      </p:sp>
      <p:sp>
        <p:nvSpPr>
          <p:cNvPr id="13" name="Text 11"/>
          <p:cNvSpPr/>
          <p:nvPr/>
        </p:nvSpPr>
        <p:spPr>
          <a:xfrm>
            <a:off x="4800600" y="2852928"/>
            <a:ext cx="3694176" cy="1554480"/>
          </a:xfrm>
          <a:prstGeom prst="rect">
            <a:avLst/>
          </a:prstGeom>
          <a:noFill/>
          <a:ln/>
        </p:spPr>
        <p:txBody>
          <a:bodyPr wrap="square" rtlCol="0" anchor="t"/>
          <a:lstStyle/>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Lipoma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Cyst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Benign lesion removal</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Ablative laser resurfacing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Skin tightening</a:t>
            </a:r>
            <a:endParaRPr lang="en-US" sz="700" dirty="0"/>
          </a:p>
          <a:p>
            <a:pPr marL="342900" indent="-342900">
              <a:lnSpc>
                <a:spcPct val="105000"/>
              </a:lnSpc>
              <a:buSzPct val="100000"/>
              <a:buChar char="•"/>
            </a:pPr>
            <a:r>
              <a:rPr lang="en-US" sz="700" dirty="0">
                <a:solidFill>
                  <a:srgbClr val="A8A296"/>
                </a:solidFill>
                <a:latin typeface="Calibri" pitchFamily="34" charset="0"/>
                <a:ea typeface="Calibri" pitchFamily="34" charset="-122"/>
                <a:cs typeface="Calibri" pitchFamily="34" charset="-120"/>
              </a:rPr>
              <a:t>Hair restoration surgery and transplant</a:t>
            </a:r>
            <a:endParaRPr lang="en-US" sz="70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MEMBERSHIP ARCHITECTURE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ladder, not a gate.</a:t>
            </a:r>
            <a:endParaRPr lang="en-US" sz="2600" dirty="0"/>
          </a:p>
        </p:txBody>
      </p:sp>
      <p:sp>
        <p:nvSpPr>
          <p:cNvPr id="4" name="Shape 2"/>
          <p:cNvSpPr/>
          <p:nvPr/>
        </p:nvSpPr>
        <p:spPr>
          <a:xfrm>
            <a:off x="502920" y="1371600"/>
            <a:ext cx="1924812" cy="3063240"/>
          </a:xfrm>
          <a:prstGeom prst="roundRect">
            <a:avLst>
              <a:gd name="adj" fmla="val 2850"/>
            </a:avLst>
          </a:prstGeom>
          <a:solidFill>
            <a:srgbClr val="16241C"/>
          </a:solidFill>
          <a:ln w="12700">
            <a:solidFill>
              <a:srgbClr val="2E4237"/>
            </a:solidFill>
            <a:prstDash val="solid"/>
          </a:ln>
        </p:spPr>
      </p:sp>
      <p:sp>
        <p:nvSpPr>
          <p:cNvPr id="5" name="Text 3"/>
          <p:cNvSpPr/>
          <p:nvPr/>
        </p:nvSpPr>
        <p:spPr>
          <a:xfrm>
            <a:off x="630936"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Day Pass</a:t>
            </a:r>
            <a:endParaRPr lang="en-US" sz="1150" dirty="0"/>
          </a:p>
        </p:txBody>
      </p:sp>
      <p:sp>
        <p:nvSpPr>
          <p:cNvPr id="6" name="Text 4"/>
          <p:cNvSpPr/>
          <p:nvPr/>
        </p:nvSpPr>
        <p:spPr>
          <a:xfrm>
            <a:off x="630936"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$75</a:t>
            </a:r>
            <a:endParaRPr lang="en-US" sz="1900" dirty="0"/>
          </a:p>
        </p:txBody>
      </p:sp>
      <p:sp>
        <p:nvSpPr>
          <p:cNvPr id="7" name="Text 5"/>
          <p:cNvSpPr/>
          <p:nvPr/>
        </p:nvSpPr>
        <p:spPr>
          <a:xfrm>
            <a:off x="630936"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VISIT</a:t>
            </a:r>
            <a:endParaRPr lang="en-US" sz="750" dirty="0"/>
          </a:p>
        </p:txBody>
      </p:sp>
      <p:sp>
        <p:nvSpPr>
          <p:cNvPr id="8" name="Text 6"/>
          <p:cNvSpPr/>
          <p:nvPr/>
        </p:nvSpPr>
        <p:spPr>
          <a:xfrm>
            <a:off x="630936"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Single circuit visit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Procedures at list price</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events or lounge privileges</a:t>
            </a:r>
            <a:endParaRPr lang="en-US" sz="800" dirty="0"/>
          </a:p>
        </p:txBody>
      </p:sp>
      <p:sp>
        <p:nvSpPr>
          <p:cNvPr id="9" name="Text 7"/>
          <p:cNvSpPr/>
          <p:nvPr/>
        </p:nvSpPr>
        <p:spPr>
          <a:xfrm>
            <a:off x="630936"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275 visits/mo</a:t>
            </a:r>
            <a:endParaRPr lang="en-US" sz="800" dirty="0"/>
          </a:p>
        </p:txBody>
      </p:sp>
      <p:sp>
        <p:nvSpPr>
          <p:cNvPr id="10" name="Shape 8"/>
          <p:cNvSpPr/>
          <p:nvPr/>
        </p:nvSpPr>
        <p:spPr>
          <a:xfrm>
            <a:off x="2574036" y="1371600"/>
            <a:ext cx="1924812" cy="3063240"/>
          </a:xfrm>
          <a:prstGeom prst="roundRect">
            <a:avLst>
              <a:gd name="adj" fmla="val 2850"/>
            </a:avLst>
          </a:prstGeom>
          <a:solidFill>
            <a:srgbClr val="16241C"/>
          </a:solidFill>
          <a:ln w="12700">
            <a:solidFill>
              <a:srgbClr val="2E4237"/>
            </a:solidFill>
            <a:prstDash val="solid"/>
          </a:ln>
        </p:spPr>
      </p:sp>
      <p:sp>
        <p:nvSpPr>
          <p:cNvPr id="11" name="Text 9"/>
          <p:cNvSpPr/>
          <p:nvPr/>
        </p:nvSpPr>
        <p:spPr>
          <a:xfrm>
            <a:off x="2702052"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Friends of L&amp;K</a:t>
            </a:r>
            <a:endParaRPr lang="en-US" sz="1150" dirty="0"/>
          </a:p>
        </p:txBody>
      </p:sp>
      <p:sp>
        <p:nvSpPr>
          <p:cNvPr id="12" name="Text 10"/>
          <p:cNvSpPr/>
          <p:nvPr/>
        </p:nvSpPr>
        <p:spPr>
          <a:xfrm>
            <a:off x="2702052"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$300</a:t>
            </a:r>
            <a:endParaRPr lang="en-US" sz="1900" dirty="0"/>
          </a:p>
        </p:txBody>
      </p:sp>
      <p:sp>
        <p:nvSpPr>
          <p:cNvPr id="13" name="Text 11"/>
          <p:cNvSpPr/>
          <p:nvPr/>
        </p:nvSpPr>
        <p:spPr>
          <a:xfrm>
            <a:off x="2702052"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YEAR</a:t>
            </a:r>
            <a:endParaRPr lang="en-US" sz="750" dirty="0"/>
          </a:p>
        </p:txBody>
      </p:sp>
      <p:sp>
        <p:nvSpPr>
          <p:cNvPr id="14" name="Text 12"/>
          <p:cNvSpPr/>
          <p:nvPr/>
        </p:nvSpPr>
        <p:spPr>
          <a:xfrm>
            <a:off x="2702052"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Priority booking window</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Invitations to open events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No club or circuit access</a:t>
            </a:r>
            <a:endParaRPr lang="en-US" sz="800" dirty="0"/>
          </a:p>
        </p:txBody>
      </p:sp>
      <p:sp>
        <p:nvSpPr>
          <p:cNvPr id="15" name="Text 13"/>
          <p:cNvSpPr/>
          <p:nvPr/>
        </p:nvSpPr>
        <p:spPr>
          <a:xfrm>
            <a:off x="2702052"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900 members</a:t>
            </a:r>
            <a:endParaRPr lang="en-US" sz="800" dirty="0"/>
          </a:p>
        </p:txBody>
      </p:sp>
      <p:sp>
        <p:nvSpPr>
          <p:cNvPr id="16" name="Shape 14"/>
          <p:cNvSpPr/>
          <p:nvPr/>
        </p:nvSpPr>
        <p:spPr>
          <a:xfrm>
            <a:off x="4645152" y="1371600"/>
            <a:ext cx="1924812" cy="3063240"/>
          </a:xfrm>
          <a:prstGeom prst="roundRect">
            <a:avLst>
              <a:gd name="adj" fmla="val 2850"/>
            </a:avLst>
          </a:prstGeom>
          <a:solidFill>
            <a:srgbClr val="16241C"/>
          </a:solidFill>
          <a:ln w="12700">
            <a:solidFill>
              <a:srgbClr val="2E4237"/>
            </a:solidFill>
            <a:prstDash val="solid"/>
          </a:ln>
        </p:spPr>
      </p:sp>
      <p:sp>
        <p:nvSpPr>
          <p:cNvPr id="17" name="Text 15"/>
          <p:cNvSpPr/>
          <p:nvPr/>
        </p:nvSpPr>
        <p:spPr>
          <a:xfrm>
            <a:off x="4773168"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Resident</a:t>
            </a:r>
            <a:endParaRPr lang="en-US" sz="1150" dirty="0"/>
          </a:p>
        </p:txBody>
      </p:sp>
      <p:sp>
        <p:nvSpPr>
          <p:cNvPr id="18" name="Text 16"/>
          <p:cNvSpPr/>
          <p:nvPr/>
        </p:nvSpPr>
        <p:spPr>
          <a:xfrm>
            <a:off x="4773168"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$450</a:t>
            </a:r>
            <a:endParaRPr lang="en-US" sz="1900" dirty="0"/>
          </a:p>
        </p:txBody>
      </p:sp>
      <p:sp>
        <p:nvSpPr>
          <p:cNvPr id="19" name="Text 17"/>
          <p:cNvSpPr/>
          <p:nvPr/>
        </p:nvSpPr>
        <p:spPr>
          <a:xfrm>
            <a:off x="4773168"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0" name="Text 18"/>
          <p:cNvSpPr/>
          <p:nvPr/>
        </p:nvSpPr>
        <p:spPr>
          <a:xfrm>
            <a:off x="4773168"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Rolling monthly credit bank</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Unlimited recovery circuit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pricing on all procedures</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1 guest pass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Member events</a:t>
            </a:r>
            <a:endParaRPr lang="en-US" sz="800" dirty="0"/>
          </a:p>
        </p:txBody>
      </p:sp>
      <p:sp>
        <p:nvSpPr>
          <p:cNvPr id="21" name="Text 19"/>
          <p:cNvSpPr/>
          <p:nvPr/>
        </p:nvSpPr>
        <p:spPr>
          <a:xfrm>
            <a:off x="4773168"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350 members · capped</a:t>
            </a:r>
            <a:endParaRPr lang="en-US" sz="800" dirty="0"/>
          </a:p>
        </p:txBody>
      </p:sp>
      <p:sp>
        <p:nvSpPr>
          <p:cNvPr id="22" name="Shape 20"/>
          <p:cNvSpPr/>
          <p:nvPr/>
        </p:nvSpPr>
        <p:spPr>
          <a:xfrm>
            <a:off x="6716268" y="1371600"/>
            <a:ext cx="1924812" cy="3063240"/>
          </a:xfrm>
          <a:prstGeom prst="roundRect">
            <a:avLst>
              <a:gd name="adj" fmla="val 2850"/>
            </a:avLst>
          </a:prstGeom>
          <a:solidFill>
            <a:srgbClr val="241C1A"/>
          </a:solidFill>
          <a:ln w="12700">
            <a:solidFill>
              <a:srgbClr val="C08D7C"/>
            </a:solidFill>
            <a:prstDash val="solid"/>
          </a:ln>
        </p:spPr>
      </p:sp>
      <p:sp>
        <p:nvSpPr>
          <p:cNvPr id="23" name="Text 21"/>
          <p:cNvSpPr/>
          <p:nvPr/>
        </p:nvSpPr>
        <p:spPr>
          <a:xfrm>
            <a:off x="6844284" y="1481328"/>
            <a:ext cx="1668780"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Longevity</a:t>
            </a:r>
            <a:endParaRPr lang="en-US" sz="1150" dirty="0"/>
          </a:p>
        </p:txBody>
      </p:sp>
      <p:sp>
        <p:nvSpPr>
          <p:cNvPr id="24" name="Text 22"/>
          <p:cNvSpPr/>
          <p:nvPr/>
        </p:nvSpPr>
        <p:spPr>
          <a:xfrm>
            <a:off x="6844284" y="1737360"/>
            <a:ext cx="1668780" cy="310896"/>
          </a:xfrm>
          <a:prstGeom prst="rect">
            <a:avLst/>
          </a:prstGeom>
          <a:noFill/>
          <a:ln/>
        </p:spPr>
        <p:txBody>
          <a:bodyPr wrap="square" rtlCol="0" anchor="ctr"/>
          <a:lstStyle/>
          <a:p>
            <a:pPr indent="0" marL="0">
              <a:buNone/>
            </a:pPr>
            <a:r>
              <a:rPr lang="en-US" sz="1900" dirty="0">
                <a:solidFill>
                  <a:srgbClr val="C08D7C"/>
                </a:solidFill>
                <a:latin typeface="Century Gothic" pitchFamily="34" charset="0"/>
                <a:ea typeface="Century Gothic" pitchFamily="34" charset="-122"/>
                <a:cs typeface="Century Gothic" pitchFamily="34" charset="-120"/>
              </a:rPr>
              <a:t>$1,250</a:t>
            </a:r>
            <a:endParaRPr lang="en-US" sz="1900" dirty="0"/>
          </a:p>
        </p:txBody>
      </p:sp>
      <p:sp>
        <p:nvSpPr>
          <p:cNvPr id="25" name="Text 23"/>
          <p:cNvSpPr/>
          <p:nvPr/>
        </p:nvSpPr>
        <p:spPr>
          <a:xfrm>
            <a:off x="6844284" y="2048256"/>
            <a:ext cx="1668780" cy="164592"/>
          </a:xfrm>
          <a:prstGeom prst="rect">
            <a:avLst/>
          </a:prstGeom>
          <a:noFill/>
          <a:ln/>
        </p:spPr>
        <p:txBody>
          <a:bodyPr wrap="square" rtlCol="0" anchor="ctr"/>
          <a:lstStyle/>
          <a:p>
            <a:pPr indent="0" marL="0">
              <a:buNone/>
            </a:pPr>
            <a:r>
              <a:rPr lang="en-US" sz="750" spc="140" kern="0" dirty="0">
                <a:solidFill>
                  <a:srgbClr val="6E6A62"/>
                </a:solidFill>
                <a:latin typeface="Century Gothic" pitchFamily="34" charset="0"/>
                <a:ea typeface="Century Gothic" pitchFamily="34" charset="-122"/>
                <a:cs typeface="Century Gothic" pitchFamily="34" charset="-120"/>
              </a:rPr>
              <a:t>PER MONTH</a:t>
            </a:r>
            <a:endParaRPr lang="en-US" sz="750" dirty="0"/>
          </a:p>
        </p:txBody>
      </p:sp>
      <p:sp>
        <p:nvSpPr>
          <p:cNvPr id="26" name="Text 24"/>
          <p:cNvSpPr/>
          <p:nvPr/>
        </p:nvSpPr>
        <p:spPr>
          <a:xfrm>
            <a:off x="6844284" y="2286000"/>
            <a:ext cx="1668780" cy="1691640"/>
          </a:xfrm>
          <a:prstGeom prst="rect">
            <a:avLst/>
          </a:prstGeom>
          <a:noFill/>
          <a:ln/>
        </p:spPr>
        <p:txBody>
          <a:bodyPr wrap="square" rtlCol="0" anchor="t"/>
          <a:lstStyle/>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Everything in Resident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Quarterly physician consult</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Annual biomarker panel, DEXA and DUTCH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Therapeutic medications included</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4 guest passes per month</a:t>
            </a:r>
            <a:endParaRPr lang="en-US" sz="800" dirty="0"/>
          </a:p>
          <a:p>
            <a:pPr marL="342900" indent="-342900">
              <a:lnSpc>
                <a:spcPct val="115000"/>
              </a:lnSpc>
              <a:buSzPct val="100000"/>
              <a:buChar char="•"/>
            </a:pPr>
            <a:r>
              <a:rPr lang="en-US" sz="800" dirty="0">
                <a:solidFill>
                  <a:srgbClr val="A8A296"/>
                </a:solidFill>
                <a:latin typeface="Calibri" pitchFamily="34" charset="0"/>
                <a:ea typeface="Calibri" pitchFamily="34" charset="-122"/>
                <a:cs typeface="Calibri" pitchFamily="34" charset="-120"/>
              </a:rPr>
              <a:t>Private buyout privileges</a:t>
            </a:r>
            <a:endParaRPr lang="en-US" sz="800" dirty="0"/>
          </a:p>
        </p:txBody>
      </p:sp>
      <p:sp>
        <p:nvSpPr>
          <p:cNvPr id="27" name="Text 25"/>
          <p:cNvSpPr/>
          <p:nvPr/>
        </p:nvSpPr>
        <p:spPr>
          <a:xfrm>
            <a:off x="6844284" y="4114800"/>
            <a:ext cx="1668780" cy="219456"/>
          </a:xfrm>
          <a:prstGeom prst="rect">
            <a:avLst/>
          </a:prstGeom>
          <a:noFill/>
          <a:ln/>
        </p:spPr>
        <p:txBody>
          <a:bodyPr wrap="square" rtlCol="0" anchor="ctr"/>
          <a:lstStyle/>
          <a:p>
            <a:pPr indent="0" marL="0">
              <a:buNone/>
            </a:pPr>
            <a:r>
              <a:rPr lang="en-US" sz="800" dirty="0">
                <a:solidFill>
                  <a:srgbClr val="EDE6DA"/>
                </a:solidFill>
                <a:latin typeface="Century Gothic" pitchFamily="34" charset="0"/>
                <a:ea typeface="Century Gothic" pitchFamily="34" charset="-122"/>
                <a:cs typeface="Century Gothic" pitchFamily="34" charset="-120"/>
              </a:rPr>
              <a:t>40 members · capped</a:t>
            </a:r>
            <a:endParaRPr lang="en-US" sz="800" dirty="0"/>
          </a:p>
        </p:txBody>
      </p:sp>
      <p:sp>
        <p:nvSpPr>
          <p:cNvPr id="28" name="Text 26"/>
          <p:cNvSpPr/>
          <p:nvPr/>
        </p:nvSpPr>
        <p:spPr>
          <a:xfrm>
            <a:off x="502920" y="4498848"/>
            <a:ext cx="8138160" cy="237744"/>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Three-month minimum then month-to-month. Credits roll over while active and expire on cancellation. Freezes on seven days notice. Tier changes after the initial commitment.</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BEFORE DOORS OPEN</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Founding Members de-risk the ramp.</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single strongest item in this brief for both an investor and a credit committee: revenue contracted before the business opens.</a:t>
            </a:r>
            <a:endParaRPr lang="en-US" sz="1150" dirty="0"/>
          </a:p>
        </p:txBody>
      </p:sp>
      <p:sp>
        <p:nvSpPr>
          <p:cNvPr id="5" name="Shape 3"/>
          <p:cNvSpPr/>
          <p:nvPr/>
        </p:nvSpPr>
        <p:spPr>
          <a:xfrm>
            <a:off x="502920" y="2194560"/>
            <a:ext cx="2602992" cy="1463040"/>
          </a:xfrm>
          <a:prstGeom prst="roundRect">
            <a:avLst>
              <a:gd name="adj" fmla="val 3750"/>
            </a:avLst>
          </a:prstGeom>
          <a:solidFill>
            <a:srgbClr val="16241C"/>
          </a:solidFill>
          <a:ln w="12700">
            <a:solidFill>
              <a:srgbClr val="2E4237"/>
            </a:solidFill>
            <a:prstDash val="solid"/>
          </a:ln>
        </p:spPr>
      </p:sp>
      <p:sp>
        <p:nvSpPr>
          <p:cNvPr id="6" name="Text 4"/>
          <p:cNvSpPr/>
          <p:nvPr/>
        </p:nvSpPr>
        <p:spPr>
          <a:xfrm>
            <a:off x="649224"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150</a:t>
            </a:r>
            <a:endParaRPr lang="en-US" sz="2000" dirty="0"/>
          </a:p>
        </p:txBody>
      </p:sp>
      <p:sp>
        <p:nvSpPr>
          <p:cNvPr id="7" name="Text 5"/>
          <p:cNvSpPr/>
          <p:nvPr/>
        </p:nvSpPr>
        <p:spPr>
          <a:xfrm>
            <a:off x="649224"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Founding memberships, hard capped and sold during construction.</a:t>
            </a:r>
            <a:endParaRPr lang="en-US" sz="900" dirty="0"/>
          </a:p>
        </p:txBody>
      </p:sp>
      <p:sp>
        <p:nvSpPr>
          <p:cNvPr id="8" name="Shape 6"/>
          <p:cNvSpPr/>
          <p:nvPr/>
        </p:nvSpPr>
        <p:spPr>
          <a:xfrm>
            <a:off x="3270504" y="2194560"/>
            <a:ext cx="2602992" cy="1463040"/>
          </a:xfrm>
          <a:prstGeom prst="roundRect">
            <a:avLst>
              <a:gd name="adj" fmla="val 3750"/>
            </a:avLst>
          </a:prstGeom>
          <a:solidFill>
            <a:srgbClr val="241C1A"/>
          </a:solidFill>
          <a:ln w="12700">
            <a:solidFill>
              <a:srgbClr val="C08D7C"/>
            </a:solidFill>
            <a:prstDash val="solid"/>
          </a:ln>
        </p:spPr>
      </p:sp>
      <p:sp>
        <p:nvSpPr>
          <p:cNvPr id="9" name="Text 7"/>
          <p:cNvSpPr/>
          <p:nvPr/>
        </p:nvSpPr>
        <p:spPr>
          <a:xfrm>
            <a:off x="3416808"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$3,600</a:t>
            </a:r>
            <a:endParaRPr lang="en-US" sz="2000" dirty="0"/>
          </a:p>
        </p:txBody>
      </p:sp>
      <p:sp>
        <p:nvSpPr>
          <p:cNvPr id="10" name="Text 8"/>
          <p:cNvSpPr/>
          <p:nvPr/>
        </p:nvSpPr>
        <p:spPr>
          <a:xfrm>
            <a:off x="3416808"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Prepaid for the first year, a 33% discount against list.</a:t>
            </a:r>
            <a:endParaRPr lang="en-US" sz="900" dirty="0"/>
          </a:p>
        </p:txBody>
      </p:sp>
      <p:sp>
        <p:nvSpPr>
          <p:cNvPr id="11" name="Shape 9"/>
          <p:cNvSpPr/>
          <p:nvPr/>
        </p:nvSpPr>
        <p:spPr>
          <a:xfrm>
            <a:off x="6038088" y="2194560"/>
            <a:ext cx="2602992" cy="1463040"/>
          </a:xfrm>
          <a:prstGeom prst="roundRect">
            <a:avLst>
              <a:gd name="adj" fmla="val 3750"/>
            </a:avLst>
          </a:prstGeom>
          <a:solidFill>
            <a:srgbClr val="241C1A"/>
          </a:solidFill>
          <a:ln w="12700">
            <a:solidFill>
              <a:srgbClr val="C08D7C"/>
            </a:solidFill>
            <a:prstDash val="solid"/>
          </a:ln>
        </p:spPr>
      </p:sp>
      <p:sp>
        <p:nvSpPr>
          <p:cNvPr id="12" name="Text 10"/>
          <p:cNvSpPr/>
          <p:nvPr/>
        </p:nvSpPr>
        <p:spPr>
          <a:xfrm>
            <a:off x="6184392" y="232257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$540,000</a:t>
            </a:r>
            <a:endParaRPr lang="en-US" sz="2000" dirty="0"/>
          </a:p>
        </p:txBody>
      </p:sp>
      <p:sp>
        <p:nvSpPr>
          <p:cNvPr id="13" name="Text 11"/>
          <p:cNvSpPr/>
          <p:nvPr/>
        </p:nvSpPr>
        <p:spPr>
          <a:xfrm>
            <a:off x="6184392" y="2761488"/>
            <a:ext cx="2310384" cy="76809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Collected before opening, offsetting the construction-period burn.</a:t>
            </a:r>
            <a:endParaRPr lang="en-US" sz="900" dirty="0"/>
          </a:p>
        </p:txBody>
      </p:sp>
      <p:sp>
        <p:nvSpPr>
          <p:cNvPr id="14" name="Text 12"/>
          <p:cNvSpPr/>
          <p:nvPr/>
        </p:nvSpPr>
        <p:spPr>
          <a:xfrm>
            <a:off x="502920" y="3840480"/>
            <a:ext cx="8138160" cy="548640"/>
          </a:xfrm>
          <a:prstGeom prst="rect">
            <a:avLst/>
          </a:prstGeom>
          <a:noFill/>
          <a:ln/>
        </p:spPr>
        <p:txBody>
          <a:bodyPr wrap="square" rtlCol="0" anchor="ctr"/>
          <a:lstStyle/>
          <a:p>
            <a:pPr indent="0" marL="0">
              <a:lnSpc>
                <a:spcPct val="125000"/>
              </a:lnSpc>
              <a:buNone/>
            </a:pPr>
            <a:r>
              <a:rPr lang="en-US" sz="1050" dirty="0">
                <a:solidFill>
                  <a:srgbClr val="A8A296"/>
                </a:solidFill>
                <a:latin typeface="Calibri" pitchFamily="34" charset="0"/>
                <a:ea typeface="Calibri" pitchFamily="34" charset="-122"/>
                <a:cs typeface="Calibri" pitchFamily="34" charset="-120"/>
              </a:rPr>
              <a:t>This converts the opening ramp from a projection into a partially pre-sold book. It is also the cheapest possible market test: if the founding cohort does not sell, that is a signal worth having before the buildout is committed rather than after.</a:t>
            </a:r>
            <a:endParaRPr lang="en-US" sz="10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5,825 SF in Playa Vista.</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3931920" cy="914400"/>
        </p:xfrm>
        <a:graphic>
          <a:graphicData uri="http://schemas.openxmlformats.org/drawingml/2006/table">
            <a:tbl>
              <a:tblPr/>
              <a:tblGrid>
                <a:gridCol w="3017520"/>
                <a:gridCol w="91440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Arrival, concierge, retail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 Lounge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Contrast suite (2 saunas, 2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room (seated)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 light beds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and regenerative lounge (8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Diagnostics and consult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imaging (GE iDXA densitometer)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Operating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Pre-op and PACU (3 monitored bays)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754880" y="1481328"/>
          <a:ext cx="3520440" cy="914400"/>
        </p:xfrm>
        <a:graphic>
          <a:graphicData uri="http://schemas.openxmlformats.org/drawingml/2006/table">
            <a:tbl>
              <a:tblPr/>
              <a:tblGrid>
                <a:gridCol w="2651760"/>
                <a:gridCol w="868680"/>
              </a:tblGrid>
              <a:tr h="21488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Space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SF</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Sterile supply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Soiled utility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suite circulation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Locker, shower, changing, bathrooms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Admin offices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Kitchen and breakroom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Storage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Biohazard and linen closets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Circulation and grossing factor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890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488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5,825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FACILITY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Stations and equipment.</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What sits in the 5,825 square feet, and how it is paid for.</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3931920" cy="914400"/>
        </p:xfrm>
        <a:graphic>
          <a:graphicData uri="http://schemas.openxmlformats.org/drawingml/2006/table">
            <a:tbl>
              <a:tblPr/>
              <a:tblGrid>
                <a:gridCol w="301752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Treatment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 regenerative chairs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Saunas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Cold plunges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Aescape robotic massage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Ammortal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754880" y="1645920"/>
          <a:ext cx="3520440" cy="914400"/>
        </p:xfrm>
        <a:graphic>
          <a:graphicData uri="http://schemas.openxmlformats.org/drawingml/2006/table">
            <a:tbl>
              <a:tblPr/>
              <a:tblGrid>
                <a:gridCol w="2606040"/>
                <a:gridCol w="91440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Stations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Count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Hyperbaric chambers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Redlight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Diagnostic / consult rooms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DEXA scan room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Recovery stations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7" name="Shape 3"/>
          <p:cNvSpPr/>
          <p:nvPr/>
        </p:nvSpPr>
        <p:spPr>
          <a:xfrm>
            <a:off x="502920" y="3456432"/>
            <a:ext cx="8138160" cy="1024128"/>
          </a:xfrm>
          <a:prstGeom prst="roundRect">
            <a:avLst>
              <a:gd name="adj" fmla="val 5357"/>
            </a:avLst>
          </a:prstGeom>
          <a:solidFill>
            <a:srgbClr val="16241C"/>
          </a:solidFill>
          <a:ln w="12700">
            <a:solidFill>
              <a:srgbClr val="2E4237"/>
            </a:solidFill>
            <a:prstDash val="solid"/>
          </a:ln>
        </p:spPr>
      </p:sp>
      <p:sp>
        <p:nvSpPr>
          <p:cNvPr id="8" name="Text 4"/>
          <p:cNvSpPr/>
          <p:nvPr/>
        </p:nvSpPr>
        <p:spPr>
          <a:xfrm>
            <a:off x="649224" y="3566160"/>
            <a:ext cx="7845552" cy="182880"/>
          </a:xfrm>
          <a:prstGeom prst="rect">
            <a:avLst/>
          </a:prstGeom>
          <a:noFill/>
          <a:ln/>
        </p:spPr>
        <p:txBody>
          <a:bodyPr wrap="square" rtlCol="0" anchor="ctr"/>
          <a:lstStyle/>
          <a:p>
            <a:pPr indent="0" marL="0">
              <a:buNone/>
            </a:pPr>
            <a:r>
              <a:rPr lang="en-US" sz="750" spc="200" kern="0" dirty="0">
                <a:solidFill>
                  <a:srgbClr val="C08D7C"/>
                </a:solidFill>
                <a:latin typeface="Century Gothic" pitchFamily="34" charset="0"/>
                <a:ea typeface="Century Gothic" pitchFamily="34" charset="-122"/>
                <a:cs typeface="Century Gothic" pitchFamily="34" charset="-120"/>
              </a:rPr>
              <a:t>EQUIPMENT STRATEGY</a:t>
            </a:r>
            <a:endParaRPr lang="en-US" sz="750" dirty="0"/>
          </a:p>
        </p:txBody>
      </p:sp>
      <p:sp>
        <p:nvSpPr>
          <p:cNvPr id="9" name="Text 5"/>
          <p:cNvSpPr/>
          <p:nvPr/>
        </p:nvSpPr>
        <p:spPr>
          <a:xfrm>
            <a:off x="649224" y="3767328"/>
            <a:ext cx="7845552" cy="640080"/>
          </a:xfrm>
          <a:prstGeom prst="rect">
            <a:avLst/>
          </a:prstGeom>
          <a:noFill/>
          <a:ln/>
        </p:spPr>
        <p:txBody>
          <a:bodyPr wrap="square" rtlCol="0" anchor="t"/>
          <a:lstStyle/>
          <a:p>
            <a:pPr indent="0" marL="0">
              <a:lnSpc>
                <a:spcPct val="120000"/>
              </a:lnSpc>
              <a:buNone/>
            </a:pPr>
            <a:r>
              <a:rPr lang="en-US" sz="900" dirty="0">
                <a:solidFill>
                  <a:srgbClr val="A8A296"/>
                </a:solidFill>
                <a:latin typeface="Calibri" pitchFamily="34" charset="0"/>
                <a:ea typeface="Calibri" pitchFamily="34" charset="-122"/>
                <a:cs typeface="Calibri" pitchFamily="34" charset="-120"/>
              </a:rPr>
              <a:t>Purchased where payback justifies it, surgical equipment part leased. Wet areas drive cost, plunges, saunas and steam carry a materially higher per-SF buildout than a dry medspa, which is why the lean case trims the contrast suite before it trims treatment rooms.</a:t>
            </a:r>
            <a:endParaRPr lang="en-US" sz="90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CAPACITY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building can serve the memberships being sold.</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Built bottom-up from station hours, not assumed. The circuit bottleneck is the cold plunge, not the sauna; the clinical bottleneck is treatment rooms.</a:t>
            </a:r>
            <a:endParaRPr lang="en-US" sz="1150" dirty="0"/>
          </a:p>
        </p:txBody>
      </p:sp>
      <p:sp>
        <p:nvSpPr>
          <p:cNvPr id="5" name="Shape 3"/>
          <p:cNvSpPr/>
          <p:nvPr/>
        </p:nvSpPr>
        <p:spPr>
          <a:xfrm>
            <a:off x="502920" y="2240280"/>
            <a:ext cx="2602992" cy="1554480"/>
          </a:xfrm>
          <a:prstGeom prst="roundRect">
            <a:avLst>
              <a:gd name="adj" fmla="val 3529"/>
            </a:avLst>
          </a:prstGeom>
          <a:solidFill>
            <a:srgbClr val="241C1A"/>
          </a:solidFill>
          <a:ln w="12700">
            <a:solidFill>
              <a:srgbClr val="C08D7C"/>
            </a:solidFill>
            <a:prstDash val="solid"/>
          </a:ln>
        </p:spPr>
      </p:sp>
      <p:sp>
        <p:nvSpPr>
          <p:cNvPr id="6" name="Text 4"/>
          <p:cNvSpPr/>
          <p:nvPr/>
        </p:nvSpPr>
        <p:spPr>
          <a:xfrm>
            <a:off x="649224"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73%</a:t>
            </a:r>
            <a:endParaRPr lang="en-US" sz="2000" dirty="0"/>
          </a:p>
        </p:txBody>
      </p:sp>
      <p:sp>
        <p:nvSpPr>
          <p:cNvPr id="7" name="Text 5"/>
          <p:cNvSpPr/>
          <p:nvPr/>
        </p:nvSpPr>
        <p:spPr>
          <a:xfrm>
            <a:off x="649224"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Recovery circuit utilization. 2,345 modeled visits against 3,192 practical capacity, leaving 847 visits of headroom.</a:t>
            </a:r>
            <a:endParaRPr lang="en-US" sz="900" dirty="0"/>
          </a:p>
        </p:txBody>
      </p:sp>
      <p:sp>
        <p:nvSpPr>
          <p:cNvPr id="8" name="Shape 6"/>
          <p:cNvSpPr/>
          <p:nvPr/>
        </p:nvSpPr>
        <p:spPr>
          <a:xfrm>
            <a:off x="3270504" y="2240280"/>
            <a:ext cx="2602992" cy="1554480"/>
          </a:xfrm>
          <a:prstGeom prst="roundRect">
            <a:avLst>
              <a:gd name="adj" fmla="val 3529"/>
            </a:avLst>
          </a:prstGeom>
          <a:solidFill>
            <a:srgbClr val="241C1A"/>
          </a:solidFill>
          <a:ln w="12700">
            <a:solidFill>
              <a:srgbClr val="C08D7C"/>
            </a:solidFill>
            <a:prstDash val="solid"/>
          </a:ln>
        </p:spPr>
      </p:sp>
      <p:sp>
        <p:nvSpPr>
          <p:cNvPr id="9" name="Text 7"/>
          <p:cNvSpPr/>
          <p:nvPr/>
        </p:nvSpPr>
        <p:spPr>
          <a:xfrm>
            <a:off x="3416808"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87%</a:t>
            </a:r>
            <a:endParaRPr lang="en-US" sz="2000" dirty="0"/>
          </a:p>
        </p:txBody>
      </p:sp>
      <p:sp>
        <p:nvSpPr>
          <p:cNvPr id="10" name="Text 8"/>
          <p:cNvSpPr/>
          <p:nvPr/>
        </p:nvSpPr>
        <p:spPr>
          <a:xfrm>
            <a:off x="3416808"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Treatment room utilization. 439 procedures against 507 practical capacity, leaving 68 slots of headroom.</a:t>
            </a:r>
            <a:endParaRPr lang="en-US" sz="900" dirty="0"/>
          </a:p>
        </p:txBody>
      </p:sp>
      <p:sp>
        <p:nvSpPr>
          <p:cNvPr id="11" name="Shape 9"/>
          <p:cNvSpPr/>
          <p:nvPr/>
        </p:nvSpPr>
        <p:spPr>
          <a:xfrm>
            <a:off x="6038088" y="2240280"/>
            <a:ext cx="2602992" cy="1554480"/>
          </a:xfrm>
          <a:prstGeom prst="roundRect">
            <a:avLst>
              <a:gd name="adj" fmla="val 3529"/>
            </a:avLst>
          </a:prstGeom>
          <a:solidFill>
            <a:srgbClr val="241C1A"/>
          </a:solidFill>
          <a:ln w="12700">
            <a:solidFill>
              <a:srgbClr val="C08D7C"/>
            </a:solidFill>
            <a:prstDash val="solid"/>
          </a:ln>
        </p:spPr>
      </p:sp>
      <p:sp>
        <p:nvSpPr>
          <p:cNvPr id="12" name="Text 10"/>
          <p:cNvSpPr/>
          <p:nvPr/>
        </p:nvSpPr>
        <p:spPr>
          <a:xfrm>
            <a:off x="6184392" y="236829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61%</a:t>
            </a:r>
            <a:endParaRPr lang="en-US" sz="2000" dirty="0"/>
          </a:p>
        </p:txBody>
      </p:sp>
      <p:sp>
        <p:nvSpPr>
          <p:cNvPr id="13" name="Text 11"/>
          <p:cNvSpPr/>
          <p:nvPr/>
        </p:nvSpPr>
        <p:spPr>
          <a:xfrm>
            <a:off x="6184392" y="280720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Operating room utilization. 22 cases needing 38.5 hours against 63 practical hours across nine block days, leaving 24.5 hours of headroom.</a:t>
            </a:r>
            <a:endParaRPr lang="en-US" sz="900" dirty="0"/>
          </a:p>
        </p:txBody>
      </p:sp>
      <p:sp>
        <p:nvSpPr>
          <p:cNvPr id="14" name="Text 12"/>
          <p:cNvSpPr/>
          <p:nvPr/>
        </p:nvSpPr>
        <p:spPr>
          <a:xfrm>
            <a:off x="502920" y="3977640"/>
            <a:ext cx="8138160" cy="457200"/>
          </a:xfrm>
          <a:prstGeom prst="rect">
            <a:avLst/>
          </a:prstGeom>
          <a:noFill/>
          <a:ln/>
        </p:spPr>
        <p:txBody>
          <a:bodyPr wrap="square" rtlCol="0" anchor="ctr"/>
          <a:lstStyle/>
          <a:p>
            <a:pPr indent="0" marL="0">
              <a:lnSpc>
                <a:spcPct val="120000"/>
              </a:lnSpc>
              <a:buNone/>
            </a:pPr>
            <a:r>
              <a:rPr lang="en-US" sz="1000" dirty="0">
                <a:solidFill>
                  <a:srgbClr val="6E6A62"/>
                </a:solidFill>
                <a:latin typeface="Calibri" pitchFamily="34" charset="0"/>
                <a:ea typeface="Calibri" pitchFamily="34" charset="-122"/>
                <a:cs typeface="Calibri" pitchFamily="34" charset="-120"/>
              </a:rPr>
              <a:t>Practical capacity applies a utilization ceiling to theoretical station hours, because demand concentrates at peak times and nothing runs flat out. Headroom is the growth the facility can absorb without further capital.</a:t>
            </a:r>
            <a:endParaRPr lang="en-US" sz="10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A large, fast, cash-pay category.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Every figure carries its source. Anything we could not source was cut rather than estimated.</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Figure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Source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economy, 2024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Wellness Institute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Global medical spa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$27.8B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medical spas, 2023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10,488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Grand View Research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consumers calling wellness a top or important priority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McKinsey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concierge medicine market by 2034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$19.4B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Cited in Patientfy longevity market map</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US adults currently taking a GLP-1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 in 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KFF</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retreats market, 2026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$11.1B</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Research and Markets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MARKET</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Silicon Beach, at its densest.</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Playa Vista is a master-planned innovation district on the old Hughes Aircraft site, and it has become the centre of gravity for the Westside’s technology, media, advertising and creator economy. Google, YouTube and Meta campuses sit within a walk of one another. LAX is four miles south, the studios fifteen minutes north, and the district was designed to be walked rather than driven.</a:t>
            </a:r>
            <a:endParaRPr lang="en-US" sz="1150" dirty="0"/>
          </a:p>
        </p:txBody>
      </p:sp>
      <p:sp>
        <p:nvSpPr>
          <p:cNvPr id="5" name="Shape 3"/>
          <p:cNvSpPr/>
          <p:nvPr/>
        </p:nvSpPr>
        <p:spPr>
          <a:xfrm>
            <a:off x="502920" y="2286000"/>
            <a:ext cx="2602992" cy="1554480"/>
          </a:xfrm>
          <a:prstGeom prst="roundRect">
            <a:avLst>
              <a:gd name="adj" fmla="val 3529"/>
            </a:avLst>
          </a:prstGeom>
          <a:solidFill>
            <a:srgbClr val="16241C"/>
          </a:solidFill>
          <a:ln w="12700">
            <a:solidFill>
              <a:srgbClr val="2E4237"/>
            </a:solidFill>
            <a:prstDash val="solid"/>
          </a:ln>
        </p:spPr>
      </p:sp>
      <p:sp>
        <p:nvSpPr>
          <p:cNvPr id="6" name="Text 4"/>
          <p:cNvSpPr/>
          <p:nvPr/>
        </p:nvSpPr>
        <p:spPr>
          <a:xfrm>
            <a:off x="649224"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$129,942</a:t>
            </a:r>
            <a:endParaRPr lang="en-US" sz="2000" dirty="0"/>
          </a:p>
        </p:txBody>
      </p:sp>
      <p:sp>
        <p:nvSpPr>
          <p:cNvPr id="7" name="Text 5"/>
          <p:cNvSpPr/>
          <p:nvPr/>
        </p:nvSpPr>
        <p:spPr>
          <a:xfrm>
            <a:off x="649224"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Playa Vista median household income. Against a Los Angeles County median well below it. This is a cash-pay market.  (US Census Bureau, via Point2Homes)</a:t>
            </a:r>
            <a:endParaRPr lang="en-US" sz="900" dirty="0"/>
          </a:p>
        </p:txBody>
      </p:sp>
      <p:sp>
        <p:nvSpPr>
          <p:cNvPr id="8" name="Shape 6"/>
          <p:cNvSpPr/>
          <p:nvPr/>
        </p:nvSpPr>
        <p:spPr>
          <a:xfrm>
            <a:off x="3270504" y="2286000"/>
            <a:ext cx="2602992" cy="1554480"/>
          </a:xfrm>
          <a:prstGeom prst="roundRect">
            <a:avLst>
              <a:gd name="adj" fmla="val 3529"/>
            </a:avLst>
          </a:prstGeom>
          <a:solidFill>
            <a:srgbClr val="16241C"/>
          </a:solidFill>
          <a:ln w="12700">
            <a:solidFill>
              <a:srgbClr val="2E4237"/>
            </a:solidFill>
            <a:prstDash val="solid"/>
          </a:ln>
        </p:spPr>
      </p:sp>
      <p:sp>
        <p:nvSpPr>
          <p:cNvPr id="9" name="Text 7"/>
          <p:cNvSpPr/>
          <p:nvPr/>
        </p:nvSpPr>
        <p:spPr>
          <a:xfrm>
            <a:off x="3416808"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500+</a:t>
            </a:r>
            <a:endParaRPr lang="en-US" sz="2000" dirty="0"/>
          </a:p>
        </p:txBody>
      </p:sp>
      <p:sp>
        <p:nvSpPr>
          <p:cNvPr id="10" name="Text 8"/>
          <p:cNvSpPr/>
          <p:nvPr/>
        </p:nvSpPr>
        <p:spPr>
          <a:xfrm>
            <a:off x="3416808"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Technology companies in Silicon Beach. The Westside tech corridor that Playa Vista sits at the center of.  (Wikipedia, Silicon Beach)</a:t>
            </a:r>
            <a:endParaRPr lang="en-US" sz="900" dirty="0"/>
          </a:p>
        </p:txBody>
      </p:sp>
      <p:sp>
        <p:nvSpPr>
          <p:cNvPr id="11" name="Shape 9"/>
          <p:cNvSpPr/>
          <p:nvPr/>
        </p:nvSpPr>
        <p:spPr>
          <a:xfrm>
            <a:off x="6038088" y="2286000"/>
            <a:ext cx="2602992" cy="1554480"/>
          </a:xfrm>
          <a:prstGeom prst="roundRect">
            <a:avLst>
              <a:gd name="adj" fmla="val 3529"/>
            </a:avLst>
          </a:prstGeom>
          <a:solidFill>
            <a:srgbClr val="16241C"/>
          </a:solidFill>
          <a:ln w="12700">
            <a:solidFill>
              <a:srgbClr val="2E4237"/>
            </a:solidFill>
            <a:prstDash val="solid"/>
          </a:ln>
        </p:spPr>
      </p:sp>
      <p:sp>
        <p:nvSpPr>
          <p:cNvPr id="12" name="Text 10"/>
          <p:cNvSpPr/>
          <p:nvPr/>
        </p:nvSpPr>
        <p:spPr>
          <a:xfrm>
            <a:off x="6184392" y="2414016"/>
            <a:ext cx="2310384" cy="420624"/>
          </a:xfrm>
          <a:prstGeom prst="rect">
            <a:avLst/>
          </a:prstGeom>
          <a:noFill/>
          <a:ln/>
        </p:spPr>
        <p:txBody>
          <a:bodyPr wrap="square" rtlCol="0" anchor="ctr"/>
          <a:lstStyle/>
          <a:p>
            <a:pPr indent="0" marL="0">
              <a:buNone/>
            </a:pPr>
            <a:r>
              <a:rPr lang="en-US" sz="2000" dirty="0">
                <a:solidFill>
                  <a:srgbClr val="C08D7C"/>
                </a:solidFill>
                <a:latin typeface="Century Gothic" pitchFamily="34" charset="0"/>
                <a:ea typeface="Century Gothic" pitchFamily="34" charset="-122"/>
                <a:cs typeface="Century Gothic" pitchFamily="34" charset="-120"/>
              </a:rPr>
              <a:t>~5,100</a:t>
            </a:r>
            <a:endParaRPr lang="en-US" sz="2000" dirty="0"/>
          </a:p>
        </p:txBody>
      </p:sp>
      <p:sp>
        <p:nvSpPr>
          <p:cNvPr id="13" name="Text 11"/>
          <p:cNvSpPr/>
          <p:nvPr/>
        </p:nvSpPr>
        <p:spPr>
          <a:xfrm>
            <a:off x="6184392" y="2852928"/>
            <a:ext cx="2310384" cy="859536"/>
          </a:xfrm>
          <a:prstGeom prst="rect">
            <a:avLst/>
          </a:prstGeom>
          <a:noFill/>
          <a:ln/>
        </p:spPr>
        <p:txBody>
          <a:bodyPr wrap="square" rtlCol="0" anchor="t"/>
          <a:lstStyle/>
          <a:p>
            <a:pPr indent="0" marL="0">
              <a:lnSpc>
                <a:spcPct val="115000"/>
              </a:lnSpc>
              <a:buNone/>
            </a:pPr>
            <a:r>
              <a:rPr lang="en-US" sz="900" dirty="0">
                <a:solidFill>
                  <a:srgbClr val="A8A296"/>
                </a:solidFill>
                <a:latin typeface="Calibri" pitchFamily="34" charset="0"/>
                <a:ea typeface="Calibri" pitchFamily="34" charset="-122"/>
                <a:cs typeface="Calibri" pitchFamily="34" charset="-120"/>
              </a:rPr>
              <a:t>Employed at The Campus at Playa Vista. Up from roughly 2,000 in 2015, a 150% increase. A dense, high-income daytime population inside walking distance.  (Los Angeles Business Journal)</a:t>
            </a:r>
            <a:endParaRPr lang="en-US" sz="900" dirty="0"/>
          </a:p>
        </p:txBody>
      </p:sp>
      <p:sp>
        <p:nvSpPr>
          <p:cNvPr id="14" name="Text 12"/>
          <p:cNvSpPr/>
          <p:nvPr/>
        </p:nvSpPr>
        <p:spPr>
          <a:xfrm>
            <a:off x="502920" y="3520440"/>
            <a:ext cx="8138160" cy="201168"/>
          </a:xfrm>
          <a:prstGeom prst="rect">
            <a:avLst/>
          </a:prstGeom>
          <a:noFill/>
          <a:ln/>
        </p:spPr>
        <p:txBody>
          <a:bodyPr wrap="square" rtlCol="0" anchor="ctr"/>
          <a:lstStyle/>
          <a:p>
            <a:pPr indent="0" marL="0">
              <a:buNone/>
            </a:pPr>
            <a:r>
              <a:rPr lang="en-US" sz="850" spc="260" kern="0" dirty="0">
                <a:solidFill>
                  <a:srgbClr val="C08D7C"/>
                </a:solidFill>
                <a:latin typeface="Century Gothic" pitchFamily="34" charset="0"/>
                <a:ea typeface="Century Gothic" pitchFamily="34" charset="-122"/>
                <a:cs typeface="Century Gothic" pitchFamily="34" charset="-120"/>
              </a:rPr>
              <a:t>INSIDE A REALISTIC DRIVE TIME</a:t>
            </a:r>
            <a:endParaRPr lang="en-US" sz="850" dirty="0"/>
          </a:p>
        </p:txBody>
      </p:sp>
      <p:sp>
        <p:nvSpPr>
          <p:cNvPr id="15" name="Text 13"/>
          <p:cNvSpPr/>
          <p:nvPr/>
        </p:nvSpPr>
        <p:spPr>
          <a:xfrm>
            <a:off x="502920" y="3749040"/>
            <a:ext cx="8138160" cy="457200"/>
          </a:xfrm>
          <a:prstGeom prst="rect">
            <a:avLst/>
          </a:prstGeom>
          <a:noFill/>
          <a:ln/>
        </p:spPr>
        <p:txBody>
          <a:bodyPr wrap="square" rtlCol="0" anchor="ctr"/>
          <a:lstStyle/>
          <a:p>
            <a:pPr indent="0" marL="0">
              <a:lnSpc>
                <a:spcPct val="120000"/>
              </a:lnSpc>
              <a:buNone/>
            </a:pPr>
            <a:r>
              <a:rPr lang="en-US" sz="1100" dirty="0">
                <a:solidFill>
                  <a:srgbClr val="A8A296"/>
                </a:solidFill>
                <a:latin typeface="Calibri" pitchFamily="34" charset="0"/>
                <a:ea typeface="Calibri" pitchFamily="34" charset="-122"/>
                <a:cs typeface="Calibri" pitchFamily="34" charset="-120"/>
              </a:rPr>
              <a:t>Playa Vista   ·   Marina del Rey   ·   Culver City   ·   Venice   ·   Santa Monica   ·   Playa del Rey   ·   El Segundo   ·   Westchester   ·   Mar Vista   ·   Manhattan Beach</a:t>
            </a:r>
            <a:endParaRPr lang="en-US" sz="11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(1 of 2).</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No insurance contracts, no payer mix, no receivables aging. Prices are exact, not banded.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$11,480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$13,776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Red Light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$31,980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Compression Therapy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$10,125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$8,303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Hair &amp; Scalp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$32,835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$23,641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Face &amp; Aesthetic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$16,660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Scar &amp; Skin Repair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$3,900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Soft Tissue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Joint &amp; Cartilage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 Post-procedure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PRP</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Basic Hydration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$7,029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Myers Cocktail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 Hangover</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$8,466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Immunity / High-Dose C</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$4,407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Subtotal, continued overleaf</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1,552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$247,496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$176,665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30 wellness lines, every one cash-pay (2 of 2).</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Beauty / Glutathione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$9,405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$6,207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Athletic Performance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$6,474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NAD+ 100mg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$5,347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NAD+ 250mg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$8,778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NAD+ 500mg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$14,157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IM Shot: B12 / Lipo</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$5,510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$3,582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Therapeutic medications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Regenerative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$18,000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Botox (15-unit minimum)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$13,440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Filler (0.5 ml)</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$47,600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$30,940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RF Microneedling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$37,500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Laser Platform</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Aesthetics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$17,850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Advanced Biometrics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DNA Analysis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$6,030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DUTCH Plus Test</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$9,750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DEXA Scan</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Diagnostics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$9,025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$6,949</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Wellness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672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$259,625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$183,654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UNIT ECONOMICS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Seven surgical lines, also cash-pay.</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Elective self-pay only. No payer contracts on the surgical side either, which is the direct result of holding the menu to the sedation ceiling.</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2103120"/>
                <a:gridCol w="960120"/>
                <a:gridCol w="777240"/>
                <a:gridCol w="685800"/>
                <a:gridCol w="868680"/>
                <a:gridCol w="1143000"/>
                <a:gridCol w="1143000"/>
              </a:tblGrid>
              <a:tr h="132588">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Service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Category</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Price</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Sessions/mo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Gross/mo</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After margin</a:t>
                      </a:r>
                      <a:endParaRPr lang="en-US" sz="750" dirty="0">
                        <a:latin typeface="Century Gothic" charset="0"/>
                        <a:ea typeface="Century Gothic" charset="0"/>
                        <a:cs typeface="Century Gothic"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Blepharoplasty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$19,600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$15,680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Facial Contouring Surgery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$14,000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Awake Liposuction &amp; Body Contouring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78%</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$17,784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Fat Grafting &amp; Transfer (facility fee)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$8,960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Hair Restoration 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$30,000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Office Surgical Procedures</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$2,200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76%</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$26,400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$20,064</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Ablative Laser &amp; Skin Tightening</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Surgery</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$21,250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$15,513</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32588">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Surgical delivery at list value</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77%</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42</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$145,250</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$111,401</a:t>
                      </a:r>
                      <a:endParaRPr lang="en-US" sz="750" dirty="0">
                        <a:latin typeface="Calibri" charset="0"/>
                        <a:ea typeface="Calibri" charset="0"/>
                        <a:cs typeface="Calibri" charset="0"/>
                      </a:endParaRPr>
                    </a:p>
                  </a:txBody>
                  <a:tcPr marL="13716" marR="13716" marT="13716" marB="1371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3310128"/>
            <a:ext cx="8138160" cy="868680"/>
          </a:xfrm>
          <a:prstGeom prst="rect">
            <a:avLst/>
          </a:prstGeom>
          <a:noFill/>
          <a:ln/>
        </p:spPr>
        <p:txBody>
          <a:bodyPr wrap="square" rtlCol="0" anchor="ctr"/>
          <a:lstStyle/>
          <a:p>
            <a:pPr indent="0" marL="0">
              <a:lnSpc>
                <a:spcPct val="118000"/>
              </a:lnSpc>
              <a:buNone/>
            </a:pPr>
            <a:r>
              <a:rPr lang="en-US" sz="850" b="1" dirty="0">
                <a:solidFill>
                  <a:srgbClr val="C08D7C"/>
                </a:solidFill>
                <a:latin typeface="Calibri" pitchFamily="34" charset="0"/>
                <a:ea typeface="Calibri" pitchFamily="34" charset="-122"/>
                <a:cs typeface="Calibri" pitchFamily="34" charset="-120"/>
              </a:rPr>
              <a:t>The four operating-room lines are FACILITY FEES. </a:t>
            </a:r>
            <a:pPr indent="0" marL="0">
              <a:lnSpc>
                <a:spcPct val="118000"/>
              </a:lnSpc>
              <a:buNone/>
            </a:pPr>
            <a:r>
              <a:rPr lang="en-US" sz="850" dirty="0">
                <a:solidFill>
                  <a:srgbClr val="6E6A62"/>
                </a:solidFill>
                <a:latin typeface="Calibri" pitchFamily="34" charset="0"/>
                <a:ea typeface="Calibri" pitchFamily="34" charset="-122"/>
                <a:cs typeface="Calibri" pitchFamily="34" charset="-120"/>
              </a:rPr>
              <a:t>They are what L&amp;K collects for the room, clinical staff, supplies, sedation monitoring and recovery. The surgeon is a principal who bills the patient directly for their professional fee, which never appears on these books, so the all-in price a patient pays is materially higher than the figures above. That is also why OR margins exceed the treatment-room lines: with no surgeon share to pay, facility cost of goods is disposables, implants, drugs and linens only. Across 38.5 OR hours a month the schedule works out to about $1,756 per operating-room hour. Hair restoration, ablative laser and office excisions bill the full fee, because the clinic’s own clinicians perform them in treatment rooms it already has.</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REVENUE MODEL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Membership revenue is not additive.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easy mistake is to stack membership fees on top of full a la carte revenue. Members draw down a credit bank against services that would otherwise be paid at list price, so redemption is netted out first.</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Build</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Service delivery at list value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$652,371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credit redemption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-$129,500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A8A296"/>
                          </a:solidFill>
                          <a:latin typeface="Calibri" pitchFamily="34" charset="0"/>
                          <a:ea typeface="Calibri" pitchFamily="34" charset="-122"/>
                          <a:cs typeface="Calibri" pitchFamily="34" charset="-120"/>
                        </a:rPr>
                        <a:t>less member and Friends discount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-$41,830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A la carte revenue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$481,041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membership fees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plus day pass and access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$20,625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TOTAL REVENUE PER MONTH</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$731,666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11480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Residents and Longevity members pay $207,500 a month and redeem $129,500 of service at retail. Redemption ratio 62.4%. If that exceeded 100% the credit bank would be underpriced; the model asserts it cannot.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RAMP</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Breakeven at month 12.</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Months one through six are construction and founding presales. Debt service is interest-only through construction and the ramp, then amortizes.</a:t>
            </a:r>
            <a:endParaRPr lang="en-US" sz="1150" dirty="0"/>
          </a:p>
        </p:txBody>
      </p:sp>
      <p:sp>
        <p:nvSpPr>
          <p:cNvPr id="5" name="Shape 3"/>
          <p:cNvSpPr/>
          <p:nvPr/>
        </p:nvSpPr>
        <p:spPr>
          <a:xfrm>
            <a:off x="502920" y="1572768"/>
            <a:ext cx="8138160" cy="2377440"/>
          </a:xfrm>
          <a:prstGeom prst="rect">
            <a:avLst/>
          </a:prstGeom>
          <a:solidFill>
            <a:srgbClr val="000000"/>
          </a:solidFill>
          <a:ln w="9525">
            <a:solidFill>
              <a:srgbClr val="2E4237"/>
            </a:solidFill>
            <a:prstDash val="solid"/>
          </a:ln>
        </p:spPr>
      </p:sp>
      <p:sp>
        <p:nvSpPr>
          <p:cNvPr id="6" name="Shape 4"/>
          <p:cNvSpPr/>
          <p:nvPr/>
        </p:nvSpPr>
        <p:spPr>
          <a:xfrm>
            <a:off x="502920" y="2861726"/>
            <a:ext cx="8138160" cy="10973"/>
          </a:xfrm>
          <a:prstGeom prst="rect">
            <a:avLst/>
          </a:prstGeom>
          <a:solidFill>
            <a:srgbClr val="2E4237"/>
          </a:solidFill>
          <a:ln w="12700">
            <a:solidFill>
              <a:srgbClr val="2E4237"/>
            </a:solidFill>
            <a:prstDash val="solid"/>
          </a:ln>
        </p:spPr>
      </p:sp>
      <p:sp>
        <p:nvSpPr>
          <p:cNvPr id="7" name="Shape 5"/>
          <p:cNvSpPr/>
          <p:nvPr/>
        </p:nvSpPr>
        <p:spPr>
          <a:xfrm>
            <a:off x="539090" y="2861726"/>
            <a:ext cx="153721" cy="815703"/>
          </a:xfrm>
          <a:prstGeom prst="rect">
            <a:avLst/>
          </a:prstGeom>
          <a:solidFill>
            <a:srgbClr val="2E4237"/>
          </a:solidFill>
          <a:ln w="12700">
            <a:solidFill>
              <a:srgbClr val="2E4237"/>
            </a:solidFill>
            <a:prstDash val="solid"/>
          </a:ln>
        </p:spPr>
      </p:sp>
      <p:sp>
        <p:nvSpPr>
          <p:cNvPr id="8" name="Shape 6"/>
          <p:cNvSpPr/>
          <p:nvPr/>
        </p:nvSpPr>
        <p:spPr>
          <a:xfrm>
            <a:off x="765150" y="2861726"/>
            <a:ext cx="153721" cy="815703"/>
          </a:xfrm>
          <a:prstGeom prst="rect">
            <a:avLst/>
          </a:prstGeom>
          <a:solidFill>
            <a:srgbClr val="2E4237"/>
          </a:solidFill>
          <a:ln w="12700">
            <a:solidFill>
              <a:srgbClr val="2E4237"/>
            </a:solidFill>
            <a:prstDash val="solid"/>
          </a:ln>
        </p:spPr>
      </p:sp>
      <p:sp>
        <p:nvSpPr>
          <p:cNvPr id="9" name="Shape 7"/>
          <p:cNvSpPr/>
          <p:nvPr/>
        </p:nvSpPr>
        <p:spPr>
          <a:xfrm>
            <a:off x="991210" y="2861726"/>
            <a:ext cx="153721" cy="815703"/>
          </a:xfrm>
          <a:prstGeom prst="rect">
            <a:avLst/>
          </a:prstGeom>
          <a:solidFill>
            <a:srgbClr val="2E4237"/>
          </a:solidFill>
          <a:ln w="12700">
            <a:solidFill>
              <a:srgbClr val="2E4237"/>
            </a:solidFill>
            <a:prstDash val="solid"/>
          </a:ln>
        </p:spPr>
      </p:sp>
      <p:sp>
        <p:nvSpPr>
          <p:cNvPr id="10" name="Shape 8"/>
          <p:cNvSpPr/>
          <p:nvPr/>
        </p:nvSpPr>
        <p:spPr>
          <a:xfrm>
            <a:off x="1217270" y="2861726"/>
            <a:ext cx="153721" cy="815703"/>
          </a:xfrm>
          <a:prstGeom prst="rect">
            <a:avLst/>
          </a:prstGeom>
          <a:solidFill>
            <a:srgbClr val="2E4237"/>
          </a:solidFill>
          <a:ln w="12700">
            <a:solidFill>
              <a:srgbClr val="2E4237"/>
            </a:solidFill>
            <a:prstDash val="solid"/>
          </a:ln>
        </p:spPr>
      </p:sp>
      <p:sp>
        <p:nvSpPr>
          <p:cNvPr id="11" name="Shape 9"/>
          <p:cNvSpPr/>
          <p:nvPr/>
        </p:nvSpPr>
        <p:spPr>
          <a:xfrm>
            <a:off x="1443330" y="2861726"/>
            <a:ext cx="153721" cy="815703"/>
          </a:xfrm>
          <a:prstGeom prst="rect">
            <a:avLst/>
          </a:prstGeom>
          <a:solidFill>
            <a:srgbClr val="2E4237"/>
          </a:solidFill>
          <a:ln w="12700">
            <a:solidFill>
              <a:srgbClr val="2E4237"/>
            </a:solidFill>
            <a:prstDash val="solid"/>
          </a:ln>
        </p:spPr>
      </p:sp>
      <p:sp>
        <p:nvSpPr>
          <p:cNvPr id="12" name="Shape 10"/>
          <p:cNvSpPr/>
          <p:nvPr/>
        </p:nvSpPr>
        <p:spPr>
          <a:xfrm>
            <a:off x="1669390" y="2861726"/>
            <a:ext cx="153721" cy="815703"/>
          </a:xfrm>
          <a:prstGeom prst="rect">
            <a:avLst/>
          </a:prstGeom>
          <a:solidFill>
            <a:srgbClr val="2E4237"/>
          </a:solidFill>
          <a:ln w="12700">
            <a:solidFill>
              <a:srgbClr val="2E4237"/>
            </a:solidFill>
            <a:prstDash val="solid"/>
          </a:ln>
        </p:spPr>
      </p:sp>
      <p:sp>
        <p:nvSpPr>
          <p:cNvPr id="13" name="Text 11"/>
          <p:cNvSpPr/>
          <p:nvPr/>
        </p:nvSpPr>
        <p:spPr>
          <a:xfrm>
            <a:off x="14433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M6</a:t>
            </a:r>
            <a:endParaRPr lang="en-US" sz="700" dirty="0"/>
          </a:p>
        </p:txBody>
      </p:sp>
      <p:sp>
        <p:nvSpPr>
          <p:cNvPr id="14" name="Shape 12"/>
          <p:cNvSpPr/>
          <p:nvPr/>
        </p:nvSpPr>
        <p:spPr>
          <a:xfrm>
            <a:off x="1895450" y="2861726"/>
            <a:ext cx="153721" cy="1088482"/>
          </a:xfrm>
          <a:prstGeom prst="rect">
            <a:avLst/>
          </a:prstGeom>
          <a:solidFill>
            <a:srgbClr val="2E4237"/>
          </a:solidFill>
          <a:ln w="12700">
            <a:solidFill>
              <a:srgbClr val="2E4237"/>
            </a:solidFill>
            <a:prstDash val="solid"/>
          </a:ln>
        </p:spPr>
      </p:sp>
      <p:sp>
        <p:nvSpPr>
          <p:cNvPr id="15" name="Shape 13"/>
          <p:cNvSpPr/>
          <p:nvPr/>
        </p:nvSpPr>
        <p:spPr>
          <a:xfrm>
            <a:off x="2121510" y="2861726"/>
            <a:ext cx="153721" cy="835112"/>
          </a:xfrm>
          <a:prstGeom prst="rect">
            <a:avLst/>
          </a:prstGeom>
          <a:solidFill>
            <a:srgbClr val="2E4237"/>
          </a:solidFill>
          <a:ln w="12700">
            <a:solidFill>
              <a:srgbClr val="2E4237"/>
            </a:solidFill>
            <a:prstDash val="solid"/>
          </a:ln>
        </p:spPr>
      </p:sp>
      <p:sp>
        <p:nvSpPr>
          <p:cNvPr id="16" name="Shape 14"/>
          <p:cNvSpPr/>
          <p:nvPr/>
        </p:nvSpPr>
        <p:spPr>
          <a:xfrm>
            <a:off x="2347570" y="2861726"/>
            <a:ext cx="153721" cy="545550"/>
          </a:xfrm>
          <a:prstGeom prst="rect">
            <a:avLst/>
          </a:prstGeom>
          <a:solidFill>
            <a:srgbClr val="2E4237"/>
          </a:solidFill>
          <a:ln w="12700">
            <a:solidFill>
              <a:srgbClr val="2E4237"/>
            </a:solidFill>
            <a:prstDash val="solid"/>
          </a:ln>
        </p:spPr>
      </p:sp>
      <p:sp>
        <p:nvSpPr>
          <p:cNvPr id="17" name="Shape 15"/>
          <p:cNvSpPr/>
          <p:nvPr/>
        </p:nvSpPr>
        <p:spPr>
          <a:xfrm>
            <a:off x="2573630" y="2861726"/>
            <a:ext cx="153721" cy="328372"/>
          </a:xfrm>
          <a:prstGeom prst="rect">
            <a:avLst/>
          </a:prstGeom>
          <a:solidFill>
            <a:srgbClr val="2E4237"/>
          </a:solidFill>
          <a:ln w="12700">
            <a:solidFill>
              <a:srgbClr val="2E4237"/>
            </a:solidFill>
            <a:prstDash val="solid"/>
          </a:ln>
        </p:spPr>
      </p:sp>
      <p:sp>
        <p:nvSpPr>
          <p:cNvPr id="18" name="Shape 16"/>
          <p:cNvSpPr/>
          <p:nvPr/>
        </p:nvSpPr>
        <p:spPr>
          <a:xfrm>
            <a:off x="2799690" y="2861726"/>
            <a:ext cx="153721" cy="111200"/>
          </a:xfrm>
          <a:prstGeom prst="rect">
            <a:avLst/>
          </a:prstGeom>
          <a:solidFill>
            <a:srgbClr val="2E4237"/>
          </a:solidFill>
          <a:ln w="12700">
            <a:solidFill>
              <a:srgbClr val="2E4237"/>
            </a:solidFill>
            <a:prstDash val="solid"/>
          </a:ln>
        </p:spPr>
      </p:sp>
      <p:sp>
        <p:nvSpPr>
          <p:cNvPr id="19" name="Shape 17"/>
          <p:cNvSpPr/>
          <p:nvPr/>
        </p:nvSpPr>
        <p:spPr>
          <a:xfrm>
            <a:off x="3025750" y="2755755"/>
            <a:ext cx="153721" cy="105971"/>
          </a:xfrm>
          <a:prstGeom prst="rect">
            <a:avLst/>
          </a:prstGeom>
          <a:solidFill>
            <a:srgbClr val="C08D7C"/>
          </a:solidFill>
          <a:ln w="12700">
            <a:solidFill>
              <a:srgbClr val="C08D7C"/>
            </a:solidFill>
            <a:prstDash val="solid"/>
          </a:ln>
        </p:spPr>
      </p:sp>
      <p:sp>
        <p:nvSpPr>
          <p:cNvPr id="20" name="Text 18"/>
          <p:cNvSpPr/>
          <p:nvPr/>
        </p:nvSpPr>
        <p:spPr>
          <a:xfrm>
            <a:off x="279969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M12</a:t>
            </a:r>
            <a:endParaRPr lang="en-US" sz="700" dirty="0"/>
          </a:p>
        </p:txBody>
      </p:sp>
      <p:sp>
        <p:nvSpPr>
          <p:cNvPr id="21" name="Shape 19"/>
          <p:cNvSpPr/>
          <p:nvPr/>
        </p:nvSpPr>
        <p:spPr>
          <a:xfrm>
            <a:off x="3251810" y="2538584"/>
            <a:ext cx="153721" cy="323142"/>
          </a:xfrm>
          <a:prstGeom prst="rect">
            <a:avLst/>
          </a:prstGeom>
          <a:solidFill>
            <a:srgbClr val="C08D7C"/>
          </a:solidFill>
          <a:ln w="12700">
            <a:solidFill>
              <a:srgbClr val="C08D7C"/>
            </a:solidFill>
            <a:prstDash val="solid"/>
          </a:ln>
        </p:spPr>
      </p:sp>
      <p:sp>
        <p:nvSpPr>
          <p:cNvPr id="22" name="Shape 20"/>
          <p:cNvSpPr/>
          <p:nvPr/>
        </p:nvSpPr>
        <p:spPr>
          <a:xfrm>
            <a:off x="3477870" y="2393796"/>
            <a:ext cx="153721" cy="467930"/>
          </a:xfrm>
          <a:prstGeom prst="rect">
            <a:avLst/>
          </a:prstGeom>
          <a:solidFill>
            <a:srgbClr val="C08D7C"/>
          </a:solidFill>
          <a:ln w="12700">
            <a:solidFill>
              <a:srgbClr val="C08D7C"/>
            </a:solidFill>
            <a:prstDash val="solid"/>
          </a:ln>
        </p:spPr>
      </p:sp>
      <p:sp>
        <p:nvSpPr>
          <p:cNvPr id="23" name="Shape 21"/>
          <p:cNvSpPr/>
          <p:nvPr/>
        </p:nvSpPr>
        <p:spPr>
          <a:xfrm>
            <a:off x="3703930" y="2249015"/>
            <a:ext cx="153721" cy="612711"/>
          </a:xfrm>
          <a:prstGeom prst="rect">
            <a:avLst/>
          </a:prstGeom>
          <a:solidFill>
            <a:srgbClr val="C08D7C"/>
          </a:solidFill>
          <a:ln w="12700">
            <a:solidFill>
              <a:srgbClr val="C08D7C"/>
            </a:solidFill>
            <a:prstDash val="solid"/>
          </a:ln>
        </p:spPr>
      </p:sp>
      <p:sp>
        <p:nvSpPr>
          <p:cNvPr id="24" name="Shape 22"/>
          <p:cNvSpPr/>
          <p:nvPr/>
        </p:nvSpPr>
        <p:spPr>
          <a:xfrm>
            <a:off x="3929990" y="2104234"/>
            <a:ext cx="153721" cy="757492"/>
          </a:xfrm>
          <a:prstGeom prst="rect">
            <a:avLst/>
          </a:prstGeom>
          <a:solidFill>
            <a:srgbClr val="C08D7C"/>
          </a:solidFill>
          <a:ln w="12700">
            <a:solidFill>
              <a:srgbClr val="C08D7C"/>
            </a:solidFill>
            <a:prstDash val="solid"/>
          </a:ln>
        </p:spPr>
      </p:sp>
      <p:sp>
        <p:nvSpPr>
          <p:cNvPr id="25" name="Shape 23"/>
          <p:cNvSpPr/>
          <p:nvPr/>
        </p:nvSpPr>
        <p:spPr>
          <a:xfrm>
            <a:off x="4156050" y="1959453"/>
            <a:ext cx="153721" cy="902273"/>
          </a:xfrm>
          <a:prstGeom prst="rect">
            <a:avLst/>
          </a:prstGeom>
          <a:solidFill>
            <a:srgbClr val="C08D7C"/>
          </a:solidFill>
          <a:ln w="12700">
            <a:solidFill>
              <a:srgbClr val="C08D7C"/>
            </a:solidFill>
            <a:prstDash val="solid"/>
          </a:ln>
        </p:spPr>
      </p:sp>
      <p:sp>
        <p:nvSpPr>
          <p:cNvPr id="26" name="Shape 24"/>
          <p:cNvSpPr/>
          <p:nvPr/>
        </p:nvSpPr>
        <p:spPr>
          <a:xfrm>
            <a:off x="4382110" y="1920786"/>
            <a:ext cx="153721" cy="940940"/>
          </a:xfrm>
          <a:prstGeom prst="rect">
            <a:avLst/>
          </a:prstGeom>
          <a:solidFill>
            <a:srgbClr val="C08D7C"/>
          </a:solidFill>
          <a:ln w="12700">
            <a:solidFill>
              <a:srgbClr val="C08D7C"/>
            </a:solidFill>
            <a:prstDash val="solid"/>
          </a:ln>
        </p:spPr>
      </p:sp>
      <p:sp>
        <p:nvSpPr>
          <p:cNvPr id="27" name="Text 25"/>
          <p:cNvSpPr/>
          <p:nvPr/>
        </p:nvSpPr>
        <p:spPr>
          <a:xfrm>
            <a:off x="415605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M18</a:t>
            </a:r>
            <a:endParaRPr lang="en-US" sz="700" dirty="0"/>
          </a:p>
        </p:txBody>
      </p:sp>
      <p:sp>
        <p:nvSpPr>
          <p:cNvPr id="28" name="Shape 26"/>
          <p:cNvSpPr/>
          <p:nvPr/>
        </p:nvSpPr>
        <p:spPr>
          <a:xfrm>
            <a:off x="4608170" y="1882119"/>
            <a:ext cx="153721" cy="979607"/>
          </a:xfrm>
          <a:prstGeom prst="rect">
            <a:avLst/>
          </a:prstGeom>
          <a:solidFill>
            <a:srgbClr val="C08D7C"/>
          </a:solidFill>
          <a:ln w="12700">
            <a:solidFill>
              <a:srgbClr val="C08D7C"/>
            </a:solidFill>
            <a:prstDash val="solid"/>
          </a:ln>
        </p:spPr>
      </p:sp>
      <p:sp>
        <p:nvSpPr>
          <p:cNvPr id="29" name="Shape 27"/>
          <p:cNvSpPr/>
          <p:nvPr/>
        </p:nvSpPr>
        <p:spPr>
          <a:xfrm>
            <a:off x="4834230" y="1843445"/>
            <a:ext cx="153721" cy="1018281"/>
          </a:xfrm>
          <a:prstGeom prst="rect">
            <a:avLst/>
          </a:prstGeom>
          <a:solidFill>
            <a:srgbClr val="C08D7C"/>
          </a:solidFill>
          <a:ln w="12700">
            <a:solidFill>
              <a:srgbClr val="C08D7C"/>
            </a:solidFill>
            <a:prstDash val="solid"/>
          </a:ln>
        </p:spPr>
      </p:sp>
      <p:sp>
        <p:nvSpPr>
          <p:cNvPr id="30" name="Shape 28"/>
          <p:cNvSpPr/>
          <p:nvPr/>
        </p:nvSpPr>
        <p:spPr>
          <a:xfrm>
            <a:off x="5060290" y="1804778"/>
            <a:ext cx="153721" cy="1056948"/>
          </a:xfrm>
          <a:prstGeom prst="rect">
            <a:avLst/>
          </a:prstGeom>
          <a:solidFill>
            <a:srgbClr val="C08D7C"/>
          </a:solidFill>
          <a:ln w="12700">
            <a:solidFill>
              <a:srgbClr val="C08D7C"/>
            </a:solidFill>
            <a:prstDash val="solid"/>
          </a:ln>
        </p:spPr>
      </p:sp>
      <p:sp>
        <p:nvSpPr>
          <p:cNvPr id="31" name="Shape 29"/>
          <p:cNvSpPr/>
          <p:nvPr/>
        </p:nvSpPr>
        <p:spPr>
          <a:xfrm>
            <a:off x="5286350" y="1766111"/>
            <a:ext cx="153721" cy="1095615"/>
          </a:xfrm>
          <a:prstGeom prst="rect">
            <a:avLst/>
          </a:prstGeom>
          <a:solidFill>
            <a:srgbClr val="C08D7C"/>
          </a:solidFill>
          <a:ln w="12700">
            <a:solidFill>
              <a:srgbClr val="C08D7C"/>
            </a:solidFill>
            <a:prstDash val="solid"/>
          </a:ln>
        </p:spPr>
      </p:sp>
      <p:sp>
        <p:nvSpPr>
          <p:cNvPr id="32" name="Shape 30"/>
          <p:cNvSpPr/>
          <p:nvPr/>
        </p:nvSpPr>
        <p:spPr>
          <a:xfrm>
            <a:off x="5512410" y="1740330"/>
            <a:ext cx="153721" cy="1121396"/>
          </a:xfrm>
          <a:prstGeom prst="rect">
            <a:avLst/>
          </a:prstGeom>
          <a:solidFill>
            <a:srgbClr val="C08D7C"/>
          </a:solidFill>
          <a:ln w="12700">
            <a:solidFill>
              <a:srgbClr val="C08D7C"/>
            </a:solidFill>
            <a:prstDash val="solid"/>
          </a:ln>
        </p:spPr>
      </p:sp>
      <p:sp>
        <p:nvSpPr>
          <p:cNvPr id="33" name="Shape 31"/>
          <p:cNvSpPr/>
          <p:nvPr/>
        </p:nvSpPr>
        <p:spPr>
          <a:xfrm>
            <a:off x="5738470" y="1714550"/>
            <a:ext cx="153721" cy="1147176"/>
          </a:xfrm>
          <a:prstGeom prst="rect">
            <a:avLst/>
          </a:prstGeom>
          <a:solidFill>
            <a:srgbClr val="C08D7C"/>
          </a:solidFill>
          <a:ln w="12700">
            <a:solidFill>
              <a:srgbClr val="C08D7C"/>
            </a:solidFill>
            <a:prstDash val="solid"/>
          </a:ln>
        </p:spPr>
      </p:sp>
      <p:sp>
        <p:nvSpPr>
          <p:cNvPr id="34" name="Text 32"/>
          <p:cNvSpPr/>
          <p:nvPr/>
        </p:nvSpPr>
        <p:spPr>
          <a:xfrm>
            <a:off x="551241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M24</a:t>
            </a:r>
            <a:endParaRPr lang="en-US" sz="700" dirty="0"/>
          </a:p>
        </p:txBody>
      </p:sp>
      <p:sp>
        <p:nvSpPr>
          <p:cNvPr id="35" name="Shape 33"/>
          <p:cNvSpPr/>
          <p:nvPr/>
        </p:nvSpPr>
        <p:spPr>
          <a:xfrm>
            <a:off x="5964530" y="1688770"/>
            <a:ext cx="153721" cy="1172957"/>
          </a:xfrm>
          <a:prstGeom prst="rect">
            <a:avLst/>
          </a:prstGeom>
          <a:solidFill>
            <a:srgbClr val="C08D7C"/>
          </a:solidFill>
          <a:ln w="12700">
            <a:solidFill>
              <a:srgbClr val="C08D7C"/>
            </a:solidFill>
            <a:prstDash val="solid"/>
          </a:ln>
        </p:spPr>
      </p:sp>
      <p:sp>
        <p:nvSpPr>
          <p:cNvPr id="36" name="Shape 34"/>
          <p:cNvSpPr/>
          <p:nvPr/>
        </p:nvSpPr>
        <p:spPr>
          <a:xfrm>
            <a:off x="6190590" y="1662989"/>
            <a:ext cx="153721" cy="1198737"/>
          </a:xfrm>
          <a:prstGeom prst="rect">
            <a:avLst/>
          </a:prstGeom>
          <a:solidFill>
            <a:srgbClr val="C08D7C"/>
          </a:solidFill>
          <a:ln w="12700">
            <a:solidFill>
              <a:srgbClr val="C08D7C"/>
            </a:solidFill>
            <a:prstDash val="solid"/>
          </a:ln>
        </p:spPr>
      </p:sp>
      <p:sp>
        <p:nvSpPr>
          <p:cNvPr id="37" name="Shape 35"/>
          <p:cNvSpPr/>
          <p:nvPr/>
        </p:nvSpPr>
        <p:spPr>
          <a:xfrm>
            <a:off x="6416650" y="1650102"/>
            <a:ext cx="153721" cy="1211624"/>
          </a:xfrm>
          <a:prstGeom prst="rect">
            <a:avLst/>
          </a:prstGeom>
          <a:solidFill>
            <a:srgbClr val="C08D7C"/>
          </a:solidFill>
          <a:ln w="12700">
            <a:solidFill>
              <a:srgbClr val="C08D7C"/>
            </a:solidFill>
            <a:prstDash val="solid"/>
          </a:ln>
        </p:spPr>
      </p:sp>
      <p:sp>
        <p:nvSpPr>
          <p:cNvPr id="38" name="Shape 36"/>
          <p:cNvSpPr/>
          <p:nvPr/>
        </p:nvSpPr>
        <p:spPr>
          <a:xfrm>
            <a:off x="6642710" y="1624322"/>
            <a:ext cx="153721" cy="1237404"/>
          </a:xfrm>
          <a:prstGeom prst="rect">
            <a:avLst/>
          </a:prstGeom>
          <a:solidFill>
            <a:srgbClr val="C08D7C"/>
          </a:solidFill>
          <a:ln w="12700">
            <a:solidFill>
              <a:srgbClr val="C08D7C"/>
            </a:solidFill>
            <a:prstDash val="solid"/>
          </a:ln>
        </p:spPr>
      </p:sp>
      <p:sp>
        <p:nvSpPr>
          <p:cNvPr id="39" name="Shape 37"/>
          <p:cNvSpPr/>
          <p:nvPr/>
        </p:nvSpPr>
        <p:spPr>
          <a:xfrm>
            <a:off x="6868770" y="1611435"/>
            <a:ext cx="153721" cy="1250291"/>
          </a:xfrm>
          <a:prstGeom prst="rect">
            <a:avLst/>
          </a:prstGeom>
          <a:solidFill>
            <a:srgbClr val="C08D7C"/>
          </a:solidFill>
          <a:ln w="12700">
            <a:solidFill>
              <a:srgbClr val="C08D7C"/>
            </a:solidFill>
            <a:prstDash val="solid"/>
          </a:ln>
        </p:spPr>
      </p:sp>
      <p:sp>
        <p:nvSpPr>
          <p:cNvPr id="40" name="Shape 38"/>
          <p:cNvSpPr/>
          <p:nvPr/>
        </p:nvSpPr>
        <p:spPr>
          <a:xfrm>
            <a:off x="7094830" y="1598542"/>
            <a:ext cx="153721" cy="1263185"/>
          </a:xfrm>
          <a:prstGeom prst="rect">
            <a:avLst/>
          </a:prstGeom>
          <a:solidFill>
            <a:srgbClr val="C08D7C"/>
          </a:solidFill>
          <a:ln w="12700">
            <a:solidFill>
              <a:srgbClr val="C08D7C"/>
            </a:solidFill>
            <a:prstDash val="solid"/>
          </a:ln>
        </p:spPr>
      </p:sp>
      <p:sp>
        <p:nvSpPr>
          <p:cNvPr id="41" name="Text 39"/>
          <p:cNvSpPr/>
          <p:nvPr/>
        </p:nvSpPr>
        <p:spPr>
          <a:xfrm>
            <a:off x="686877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M30</a:t>
            </a:r>
            <a:endParaRPr lang="en-US" sz="700" dirty="0"/>
          </a:p>
        </p:txBody>
      </p:sp>
      <p:sp>
        <p:nvSpPr>
          <p:cNvPr id="42" name="Shape 40"/>
          <p:cNvSpPr/>
          <p:nvPr/>
        </p:nvSpPr>
        <p:spPr>
          <a:xfrm>
            <a:off x="7320890" y="1585655"/>
            <a:ext cx="153721" cy="1276071"/>
          </a:xfrm>
          <a:prstGeom prst="rect">
            <a:avLst/>
          </a:prstGeom>
          <a:solidFill>
            <a:srgbClr val="C08D7C"/>
          </a:solidFill>
          <a:ln w="12700">
            <a:solidFill>
              <a:srgbClr val="C08D7C"/>
            </a:solidFill>
            <a:prstDash val="solid"/>
          </a:ln>
        </p:spPr>
      </p:sp>
      <p:sp>
        <p:nvSpPr>
          <p:cNvPr id="43" name="Shape 41"/>
          <p:cNvSpPr/>
          <p:nvPr/>
        </p:nvSpPr>
        <p:spPr>
          <a:xfrm>
            <a:off x="7546950" y="1572768"/>
            <a:ext cx="153721" cy="1288958"/>
          </a:xfrm>
          <a:prstGeom prst="rect">
            <a:avLst/>
          </a:prstGeom>
          <a:solidFill>
            <a:srgbClr val="C08D7C"/>
          </a:solidFill>
          <a:ln w="12700">
            <a:solidFill>
              <a:srgbClr val="C08D7C"/>
            </a:solidFill>
            <a:prstDash val="solid"/>
          </a:ln>
        </p:spPr>
      </p:sp>
      <p:sp>
        <p:nvSpPr>
          <p:cNvPr id="44" name="Shape 42"/>
          <p:cNvSpPr/>
          <p:nvPr/>
        </p:nvSpPr>
        <p:spPr>
          <a:xfrm>
            <a:off x="7773010" y="1572768"/>
            <a:ext cx="153721" cy="1288958"/>
          </a:xfrm>
          <a:prstGeom prst="rect">
            <a:avLst/>
          </a:prstGeom>
          <a:solidFill>
            <a:srgbClr val="C08D7C"/>
          </a:solidFill>
          <a:ln w="12700">
            <a:solidFill>
              <a:srgbClr val="C08D7C"/>
            </a:solidFill>
            <a:prstDash val="solid"/>
          </a:ln>
        </p:spPr>
      </p:sp>
      <p:sp>
        <p:nvSpPr>
          <p:cNvPr id="45" name="Shape 43"/>
          <p:cNvSpPr/>
          <p:nvPr/>
        </p:nvSpPr>
        <p:spPr>
          <a:xfrm>
            <a:off x="7999070" y="1572768"/>
            <a:ext cx="153721" cy="1288958"/>
          </a:xfrm>
          <a:prstGeom prst="rect">
            <a:avLst/>
          </a:prstGeom>
          <a:solidFill>
            <a:srgbClr val="C08D7C"/>
          </a:solidFill>
          <a:ln w="12700">
            <a:solidFill>
              <a:srgbClr val="C08D7C"/>
            </a:solidFill>
            <a:prstDash val="solid"/>
          </a:ln>
        </p:spPr>
      </p:sp>
      <p:sp>
        <p:nvSpPr>
          <p:cNvPr id="46" name="Shape 44"/>
          <p:cNvSpPr/>
          <p:nvPr/>
        </p:nvSpPr>
        <p:spPr>
          <a:xfrm>
            <a:off x="8225130" y="1572768"/>
            <a:ext cx="153721" cy="1288958"/>
          </a:xfrm>
          <a:prstGeom prst="rect">
            <a:avLst/>
          </a:prstGeom>
          <a:solidFill>
            <a:srgbClr val="C08D7C"/>
          </a:solidFill>
          <a:ln w="12700">
            <a:solidFill>
              <a:srgbClr val="C08D7C"/>
            </a:solidFill>
            <a:prstDash val="solid"/>
          </a:ln>
        </p:spPr>
      </p:sp>
      <p:sp>
        <p:nvSpPr>
          <p:cNvPr id="47" name="Shape 45"/>
          <p:cNvSpPr/>
          <p:nvPr/>
        </p:nvSpPr>
        <p:spPr>
          <a:xfrm>
            <a:off x="8451190" y="1572768"/>
            <a:ext cx="153721" cy="1288958"/>
          </a:xfrm>
          <a:prstGeom prst="rect">
            <a:avLst/>
          </a:prstGeom>
          <a:solidFill>
            <a:srgbClr val="C08D7C"/>
          </a:solidFill>
          <a:ln w="12700">
            <a:solidFill>
              <a:srgbClr val="C08D7C"/>
            </a:solidFill>
            <a:prstDash val="solid"/>
          </a:ln>
        </p:spPr>
      </p:sp>
      <p:sp>
        <p:nvSpPr>
          <p:cNvPr id="48" name="Text 46"/>
          <p:cNvSpPr/>
          <p:nvPr/>
        </p:nvSpPr>
        <p:spPr>
          <a:xfrm>
            <a:off x="8225130" y="3977640"/>
            <a:ext cx="678180" cy="164592"/>
          </a:xfrm>
          <a:prstGeom prst="rect">
            <a:avLst/>
          </a:prstGeom>
          <a:noFill/>
          <a:ln/>
        </p:spPr>
        <p:txBody>
          <a:bodyPr wrap="square" rtlCol="0" anchor="ctr"/>
          <a:lstStyle/>
          <a:p>
            <a:pPr algn="ctr" indent="0" marL="0">
              <a:buNone/>
            </a:pPr>
            <a:r>
              <a:rPr lang="en-US" sz="700" dirty="0">
                <a:solidFill>
                  <a:srgbClr val="6E6A62"/>
                </a:solidFill>
                <a:latin typeface="Calibri" pitchFamily="34" charset="0"/>
                <a:ea typeface="Calibri" pitchFamily="34" charset="-122"/>
                <a:cs typeface="Calibri" pitchFamily="34" charset="-120"/>
              </a:rPr>
              <a:t>M36</a:t>
            </a:r>
            <a:endParaRPr lang="en-US" sz="700" dirty="0"/>
          </a:p>
        </p:txBody>
      </p:sp>
      <p:sp>
        <p:nvSpPr>
          <p:cNvPr id="49" name="Text 47"/>
          <p:cNvSpPr/>
          <p:nvPr/>
        </p:nvSpPr>
        <p:spPr>
          <a:xfrm>
            <a:off x="576072" y="1618488"/>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$189,541 / mo</a:t>
            </a:r>
            <a:endParaRPr lang="en-US" sz="700" dirty="0"/>
          </a:p>
        </p:txBody>
      </p:sp>
      <p:sp>
        <p:nvSpPr>
          <p:cNvPr id="50" name="Text 48"/>
          <p:cNvSpPr/>
          <p:nvPr/>
        </p:nvSpPr>
        <p:spPr>
          <a:xfrm>
            <a:off x="576072" y="3749040"/>
            <a:ext cx="1463040" cy="164592"/>
          </a:xfrm>
          <a:prstGeom prst="rect">
            <a:avLst/>
          </a:prstGeom>
          <a:noFill/>
          <a:ln/>
        </p:spPr>
        <p:txBody>
          <a:bodyPr wrap="square" rtlCol="0" anchor="ctr"/>
          <a:lstStyle/>
          <a:p>
            <a:pPr indent="0" marL="0">
              <a:buNone/>
            </a:pPr>
            <a:r>
              <a:rPr lang="en-US" sz="700" dirty="0">
                <a:solidFill>
                  <a:srgbClr val="6E6A62"/>
                </a:solidFill>
                <a:latin typeface="Calibri" pitchFamily="34" charset="0"/>
                <a:ea typeface="Calibri" pitchFamily="34" charset="-122"/>
                <a:cs typeface="Calibri" pitchFamily="34" charset="-120"/>
              </a:rPr>
              <a:t>$-160,061 / mo</a:t>
            </a:r>
            <a:endParaRPr lang="en-US" sz="700" dirty="0"/>
          </a:p>
        </p:txBody>
      </p:sp>
      <p:sp>
        <p:nvSpPr>
          <p:cNvPr id="51" name="Text 49"/>
          <p:cNvSpPr/>
          <p:nvPr/>
        </p:nvSpPr>
        <p:spPr>
          <a:xfrm>
            <a:off x="502920" y="4206240"/>
            <a:ext cx="8138160" cy="365760"/>
          </a:xfrm>
          <a:prstGeom prst="rect">
            <a:avLst/>
          </a:prstGeom>
          <a:noFill/>
          <a:ln/>
        </p:spPr>
        <p:txBody>
          <a:bodyPr wrap="square" rtlCol="0" anchor="ctr"/>
          <a:lstStyle/>
          <a:p>
            <a:pPr indent="0" marL="0">
              <a:buNone/>
            </a:pPr>
            <a:r>
              <a:rPr lang="en-US" sz="950" dirty="0">
                <a:solidFill>
                  <a:srgbClr val="A8A296"/>
                </a:solidFill>
                <a:latin typeface="Calibri" pitchFamily="34" charset="0"/>
                <a:ea typeface="Calibri" pitchFamily="34" charset="-122"/>
                <a:cs typeface="Calibri" pitchFamily="34" charset="-120"/>
              </a:rPr>
              <a:t>Cash trough -$931,701 at month 12, against a $1,354,800 working capital and debt service reserve funded inside use of funds.</a:t>
            </a:r>
            <a:endParaRPr lang="en-US" sz="950" dirty="0"/>
          </a:p>
        </p:txBody>
      </p:sp>
      <p:sp>
        <p:nvSpPr>
          <p:cNvPr id="52" name="Text 5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53" name="Text 5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STABILIZED P&amp;L</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Monthly, at stabilization. Projected.</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138160" cy="914400"/>
        </p:xfrm>
        <a:graphic>
          <a:graphicData uri="http://schemas.openxmlformats.org/drawingml/2006/table">
            <a:tbl>
              <a:tblPr/>
              <a:tblGrid>
                <a:gridCol w="4480560"/>
                <a:gridCol w="1828800"/>
                <a:gridCol w="182880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Line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 of revenue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Total revenue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$731,666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Cost of services delivered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-$180,652</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Circuit consumables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-$18,760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Net after COGS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$532,254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73%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Rent (5,825 SF NNN)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-$32,038</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Clinical and club staff</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Admin and management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Marketing and member acquisition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Malpractice and liability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-$26,000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Equipment leases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Utilities, software, member platform</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-$18,500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Licensing, compliance and accreditation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A8A296"/>
                          </a:solidFill>
                          <a:latin typeface="Calibri" pitchFamily="34" charset="0"/>
                          <a:ea typeface="Calibri" pitchFamily="34" charset="-122"/>
                          <a:cs typeface="Calibri" pitchFamily="34" charset="-120"/>
                        </a:rPr>
                        <a:t>Total fixed overhead</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-$342,713</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A8A296"/>
                          </a:solidFill>
                          <a:latin typeface="Calibri" pitchFamily="34" charset="0"/>
                          <a:ea typeface="Calibri" pitchFamily="34" charset="-122"/>
                          <a:cs typeface="Calibri" pitchFamily="34" charset="-120"/>
                        </a:rPr>
                        <a:t>47%</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OPERATING INCOME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$189,541</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26%</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we are wrong, how wrong can we afford to be?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Volume flexed against the base case with fixed overhead held constant, which is the conservative treatment.</a:t>
            </a:r>
            <a:endParaRPr lang="en-US" sz="1150" dirty="0"/>
          </a:p>
        </p:txBody>
      </p:sp>
      <p:sp>
        <p:nvSpPr>
          <p:cNvPr id="5" name="Shape 3"/>
          <p:cNvSpPr/>
          <p:nvPr/>
        </p:nvSpPr>
        <p:spPr>
          <a:xfrm>
            <a:off x="502920" y="1691640"/>
            <a:ext cx="2602992" cy="2468880"/>
          </a:xfrm>
          <a:prstGeom prst="roundRect">
            <a:avLst>
              <a:gd name="adj" fmla="val 2222"/>
            </a:avLst>
          </a:prstGeom>
          <a:solidFill>
            <a:srgbClr val="16241C"/>
          </a:solidFill>
          <a:ln w="12700">
            <a:solidFill>
              <a:srgbClr val="2E4237"/>
            </a:solidFill>
            <a:prstDash val="solid"/>
          </a:ln>
        </p:spPr>
      </p:sp>
      <p:sp>
        <p:nvSpPr>
          <p:cNvPr id="6" name="Text 4"/>
          <p:cNvSpPr/>
          <p:nvPr/>
        </p:nvSpPr>
        <p:spPr>
          <a:xfrm>
            <a:off x="649224"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LOW</a:t>
            </a:r>
            <a:endParaRPr lang="en-US" sz="850" dirty="0"/>
          </a:p>
        </p:txBody>
      </p:sp>
      <p:sp>
        <p:nvSpPr>
          <p:cNvPr id="7" name="Text 5"/>
          <p:cNvSpPr/>
          <p:nvPr/>
        </p:nvSpPr>
        <p:spPr>
          <a:xfrm>
            <a:off x="649224"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$0.49M / yr</a:t>
            </a:r>
            <a:endParaRPr lang="en-US" sz="1800" dirty="0"/>
          </a:p>
        </p:txBody>
      </p:sp>
      <p:sp>
        <p:nvSpPr>
          <p:cNvPr id="8" name="Text 6"/>
          <p:cNvSpPr/>
          <p:nvPr/>
        </p:nvSpPr>
        <p:spPr>
          <a:xfrm>
            <a:off x="649224"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Slow member ramp, 72% of base volume</a:t>
            </a:r>
            <a:endParaRPr lang="en-US" sz="850" dirty="0"/>
          </a:p>
        </p:txBody>
      </p:sp>
      <p:sp>
        <p:nvSpPr>
          <p:cNvPr id="9" name="Text 7"/>
          <p:cNvSpPr/>
          <p:nvPr/>
        </p:nvSpPr>
        <p:spPr>
          <a:xfrm>
            <a:off x="649224"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10" name="Text 8"/>
          <p:cNvSpPr/>
          <p:nvPr/>
        </p:nvSpPr>
        <p:spPr>
          <a:xfrm>
            <a:off x="1804416"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$526,800</a:t>
            </a:r>
            <a:endParaRPr lang="en-US" sz="900" dirty="0"/>
          </a:p>
        </p:txBody>
      </p:sp>
      <p:sp>
        <p:nvSpPr>
          <p:cNvPr id="11" name="Text 9"/>
          <p:cNvSpPr/>
          <p:nvPr/>
        </p:nvSpPr>
        <p:spPr>
          <a:xfrm>
            <a:off x="649224"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12" name="Text 10"/>
          <p:cNvSpPr/>
          <p:nvPr/>
        </p:nvSpPr>
        <p:spPr>
          <a:xfrm>
            <a:off x="1804416"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$383,223</a:t>
            </a:r>
            <a:endParaRPr lang="en-US" sz="900" dirty="0"/>
          </a:p>
        </p:txBody>
      </p:sp>
      <p:sp>
        <p:nvSpPr>
          <p:cNvPr id="13" name="Text 11"/>
          <p:cNvSpPr/>
          <p:nvPr/>
        </p:nvSpPr>
        <p:spPr>
          <a:xfrm>
            <a:off x="649224"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14" name="Text 12"/>
          <p:cNvSpPr/>
          <p:nvPr/>
        </p:nvSpPr>
        <p:spPr>
          <a:xfrm>
            <a:off x="1804416"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$40,510</a:t>
            </a:r>
            <a:endParaRPr lang="en-US" sz="900" dirty="0"/>
          </a:p>
        </p:txBody>
      </p:sp>
      <p:sp>
        <p:nvSpPr>
          <p:cNvPr id="15" name="Text 13"/>
          <p:cNvSpPr/>
          <p:nvPr/>
        </p:nvSpPr>
        <p:spPr>
          <a:xfrm>
            <a:off x="649224"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16" name="Text 14"/>
          <p:cNvSpPr/>
          <p:nvPr/>
        </p:nvSpPr>
        <p:spPr>
          <a:xfrm>
            <a:off x="1804416"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0.59x</a:t>
            </a:r>
            <a:endParaRPr lang="en-US" sz="900" dirty="0"/>
          </a:p>
        </p:txBody>
      </p:sp>
      <p:sp>
        <p:nvSpPr>
          <p:cNvPr id="17" name="Shape 15"/>
          <p:cNvSpPr/>
          <p:nvPr/>
        </p:nvSpPr>
        <p:spPr>
          <a:xfrm>
            <a:off x="3270504" y="1691640"/>
            <a:ext cx="2602992" cy="2468880"/>
          </a:xfrm>
          <a:prstGeom prst="roundRect">
            <a:avLst>
              <a:gd name="adj" fmla="val 2222"/>
            </a:avLst>
          </a:prstGeom>
          <a:solidFill>
            <a:srgbClr val="241C1A"/>
          </a:solidFill>
          <a:ln w="19050">
            <a:solidFill>
              <a:srgbClr val="C08D7C"/>
            </a:solidFill>
            <a:prstDash val="solid"/>
          </a:ln>
        </p:spPr>
      </p:sp>
      <p:sp>
        <p:nvSpPr>
          <p:cNvPr id="18" name="Text 16"/>
          <p:cNvSpPr/>
          <p:nvPr/>
        </p:nvSpPr>
        <p:spPr>
          <a:xfrm>
            <a:off x="3416808" y="1810512"/>
            <a:ext cx="2310384" cy="182880"/>
          </a:xfrm>
          <a:prstGeom prst="rect">
            <a:avLst/>
          </a:prstGeom>
          <a:noFill/>
          <a:ln/>
        </p:spPr>
        <p:txBody>
          <a:bodyPr wrap="square" rtlCol="0" anchor="ctr"/>
          <a:lstStyle/>
          <a:p>
            <a:pPr indent="0" marL="0">
              <a:buNone/>
            </a:pPr>
            <a:r>
              <a:rPr lang="en-US" sz="850" spc="240" kern="0" dirty="0">
                <a:solidFill>
                  <a:srgbClr val="C08D7C"/>
                </a:solidFill>
                <a:latin typeface="Century Gothic" pitchFamily="34" charset="0"/>
                <a:ea typeface="Century Gothic" pitchFamily="34" charset="-122"/>
                <a:cs typeface="Century Gothic" pitchFamily="34" charset="-120"/>
              </a:rPr>
              <a:t>BASE</a:t>
            </a:r>
            <a:endParaRPr lang="en-US" sz="850" dirty="0"/>
          </a:p>
        </p:txBody>
      </p:sp>
      <p:sp>
        <p:nvSpPr>
          <p:cNvPr id="19" name="Text 17"/>
          <p:cNvSpPr/>
          <p:nvPr/>
        </p:nvSpPr>
        <p:spPr>
          <a:xfrm>
            <a:off x="3416808" y="2011680"/>
            <a:ext cx="2310384" cy="365760"/>
          </a:xfrm>
          <a:prstGeom prst="rect">
            <a:avLst/>
          </a:prstGeom>
          <a:noFill/>
          <a:ln/>
        </p:spPr>
        <p:txBody>
          <a:bodyPr wrap="square" rtlCol="0" anchor="ctr"/>
          <a:lstStyle/>
          <a:p>
            <a:pPr indent="0" marL="0">
              <a:buNone/>
            </a:pPr>
            <a:r>
              <a:rPr lang="en-US" sz="1800" dirty="0">
                <a:solidFill>
                  <a:srgbClr val="C08D7C"/>
                </a:solidFill>
                <a:latin typeface="Century Gothic" pitchFamily="34" charset="0"/>
                <a:ea typeface="Century Gothic" pitchFamily="34" charset="-122"/>
                <a:cs typeface="Century Gothic" pitchFamily="34" charset="-120"/>
              </a:rPr>
              <a:t>$2.27M / yr</a:t>
            </a:r>
            <a:endParaRPr lang="en-US" sz="1800" dirty="0"/>
          </a:p>
        </p:txBody>
      </p:sp>
      <p:sp>
        <p:nvSpPr>
          <p:cNvPr id="20" name="Text 18"/>
          <p:cNvSpPr/>
          <p:nvPr/>
        </p:nvSpPr>
        <p:spPr>
          <a:xfrm>
            <a:off x="3416808"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Stated assumptions at stabilization</a:t>
            </a:r>
            <a:endParaRPr lang="en-US" sz="850" dirty="0"/>
          </a:p>
        </p:txBody>
      </p:sp>
      <p:sp>
        <p:nvSpPr>
          <p:cNvPr id="21" name="Text 19"/>
          <p:cNvSpPr/>
          <p:nvPr/>
        </p:nvSpPr>
        <p:spPr>
          <a:xfrm>
            <a:off x="3416808"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22" name="Text 20"/>
          <p:cNvSpPr/>
          <p:nvPr/>
        </p:nvSpPr>
        <p:spPr>
          <a:xfrm>
            <a:off x="4572000"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$731,666</a:t>
            </a:r>
            <a:endParaRPr lang="en-US" sz="900" dirty="0"/>
          </a:p>
        </p:txBody>
      </p:sp>
      <p:sp>
        <p:nvSpPr>
          <p:cNvPr id="23" name="Text 21"/>
          <p:cNvSpPr/>
          <p:nvPr/>
        </p:nvSpPr>
        <p:spPr>
          <a:xfrm>
            <a:off x="3416808"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24" name="Text 22"/>
          <p:cNvSpPr/>
          <p:nvPr/>
        </p:nvSpPr>
        <p:spPr>
          <a:xfrm>
            <a:off x="4572000"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$532,254</a:t>
            </a:r>
            <a:endParaRPr lang="en-US" sz="900" dirty="0"/>
          </a:p>
        </p:txBody>
      </p:sp>
      <p:sp>
        <p:nvSpPr>
          <p:cNvPr id="25" name="Text 23"/>
          <p:cNvSpPr/>
          <p:nvPr/>
        </p:nvSpPr>
        <p:spPr>
          <a:xfrm>
            <a:off x="3416808"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26" name="Text 24"/>
          <p:cNvSpPr/>
          <p:nvPr/>
        </p:nvSpPr>
        <p:spPr>
          <a:xfrm>
            <a:off x="4572000"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$189,541</a:t>
            </a:r>
            <a:endParaRPr lang="en-US" sz="900" dirty="0"/>
          </a:p>
        </p:txBody>
      </p:sp>
      <p:sp>
        <p:nvSpPr>
          <p:cNvPr id="27" name="Text 25"/>
          <p:cNvSpPr/>
          <p:nvPr/>
        </p:nvSpPr>
        <p:spPr>
          <a:xfrm>
            <a:off x="3416808"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28" name="Text 26"/>
          <p:cNvSpPr/>
          <p:nvPr/>
        </p:nvSpPr>
        <p:spPr>
          <a:xfrm>
            <a:off x="4572000"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2.77x</a:t>
            </a:r>
            <a:endParaRPr lang="en-US" sz="900" dirty="0"/>
          </a:p>
        </p:txBody>
      </p:sp>
      <p:sp>
        <p:nvSpPr>
          <p:cNvPr id="29" name="Shape 27"/>
          <p:cNvSpPr/>
          <p:nvPr/>
        </p:nvSpPr>
        <p:spPr>
          <a:xfrm>
            <a:off x="6038088" y="1691640"/>
            <a:ext cx="2602992" cy="2468880"/>
          </a:xfrm>
          <a:prstGeom prst="roundRect">
            <a:avLst>
              <a:gd name="adj" fmla="val 2222"/>
            </a:avLst>
          </a:prstGeom>
          <a:solidFill>
            <a:srgbClr val="16241C"/>
          </a:solidFill>
          <a:ln w="12700">
            <a:solidFill>
              <a:srgbClr val="2E4237"/>
            </a:solidFill>
            <a:prstDash val="solid"/>
          </a:ln>
        </p:spPr>
      </p:sp>
      <p:sp>
        <p:nvSpPr>
          <p:cNvPr id="30" name="Text 28"/>
          <p:cNvSpPr/>
          <p:nvPr/>
        </p:nvSpPr>
        <p:spPr>
          <a:xfrm>
            <a:off x="6184392" y="1810512"/>
            <a:ext cx="2310384" cy="182880"/>
          </a:xfrm>
          <a:prstGeom prst="rect">
            <a:avLst/>
          </a:prstGeom>
          <a:noFill/>
          <a:ln/>
        </p:spPr>
        <p:txBody>
          <a:bodyPr wrap="square" rtlCol="0" anchor="ctr"/>
          <a:lstStyle/>
          <a:p>
            <a:pPr indent="0" marL="0">
              <a:buNone/>
            </a:pPr>
            <a:r>
              <a:rPr lang="en-US" sz="850" spc="240" kern="0" dirty="0">
                <a:solidFill>
                  <a:srgbClr val="6E6A62"/>
                </a:solidFill>
                <a:latin typeface="Century Gothic" pitchFamily="34" charset="0"/>
                <a:ea typeface="Century Gothic" pitchFamily="34" charset="-122"/>
                <a:cs typeface="Century Gothic" pitchFamily="34" charset="-120"/>
              </a:rPr>
              <a:t>UPSIDE</a:t>
            </a:r>
            <a:endParaRPr lang="en-US" sz="850" dirty="0"/>
          </a:p>
        </p:txBody>
      </p:sp>
      <p:sp>
        <p:nvSpPr>
          <p:cNvPr id="31" name="Text 29"/>
          <p:cNvSpPr/>
          <p:nvPr/>
        </p:nvSpPr>
        <p:spPr>
          <a:xfrm>
            <a:off x="6184392" y="2011680"/>
            <a:ext cx="2310384" cy="365760"/>
          </a:xfrm>
          <a:prstGeom prst="rect">
            <a:avLst/>
          </a:prstGeom>
          <a:noFill/>
          <a:ln/>
        </p:spPr>
        <p:txBody>
          <a:bodyPr wrap="square" rtlCol="0" anchor="ctr"/>
          <a:lstStyle/>
          <a:p>
            <a:pPr indent="0" marL="0">
              <a:buNone/>
            </a:pPr>
            <a:r>
              <a:rPr lang="en-US" sz="1800" dirty="0">
                <a:solidFill>
                  <a:srgbClr val="EDE6DA"/>
                </a:solidFill>
                <a:latin typeface="Century Gothic" pitchFamily="34" charset="0"/>
                <a:ea typeface="Century Gothic" pitchFamily="34" charset="-122"/>
                <a:cs typeface="Century Gothic" pitchFamily="34" charset="-120"/>
              </a:rPr>
              <a:t>$4.06M / yr</a:t>
            </a:r>
            <a:endParaRPr lang="en-US" sz="1800" dirty="0"/>
          </a:p>
        </p:txBody>
      </p:sp>
      <p:sp>
        <p:nvSpPr>
          <p:cNvPr id="32" name="Text 30"/>
          <p:cNvSpPr/>
          <p:nvPr/>
        </p:nvSpPr>
        <p:spPr>
          <a:xfrm>
            <a:off x="6184392" y="2395728"/>
            <a:ext cx="2310384" cy="384048"/>
          </a:xfrm>
          <a:prstGeom prst="rect">
            <a:avLst/>
          </a:prstGeom>
          <a:noFill/>
          <a:ln/>
        </p:spPr>
        <p:txBody>
          <a:bodyPr wrap="square" rtlCol="0" anchor="ctr"/>
          <a:lstStyle/>
          <a:p>
            <a:pPr indent="0" marL="0">
              <a:lnSpc>
                <a:spcPct val="115000"/>
              </a:lnSpc>
              <a:buNone/>
            </a:pPr>
            <a:r>
              <a:rPr lang="en-US" sz="850" dirty="0">
                <a:solidFill>
                  <a:srgbClr val="6E6A62"/>
                </a:solidFill>
                <a:latin typeface="Calibri" pitchFamily="34" charset="0"/>
                <a:ea typeface="Calibri" pitchFamily="34" charset="-122"/>
                <a:cs typeface="Calibri" pitchFamily="34" charset="-120"/>
              </a:rPr>
              <a:t>Waitlist demand, 128% of base volume</a:t>
            </a:r>
            <a:endParaRPr lang="en-US" sz="850" dirty="0"/>
          </a:p>
        </p:txBody>
      </p:sp>
      <p:sp>
        <p:nvSpPr>
          <p:cNvPr id="33" name="Text 31"/>
          <p:cNvSpPr/>
          <p:nvPr/>
        </p:nvSpPr>
        <p:spPr>
          <a:xfrm>
            <a:off x="6184392" y="2880360"/>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Revenue / mo</a:t>
            </a:r>
            <a:endParaRPr lang="en-US" sz="900" dirty="0"/>
          </a:p>
        </p:txBody>
      </p:sp>
      <p:sp>
        <p:nvSpPr>
          <p:cNvPr id="34" name="Text 32"/>
          <p:cNvSpPr/>
          <p:nvPr/>
        </p:nvSpPr>
        <p:spPr>
          <a:xfrm>
            <a:off x="7339584" y="2880360"/>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$936,533</a:t>
            </a:r>
            <a:endParaRPr lang="en-US" sz="900" dirty="0"/>
          </a:p>
        </p:txBody>
      </p:sp>
      <p:sp>
        <p:nvSpPr>
          <p:cNvPr id="35" name="Text 33"/>
          <p:cNvSpPr/>
          <p:nvPr/>
        </p:nvSpPr>
        <p:spPr>
          <a:xfrm>
            <a:off x="6184392" y="3172968"/>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Net after COGS</a:t>
            </a:r>
            <a:endParaRPr lang="en-US" sz="900" dirty="0"/>
          </a:p>
        </p:txBody>
      </p:sp>
      <p:sp>
        <p:nvSpPr>
          <p:cNvPr id="36" name="Text 34"/>
          <p:cNvSpPr/>
          <p:nvPr/>
        </p:nvSpPr>
        <p:spPr>
          <a:xfrm>
            <a:off x="7339584" y="3172968"/>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$681,285</a:t>
            </a:r>
            <a:endParaRPr lang="en-US" sz="900" dirty="0"/>
          </a:p>
        </p:txBody>
      </p:sp>
      <p:sp>
        <p:nvSpPr>
          <p:cNvPr id="37" name="Text 35"/>
          <p:cNvSpPr/>
          <p:nvPr/>
        </p:nvSpPr>
        <p:spPr>
          <a:xfrm>
            <a:off x="6184392" y="3465576"/>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Operating / mo</a:t>
            </a:r>
            <a:endParaRPr lang="en-US" sz="900" dirty="0"/>
          </a:p>
        </p:txBody>
      </p:sp>
      <p:sp>
        <p:nvSpPr>
          <p:cNvPr id="38" name="Text 36"/>
          <p:cNvSpPr/>
          <p:nvPr/>
        </p:nvSpPr>
        <p:spPr>
          <a:xfrm>
            <a:off x="7339584" y="3465576"/>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$338,573</a:t>
            </a:r>
            <a:endParaRPr lang="en-US" sz="900" dirty="0"/>
          </a:p>
        </p:txBody>
      </p:sp>
      <p:sp>
        <p:nvSpPr>
          <p:cNvPr id="39" name="Text 37"/>
          <p:cNvSpPr/>
          <p:nvPr/>
        </p:nvSpPr>
        <p:spPr>
          <a:xfrm>
            <a:off x="6184392" y="3758184"/>
            <a:ext cx="1270711" cy="237744"/>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DSCR</a:t>
            </a:r>
            <a:endParaRPr lang="en-US" sz="900" dirty="0"/>
          </a:p>
        </p:txBody>
      </p:sp>
      <p:sp>
        <p:nvSpPr>
          <p:cNvPr id="40" name="Text 38"/>
          <p:cNvSpPr/>
          <p:nvPr/>
        </p:nvSpPr>
        <p:spPr>
          <a:xfrm>
            <a:off x="7339584" y="3758184"/>
            <a:ext cx="1155192" cy="237744"/>
          </a:xfrm>
          <a:prstGeom prst="rect">
            <a:avLst/>
          </a:prstGeom>
          <a:noFill/>
          <a:ln/>
        </p:spPr>
        <p:txBody>
          <a:bodyPr wrap="square" rtlCol="0" anchor="ctr"/>
          <a:lstStyle/>
          <a:p>
            <a:pPr algn="r" indent="0" marL="0">
              <a:buNone/>
            </a:pPr>
            <a:r>
              <a:rPr lang="en-US" sz="900" b="1" dirty="0">
                <a:solidFill>
                  <a:srgbClr val="EDE6DA"/>
                </a:solidFill>
                <a:latin typeface="Calibri" pitchFamily="34" charset="0"/>
                <a:ea typeface="Calibri" pitchFamily="34" charset="-122"/>
                <a:cs typeface="Calibri" pitchFamily="34" charset="-120"/>
              </a:rPr>
              <a:t>4.95x</a:t>
            </a:r>
            <a:endParaRPr lang="en-US" sz="900" dirty="0"/>
          </a:p>
        </p:txBody>
      </p:sp>
      <p:sp>
        <p:nvSpPr>
          <p:cNvPr id="41" name="Text 3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42" name="Text 4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THE ASK</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Total project cost, Surgical case.</a:t>
            </a:r>
            <a:endParaRPr lang="en-US" sz="2600" dirty="0"/>
          </a:p>
        </p:txBody>
      </p:sp>
      <p:sp>
        <p:nvSpPr>
          <p:cNvPr id="4" name="Shape 2"/>
          <p:cNvSpPr/>
          <p:nvPr/>
        </p:nvSpPr>
        <p:spPr>
          <a:xfrm>
            <a:off x="502920" y="1417320"/>
            <a:ext cx="8138160" cy="2423160"/>
          </a:xfrm>
          <a:prstGeom prst="roundRect">
            <a:avLst>
              <a:gd name="adj" fmla="val 2264"/>
            </a:avLst>
          </a:prstGeom>
          <a:solidFill>
            <a:srgbClr val="241C1A"/>
          </a:solidFill>
          <a:ln w="15875">
            <a:solidFill>
              <a:srgbClr val="C08D7C"/>
            </a:solidFill>
            <a:prstDash val="solid"/>
          </a:ln>
        </p:spPr>
      </p:sp>
      <p:sp>
        <p:nvSpPr>
          <p:cNvPr id="5" name="Text 3"/>
          <p:cNvSpPr/>
          <p:nvPr/>
        </p:nvSpPr>
        <p:spPr>
          <a:xfrm>
            <a:off x="777240" y="1600200"/>
            <a:ext cx="7589520" cy="914400"/>
          </a:xfrm>
          <a:prstGeom prst="rect">
            <a:avLst/>
          </a:prstGeom>
          <a:noFill/>
          <a:ln/>
        </p:spPr>
        <p:txBody>
          <a:bodyPr wrap="square" rtlCol="0" anchor="ctr"/>
          <a:lstStyle/>
          <a:p>
            <a:pPr indent="0" marL="0">
              <a:buNone/>
            </a:pPr>
            <a:r>
              <a:rPr lang="en-US" sz="5200" dirty="0">
                <a:solidFill>
                  <a:srgbClr val="C08D7C"/>
                </a:solidFill>
                <a:latin typeface="Century Gothic" pitchFamily="34" charset="0"/>
                <a:ea typeface="Century Gothic" pitchFamily="34" charset="-122"/>
                <a:cs typeface="Century Gothic" pitchFamily="34" charset="-120"/>
              </a:rPr>
              <a:t>$5.3M</a:t>
            </a:r>
            <a:endParaRPr lang="en-US" sz="5200" dirty="0"/>
          </a:p>
        </p:txBody>
      </p:sp>
      <p:sp>
        <p:nvSpPr>
          <p:cNvPr id="6" name="Text 4"/>
          <p:cNvSpPr/>
          <p:nvPr/>
        </p:nvSpPr>
        <p:spPr>
          <a:xfrm>
            <a:off x="795528" y="2578608"/>
            <a:ext cx="7552944" cy="320040"/>
          </a:xfrm>
          <a:prstGeom prst="rect">
            <a:avLst/>
          </a:prstGeom>
          <a:noFill/>
          <a:ln/>
        </p:spPr>
        <p:txBody>
          <a:bodyPr wrap="square" rtlCol="0" anchor="ctr"/>
          <a:lstStyle/>
          <a:p>
            <a:pPr indent="0" marL="0">
              <a:buNone/>
            </a:pPr>
            <a:r>
              <a:rPr lang="en-US" sz="1150" dirty="0">
                <a:solidFill>
                  <a:srgbClr val="A8A296"/>
                </a:solidFill>
                <a:latin typeface="Calibri" pitchFamily="34" charset="0"/>
                <a:ea typeface="Calibri" pitchFamily="34" charset="-122"/>
                <a:cs typeface="Calibri" pitchFamily="34" charset="-120"/>
              </a:rPr>
              <a:t>Everything in the ample case, plus one accredited office-based surgery suite.</a:t>
            </a:r>
            <a:endParaRPr lang="en-US" sz="1150" dirty="0"/>
          </a:p>
        </p:txBody>
      </p:sp>
      <p:sp>
        <p:nvSpPr>
          <p:cNvPr id="7" name="Text 5"/>
          <p:cNvSpPr/>
          <p:nvPr/>
        </p:nvSpPr>
        <p:spPr>
          <a:xfrm>
            <a:off x="795528"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SBA 7(A) LOAN</a:t>
            </a:r>
            <a:endParaRPr lang="en-US" sz="700" dirty="0"/>
          </a:p>
        </p:txBody>
      </p:sp>
      <p:sp>
        <p:nvSpPr>
          <p:cNvPr id="8" name="Text 6"/>
          <p:cNvSpPr/>
          <p:nvPr/>
        </p:nvSpPr>
        <p:spPr>
          <a:xfrm>
            <a:off x="795528"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$4,770,000</a:t>
            </a:r>
            <a:endParaRPr lang="en-US" sz="1400" dirty="0"/>
          </a:p>
        </p:txBody>
      </p:sp>
      <p:sp>
        <p:nvSpPr>
          <p:cNvPr id="9" name="Text 7"/>
          <p:cNvSpPr/>
          <p:nvPr/>
        </p:nvSpPr>
        <p:spPr>
          <a:xfrm>
            <a:off x="2683764"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EQUITY INJECTION · 10% FLOOR</a:t>
            </a:r>
            <a:endParaRPr lang="en-US" sz="700" dirty="0"/>
          </a:p>
        </p:txBody>
      </p:sp>
      <p:sp>
        <p:nvSpPr>
          <p:cNvPr id="10" name="Text 8"/>
          <p:cNvSpPr/>
          <p:nvPr/>
        </p:nvSpPr>
        <p:spPr>
          <a:xfrm>
            <a:off x="2683764"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$530,000</a:t>
            </a:r>
            <a:endParaRPr lang="en-US" sz="1400" dirty="0"/>
          </a:p>
        </p:txBody>
      </p:sp>
      <p:sp>
        <p:nvSpPr>
          <p:cNvPr id="11" name="Text 9"/>
          <p:cNvSpPr/>
          <p:nvPr/>
        </p:nvSpPr>
        <p:spPr>
          <a:xfrm>
            <a:off x="4572000"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EQUITY AT 20% PLANNING</a:t>
            </a:r>
            <a:endParaRPr lang="en-US" sz="700" dirty="0"/>
          </a:p>
        </p:txBody>
      </p:sp>
      <p:sp>
        <p:nvSpPr>
          <p:cNvPr id="12" name="Text 10"/>
          <p:cNvSpPr/>
          <p:nvPr/>
        </p:nvSpPr>
        <p:spPr>
          <a:xfrm>
            <a:off x="4572000"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$1,060,000</a:t>
            </a:r>
            <a:endParaRPr lang="en-US" sz="1400" dirty="0"/>
          </a:p>
        </p:txBody>
      </p:sp>
      <p:sp>
        <p:nvSpPr>
          <p:cNvPr id="13" name="Text 11"/>
          <p:cNvSpPr/>
          <p:nvPr/>
        </p:nvSpPr>
        <p:spPr>
          <a:xfrm>
            <a:off x="6460236" y="3054096"/>
            <a:ext cx="1778508" cy="274320"/>
          </a:xfrm>
          <a:prstGeom prst="rect">
            <a:avLst/>
          </a:prstGeom>
          <a:noFill/>
          <a:ln/>
        </p:spPr>
        <p:txBody>
          <a:bodyPr wrap="square" rtlCol="0" anchor="t"/>
          <a:lstStyle/>
          <a:p>
            <a:pPr indent="0" marL="0">
              <a:buNone/>
            </a:pPr>
            <a:r>
              <a:rPr lang="en-US" sz="700" spc="140" kern="0" dirty="0">
                <a:solidFill>
                  <a:srgbClr val="6E6A62"/>
                </a:solidFill>
                <a:latin typeface="Century Gothic" pitchFamily="34" charset="0"/>
                <a:ea typeface="Century Gothic" pitchFamily="34" charset="-122"/>
                <a:cs typeface="Century Gothic" pitchFamily="34" charset="-120"/>
              </a:rPr>
              <a:t>FOOTPRINT</a:t>
            </a:r>
            <a:endParaRPr lang="en-US" sz="700" dirty="0"/>
          </a:p>
        </p:txBody>
      </p:sp>
      <p:sp>
        <p:nvSpPr>
          <p:cNvPr id="14" name="Text 12"/>
          <p:cNvSpPr/>
          <p:nvPr/>
        </p:nvSpPr>
        <p:spPr>
          <a:xfrm>
            <a:off x="6460236" y="3364992"/>
            <a:ext cx="1778508" cy="292608"/>
          </a:xfrm>
          <a:prstGeom prst="rect">
            <a:avLst/>
          </a:prstGeom>
          <a:noFill/>
          <a:ln/>
        </p:spPr>
        <p:txBody>
          <a:bodyPr wrap="square" rtlCol="0" anchor="ctr"/>
          <a:lstStyle/>
          <a:p>
            <a:pPr indent="0" marL="0">
              <a:buNone/>
            </a:pPr>
            <a:r>
              <a:rPr lang="en-US" sz="1400" dirty="0">
                <a:solidFill>
                  <a:srgbClr val="EDE6DA"/>
                </a:solidFill>
                <a:latin typeface="Century Gothic" pitchFamily="34" charset="0"/>
                <a:ea typeface="Century Gothic" pitchFamily="34" charset="-122"/>
                <a:cs typeface="Century Gothic" pitchFamily="34" charset="-120"/>
              </a:rPr>
              <a:t>5,825 SF</a:t>
            </a:r>
            <a:endParaRPr lang="en-US" sz="1400" dirty="0"/>
          </a:p>
        </p:txBody>
      </p:sp>
      <p:sp>
        <p:nvSpPr>
          <p:cNvPr id="15" name="Text 13"/>
          <p:cNvSpPr/>
          <p:nvPr/>
        </p:nvSpPr>
        <p:spPr>
          <a:xfrm>
            <a:off x="502920" y="4041648"/>
            <a:ext cx="8138160" cy="411480"/>
          </a:xfrm>
          <a:prstGeom prst="rect">
            <a:avLst/>
          </a:prstGeom>
          <a:noFill/>
          <a:ln/>
        </p:spPr>
        <p:txBody>
          <a:bodyPr wrap="square" rtlCol="0" anchor="ctr"/>
          <a:lstStyle/>
          <a:p>
            <a:pPr indent="0" marL="0">
              <a:lnSpc>
                <a:spcPct val="115000"/>
              </a:lnSpc>
              <a:buNone/>
            </a:pPr>
            <a:r>
              <a:rPr lang="en-US" sz="900" dirty="0">
                <a:solidFill>
                  <a:srgbClr val="6E6A62"/>
                </a:solidFill>
                <a:latin typeface="Calibri" pitchFamily="34" charset="0"/>
                <a:ea typeface="Calibri" pitchFamily="34" charset="-122"/>
                <a:cs typeface="Calibri" pitchFamily="34" charset="-120"/>
              </a:rPr>
              <a:t>Both the 10% SOP floor and the 20% planning figure are shown because lenders routinely require more than the floor from a business with no operating history.</a:t>
            </a:r>
            <a:endParaRPr lang="en-US" sz="9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Where the $5.3M goes.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working capital and debt service reserve is sized against the modeled cash trough of $931,701 at month 12, not to a round number.</a:t>
            </a:r>
            <a:endParaRPr lang="en-US" sz="11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8138160" cy="914400"/>
        </p:xfrm>
        <a:graphic>
          <a:graphicData uri="http://schemas.openxmlformats.org/drawingml/2006/table">
            <a:tbl>
              <a:tblPr/>
              <a:tblGrid>
                <a:gridCol w="4937760"/>
                <a:gridCol w="1600200"/>
                <a:gridCol w="1600200"/>
              </a:tblGrid>
              <a:tr h="18288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Use of funds</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Amount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 of project</a:t>
                      </a:r>
                      <a:endParaRPr lang="en-US" sz="850" dirty="0">
                        <a:latin typeface="Century Gothic" charset="0"/>
                        <a:ea typeface="Century Gothic" charset="0"/>
                        <a:cs typeface="Century Gothic"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Buildout and tenant improvements (4,925 SF clinic and club @ $250/SF)</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$1,231,250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suite buildout (900 SF @ $320/SF, OR-grade HVAC and finishes)</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$288,000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gas, emergency power, life-safety branch for the suite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Wet areas: 2 saunas, 2 plunges, steam, drainage, ventilation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$465,000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and aesthetic equipment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capital equipment (balance leased)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 technology: HBOT purchased, Ammortal deposit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$165,950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GE iDXA bone densitometer, purchased</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FF&amp;E, lounge, millwork, retail</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Pre-opening: licensing, legal, insurance, hiring, transfer agreement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Accreditation: Quad A survey, policies, QA/PI program, staff training</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$110,000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Brand, launch, founding member campaign</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Working capital and debt service reserve</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$1,354,800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 project cost</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$5,300,000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a:t>
                      </a:r>
                      <a:endParaRPr lang="en-US" sz="850" dirty="0">
                        <a:latin typeface="Calibri" charset="0"/>
                        <a:ea typeface="Calibri" charset="0"/>
                        <a:cs typeface="Calibri" charset="0"/>
                      </a:endParaRPr>
                    </a:p>
                  </a:txBody>
                  <a:tcPr marL="22860" marR="22860" marT="22860" marB="22860"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SBA PACKAGE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Structured to the actual rule.</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4023360" cy="914400"/>
        </p:xfrm>
        <a:graphic>
          <a:graphicData uri="http://schemas.openxmlformats.org/drawingml/2006/table">
            <a:tbl>
              <a:tblPr/>
              <a:tblGrid>
                <a:gridCol w="2514600"/>
                <a:gridCol w="1508760"/>
              </a:tblGrid>
              <a:tr h="20574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Loan structure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Value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Total project cost</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$5,300,000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SBA 7(a) loan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$4,770,000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Equity injection (10% SOP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$530,000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Equity injection (20% planning)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$1,060,000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Assumed rate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9.5% (Prime + 2.75%)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Term</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10 years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Interest-only period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 months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during interest-only</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$37,763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Payment once amortizing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$68,335 /mo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5740">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Working capital and reserve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$1,354,800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4800600" y="1371600"/>
          <a:ext cx="3977640" cy="914400"/>
        </p:xfrm>
        <a:graphic>
          <a:graphicData uri="http://schemas.openxmlformats.org/drawingml/2006/table">
            <a:tbl>
              <a:tblPr/>
              <a:tblGrid>
                <a:gridCol w="777240"/>
                <a:gridCol w="1234440"/>
                <a:gridCol w="1188720"/>
                <a:gridCol w="777240"/>
              </a:tblGrid>
              <a:tr h="237744">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Year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Debt service</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-$1,131,837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$339,864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-3.33x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$1,532,775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$636,588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2.41x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Year 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$2,213,843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$820,020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2.70x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r h="237744">
                <a:tc>
                  <a:txBody>
                    <a:bodyPr/>
                    <a:lstStyle/>
                    <a:p>
                      <a:pPr algn="l" indent="0" marL="0">
                        <a:buNone/>
                      </a:pPr>
                      <a:r>
                        <a:rPr lang="en-US" sz="950" b="1" dirty="0">
                          <a:solidFill>
                            <a:srgbClr val="C08D7C"/>
                          </a:solidFill>
                          <a:latin typeface="Calibri" pitchFamily="34" charset="0"/>
                          <a:ea typeface="Calibri" pitchFamily="34" charset="-122"/>
                          <a:cs typeface="Calibri" pitchFamily="34" charset="-120"/>
                        </a:rPr>
                        <a:t>Stabilized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$820,020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950" b="1" dirty="0">
                          <a:solidFill>
                            <a:srgbClr val="C08D7C"/>
                          </a:solidFill>
                          <a:latin typeface="Calibri" pitchFamily="34" charset="0"/>
                          <a:ea typeface="Calibri" pitchFamily="34" charset="-122"/>
                          <a:cs typeface="Calibri" pitchFamily="34" charset="-120"/>
                        </a:rPr>
                        <a:t>2.77x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2"/>
          <p:cNvSpPr/>
          <p:nvPr/>
        </p:nvSpPr>
        <p:spPr>
          <a:xfrm>
            <a:off x="4800600" y="2788920"/>
            <a:ext cx="3977640" cy="274320"/>
          </a:xfrm>
          <a:prstGeom prst="rect">
            <a:avLst/>
          </a:prstGeom>
          <a:noFill/>
          <a:ln/>
        </p:spPr>
        <p:txBody>
          <a:bodyPr wrap="square" rtlCol="0" anchor="ctr"/>
          <a:lstStyle/>
          <a:p>
            <a:pPr indent="0" marL="0">
              <a:buNone/>
            </a:pPr>
            <a:r>
              <a:rPr lang="en-US" sz="900" dirty="0">
                <a:solidFill>
                  <a:srgbClr val="A8A296"/>
                </a:solidFill>
                <a:latin typeface="Calibri" pitchFamily="34" charset="0"/>
                <a:ea typeface="Calibri" pitchFamily="34" charset="-122"/>
                <a:cs typeface="Calibri" pitchFamily="34" charset="-120"/>
              </a:rPr>
              <a:t>Rate sensitivity: 2.77x at 9.5%   ·   2.67x at 10.5%   ·   2.58x at 11.5%</a:t>
            </a:r>
            <a:endParaRPr lang="en-US" sz="900" dirty="0"/>
          </a:p>
        </p:txBody>
      </p:sp>
      <p:sp>
        <p:nvSpPr>
          <p:cNvPr id="7" name="Text 3"/>
          <p:cNvSpPr/>
          <p:nvPr/>
        </p:nvSpPr>
        <p:spPr>
          <a:xfrm>
            <a:off x="502920" y="3794760"/>
            <a:ext cx="8138160" cy="777240"/>
          </a:xfrm>
          <a:prstGeom prst="rect">
            <a:avLst/>
          </a:prstGeom>
          <a:noFill/>
          <a:ln/>
        </p:spPr>
        <p:txBody>
          <a:bodyPr wrap="square" rtlCol="0" anchor="ctr"/>
          <a:lstStyle/>
          <a:p>
            <a:pPr indent="0" marL="0">
              <a:lnSpc>
                <a:spcPct val="120000"/>
              </a:lnSpc>
              <a:buNone/>
            </a:pPr>
            <a:r>
              <a:rPr lang="en-US" sz="800" dirty="0">
                <a:solidFill>
                  <a:srgbClr val="6E6A62"/>
                </a:solidFill>
                <a:latin typeface="Calibri" pitchFamily="34" charset="0"/>
                <a:ea typeface="Calibri" pitchFamily="34" charset="-122"/>
                <a:cs typeface="Calibri" pitchFamily="34" charset="-120"/>
              </a:rPr>
              <a:t>SBA 7(a) caps at a $5,000,000 loan; SBA maximum guarantee exposure is $3,750,000. SOP 50 10 8 requires a minimum 10% equity injection for a startup, and lenders routinely require more of a business with no operating history. An unconditional personal guaranty is required from any owner holding 20% or more. The 1.25x coverage threshold is prevailing lender underwriting convention, not an SBA regulation.</a:t>
            </a:r>
            <a:endParaRPr lang="en-US" sz="800" dirty="0"/>
          </a:p>
        </p:txBody>
      </p:sp>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DISCLOSURES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we are flagging before you ask.</a:t>
            </a:r>
            <a:endParaRPr lang="en-US" sz="2600" dirty="0"/>
          </a:p>
        </p:txBody>
      </p:sp>
      <p:sp>
        <p:nvSpPr>
          <p:cNvPr id="4" name="Text 2"/>
          <p:cNvSpPr/>
          <p:nvPr/>
        </p:nvSpPr>
        <p:spPr>
          <a:xfrm>
            <a:off x="502920" y="1417320"/>
            <a:ext cx="8138160" cy="3108960"/>
          </a:xfrm>
          <a:prstGeom prst="rect">
            <a:avLst/>
          </a:prstGeom>
          <a:noFill/>
          <a:ln/>
        </p:spPr>
        <p:txBody>
          <a:bodyPr wrap="square" rtlCol="0" anchor="ctr"/>
          <a:lstStyle/>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1 operating income is negative. Six of those months are construction and the rest are the opening ramp. Debt service is interest-only for the first 18 months, and the $1,354,800 reserve inside use of funds is sized against a modeled cash trough of $931,701 at month 12.</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Year 2 coverage of 2.41x already clears the 1.25x convention, before the business reaches stabilization.</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Rate sensitivity: stabilized coverage runs 2.77x at 9.5%, 2.67x at 10.5%, 2.58x at 11.5%. Coverage holds above 1.25x even 200 basis points above the assumed rate.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The 18-month interest-only period compresses amortization into the remaining 102 months, raising the eventual payment. It buys ramp-year survivability at the cost of stabilized coverage, and both effects are reflected in the figures above.</a:t>
            </a:r>
            <a:endParaRPr lang="en-US" sz="1050" dirty="0"/>
          </a:p>
          <a:p>
            <a:pPr marL="342900" indent="-342900">
              <a:lnSpc>
                <a:spcPct val="135000"/>
              </a:lnSpc>
              <a:buSzPct val="100000"/>
              <a:buChar char="•"/>
            </a:pPr>
            <a:r>
              <a:rPr lang="en-US" sz="1050" dirty="0">
                <a:solidFill>
                  <a:srgbClr val="A8A296"/>
                </a:solidFill>
                <a:latin typeface="Calibri" pitchFamily="34" charset="0"/>
                <a:ea typeface="Calibri" pitchFamily="34" charset="-122"/>
                <a:cs typeface="Calibri" pitchFamily="34" charset="-120"/>
              </a:rPr>
              <a:t>All forward-looking figures are projections on the stated assumptions and are not guarantees. Market and demographic figures carry their sources; anything unsourced was cut rather than estimated.</a:t>
            </a:r>
            <a:endParaRPr lang="en-US" sz="105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TIMELINE</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From signature to stabilization.</a:t>
            </a:r>
            <a:endParaRPr lang="en-US" sz="2600" dirty="0"/>
          </a:p>
        </p:txBody>
      </p:sp>
      <p:sp>
        <p:nvSpPr>
          <p:cNvPr id="4" name="Shape 2"/>
          <p:cNvSpPr/>
          <p:nvPr/>
        </p:nvSpPr>
        <p:spPr>
          <a:xfrm>
            <a:off x="502920" y="1600200"/>
            <a:ext cx="1525219" cy="25603"/>
          </a:xfrm>
          <a:prstGeom prst="rect">
            <a:avLst/>
          </a:prstGeom>
          <a:solidFill>
            <a:srgbClr val="2E4237"/>
          </a:solidFill>
          <a:ln w="12700">
            <a:solidFill>
              <a:srgbClr val="2E4237"/>
            </a:solidFill>
            <a:prstDash val="solid"/>
          </a:ln>
        </p:spPr>
      </p:sp>
      <p:sp>
        <p:nvSpPr>
          <p:cNvPr id="5" name="Shape 3"/>
          <p:cNvSpPr/>
          <p:nvPr/>
        </p:nvSpPr>
        <p:spPr>
          <a:xfrm>
            <a:off x="502920" y="1563624"/>
            <a:ext cx="100584" cy="100584"/>
          </a:xfrm>
          <a:prstGeom prst="ellipse">
            <a:avLst/>
          </a:prstGeom>
          <a:solidFill>
            <a:srgbClr val="C08D7C"/>
          </a:solidFill>
          <a:ln w="12700">
            <a:solidFill>
              <a:srgbClr val="C08D7C"/>
            </a:solidFill>
            <a:prstDash val="solid"/>
          </a:ln>
        </p:spPr>
      </p:sp>
      <p:sp>
        <p:nvSpPr>
          <p:cNvPr id="6" name="Text 4"/>
          <p:cNvSpPr/>
          <p:nvPr/>
        </p:nvSpPr>
        <p:spPr>
          <a:xfrm>
            <a:off x="50292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0–3</a:t>
            </a:r>
            <a:endParaRPr lang="en-US" sz="750" dirty="0"/>
          </a:p>
        </p:txBody>
      </p:sp>
      <p:sp>
        <p:nvSpPr>
          <p:cNvPr id="7" name="Text 5"/>
          <p:cNvSpPr/>
          <p:nvPr/>
        </p:nvSpPr>
        <p:spPr>
          <a:xfrm>
            <a:off x="50292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Close and design</a:t>
            </a:r>
            <a:endParaRPr lang="en-US" sz="1150" dirty="0"/>
          </a:p>
        </p:txBody>
      </p:sp>
      <p:sp>
        <p:nvSpPr>
          <p:cNvPr id="8" name="Text 6"/>
          <p:cNvSpPr/>
          <p:nvPr/>
        </p:nvSpPr>
        <p:spPr>
          <a:xfrm>
            <a:off x="50292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Loan closes, lease executed, architect and contractor engaged, permits filed. Founding member campaign opens.</a:t>
            </a:r>
            <a:endParaRPr lang="en-US" sz="850" dirty="0"/>
          </a:p>
        </p:txBody>
      </p:sp>
      <p:sp>
        <p:nvSpPr>
          <p:cNvPr id="9" name="Shape 7"/>
          <p:cNvSpPr/>
          <p:nvPr/>
        </p:nvSpPr>
        <p:spPr>
          <a:xfrm>
            <a:off x="2156155" y="1600200"/>
            <a:ext cx="1525219" cy="25603"/>
          </a:xfrm>
          <a:prstGeom prst="rect">
            <a:avLst/>
          </a:prstGeom>
          <a:solidFill>
            <a:srgbClr val="2E4237"/>
          </a:solidFill>
          <a:ln w="12700">
            <a:solidFill>
              <a:srgbClr val="2E4237"/>
            </a:solidFill>
            <a:prstDash val="solid"/>
          </a:ln>
        </p:spPr>
      </p:sp>
      <p:sp>
        <p:nvSpPr>
          <p:cNvPr id="10" name="Shape 8"/>
          <p:cNvSpPr/>
          <p:nvPr/>
        </p:nvSpPr>
        <p:spPr>
          <a:xfrm>
            <a:off x="2156155" y="1563624"/>
            <a:ext cx="100584" cy="100584"/>
          </a:xfrm>
          <a:prstGeom prst="ellipse">
            <a:avLst/>
          </a:prstGeom>
          <a:solidFill>
            <a:srgbClr val="C08D7C"/>
          </a:solidFill>
          <a:ln w="12700">
            <a:solidFill>
              <a:srgbClr val="C08D7C"/>
            </a:solidFill>
            <a:prstDash val="solid"/>
          </a:ln>
        </p:spPr>
      </p:sp>
      <p:sp>
        <p:nvSpPr>
          <p:cNvPr id="11" name="Text 9"/>
          <p:cNvSpPr/>
          <p:nvPr/>
        </p:nvSpPr>
        <p:spPr>
          <a:xfrm>
            <a:off x="2156155"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3–6</a:t>
            </a:r>
            <a:endParaRPr lang="en-US" sz="750" dirty="0"/>
          </a:p>
        </p:txBody>
      </p:sp>
      <p:sp>
        <p:nvSpPr>
          <p:cNvPr id="12" name="Text 10"/>
          <p:cNvSpPr/>
          <p:nvPr/>
        </p:nvSpPr>
        <p:spPr>
          <a:xfrm>
            <a:off x="2156155"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Build</a:t>
            </a:r>
            <a:endParaRPr lang="en-US" sz="1150" dirty="0"/>
          </a:p>
        </p:txBody>
      </p:sp>
      <p:sp>
        <p:nvSpPr>
          <p:cNvPr id="13" name="Text 11"/>
          <p:cNvSpPr/>
          <p:nvPr/>
        </p:nvSpPr>
        <p:spPr>
          <a:xfrm>
            <a:off x="2156155"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Buildout, wet-area rough-in, equipment ordered. Medical director and injector recruited and credentialed.</a:t>
            </a:r>
            <a:endParaRPr lang="en-US" sz="850" dirty="0"/>
          </a:p>
        </p:txBody>
      </p:sp>
      <p:sp>
        <p:nvSpPr>
          <p:cNvPr id="14" name="Shape 12"/>
          <p:cNvSpPr/>
          <p:nvPr/>
        </p:nvSpPr>
        <p:spPr>
          <a:xfrm>
            <a:off x="3809390" y="1600200"/>
            <a:ext cx="1525219" cy="25603"/>
          </a:xfrm>
          <a:prstGeom prst="rect">
            <a:avLst/>
          </a:prstGeom>
          <a:solidFill>
            <a:srgbClr val="2E4237"/>
          </a:solidFill>
          <a:ln w="12700">
            <a:solidFill>
              <a:srgbClr val="2E4237"/>
            </a:solidFill>
            <a:prstDash val="solid"/>
          </a:ln>
        </p:spPr>
      </p:sp>
      <p:sp>
        <p:nvSpPr>
          <p:cNvPr id="15" name="Shape 13"/>
          <p:cNvSpPr/>
          <p:nvPr/>
        </p:nvSpPr>
        <p:spPr>
          <a:xfrm>
            <a:off x="3809390" y="1563624"/>
            <a:ext cx="100584" cy="100584"/>
          </a:xfrm>
          <a:prstGeom prst="ellipse">
            <a:avLst/>
          </a:prstGeom>
          <a:solidFill>
            <a:srgbClr val="C08D7C"/>
          </a:solidFill>
          <a:ln w="12700">
            <a:solidFill>
              <a:srgbClr val="C08D7C"/>
            </a:solidFill>
            <a:prstDash val="solid"/>
          </a:ln>
        </p:spPr>
      </p:sp>
      <p:sp>
        <p:nvSpPr>
          <p:cNvPr id="16" name="Text 14"/>
          <p:cNvSpPr/>
          <p:nvPr/>
        </p:nvSpPr>
        <p:spPr>
          <a:xfrm>
            <a:off x="3809390"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7</a:t>
            </a:r>
            <a:endParaRPr lang="en-US" sz="750" dirty="0"/>
          </a:p>
        </p:txBody>
      </p:sp>
      <p:sp>
        <p:nvSpPr>
          <p:cNvPr id="17" name="Text 15"/>
          <p:cNvSpPr/>
          <p:nvPr/>
        </p:nvSpPr>
        <p:spPr>
          <a:xfrm>
            <a:off x="3809390"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Open</a:t>
            </a:r>
            <a:endParaRPr lang="en-US" sz="1150" dirty="0"/>
          </a:p>
        </p:txBody>
      </p:sp>
      <p:sp>
        <p:nvSpPr>
          <p:cNvPr id="18" name="Text 16"/>
          <p:cNvSpPr/>
          <p:nvPr/>
        </p:nvSpPr>
        <p:spPr>
          <a:xfrm>
            <a:off x="3809390"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Doors open to founding members first, public booking the same week. Clinic and club launch together.</a:t>
            </a:r>
            <a:endParaRPr lang="en-US" sz="850" dirty="0"/>
          </a:p>
        </p:txBody>
      </p:sp>
      <p:sp>
        <p:nvSpPr>
          <p:cNvPr id="19" name="Shape 17"/>
          <p:cNvSpPr/>
          <p:nvPr/>
        </p:nvSpPr>
        <p:spPr>
          <a:xfrm>
            <a:off x="5462626" y="1600200"/>
            <a:ext cx="1525219" cy="25603"/>
          </a:xfrm>
          <a:prstGeom prst="rect">
            <a:avLst/>
          </a:prstGeom>
          <a:solidFill>
            <a:srgbClr val="2E4237"/>
          </a:solidFill>
          <a:ln w="12700">
            <a:solidFill>
              <a:srgbClr val="2E4237"/>
            </a:solidFill>
            <a:prstDash val="solid"/>
          </a:ln>
        </p:spPr>
      </p:sp>
      <p:sp>
        <p:nvSpPr>
          <p:cNvPr id="20" name="Shape 18"/>
          <p:cNvSpPr/>
          <p:nvPr/>
        </p:nvSpPr>
        <p:spPr>
          <a:xfrm>
            <a:off x="5462626" y="1563624"/>
            <a:ext cx="100584" cy="100584"/>
          </a:xfrm>
          <a:prstGeom prst="ellipse">
            <a:avLst/>
          </a:prstGeom>
          <a:solidFill>
            <a:srgbClr val="C08D7C"/>
          </a:solidFill>
          <a:ln w="12700">
            <a:solidFill>
              <a:srgbClr val="C08D7C"/>
            </a:solidFill>
            <a:prstDash val="solid"/>
          </a:ln>
        </p:spPr>
      </p:sp>
      <p:sp>
        <p:nvSpPr>
          <p:cNvPr id="21" name="Text 19"/>
          <p:cNvSpPr/>
          <p:nvPr/>
        </p:nvSpPr>
        <p:spPr>
          <a:xfrm>
            <a:off x="5462626"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8–14</a:t>
            </a:r>
            <a:endParaRPr lang="en-US" sz="750" dirty="0"/>
          </a:p>
        </p:txBody>
      </p:sp>
      <p:sp>
        <p:nvSpPr>
          <p:cNvPr id="22" name="Text 20"/>
          <p:cNvSpPr/>
          <p:nvPr/>
        </p:nvSpPr>
        <p:spPr>
          <a:xfrm>
            <a:off x="5462626"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Fill</a:t>
            </a:r>
            <a:endParaRPr lang="en-US" sz="1150" dirty="0"/>
          </a:p>
        </p:txBody>
      </p:sp>
      <p:sp>
        <p:nvSpPr>
          <p:cNvPr id="23" name="Text 21"/>
          <p:cNvSpPr/>
          <p:nvPr/>
        </p:nvSpPr>
        <p:spPr>
          <a:xfrm>
            <a:off x="5462626"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Membership ramp, events programming, referral engine from the open clinic. Operating breakeven lands here.</a:t>
            </a:r>
            <a:endParaRPr lang="en-US" sz="850" dirty="0"/>
          </a:p>
        </p:txBody>
      </p:sp>
      <p:sp>
        <p:nvSpPr>
          <p:cNvPr id="24" name="Shape 22"/>
          <p:cNvSpPr/>
          <p:nvPr/>
        </p:nvSpPr>
        <p:spPr>
          <a:xfrm>
            <a:off x="7115861" y="1600200"/>
            <a:ext cx="1525219" cy="25603"/>
          </a:xfrm>
          <a:prstGeom prst="rect">
            <a:avLst/>
          </a:prstGeom>
          <a:solidFill>
            <a:srgbClr val="2E4237"/>
          </a:solidFill>
          <a:ln w="12700">
            <a:solidFill>
              <a:srgbClr val="2E4237"/>
            </a:solidFill>
            <a:prstDash val="solid"/>
          </a:ln>
        </p:spPr>
      </p:sp>
      <p:sp>
        <p:nvSpPr>
          <p:cNvPr id="25" name="Shape 23"/>
          <p:cNvSpPr/>
          <p:nvPr/>
        </p:nvSpPr>
        <p:spPr>
          <a:xfrm>
            <a:off x="7115861" y="1563624"/>
            <a:ext cx="100584" cy="100584"/>
          </a:xfrm>
          <a:prstGeom prst="ellipse">
            <a:avLst/>
          </a:prstGeom>
          <a:solidFill>
            <a:srgbClr val="C08D7C"/>
          </a:solidFill>
          <a:ln w="12700">
            <a:solidFill>
              <a:srgbClr val="C08D7C"/>
            </a:solidFill>
            <a:prstDash val="solid"/>
          </a:ln>
        </p:spPr>
      </p:sp>
      <p:sp>
        <p:nvSpPr>
          <p:cNvPr id="26" name="Text 24"/>
          <p:cNvSpPr/>
          <p:nvPr/>
        </p:nvSpPr>
        <p:spPr>
          <a:xfrm>
            <a:off x="7115861" y="1755648"/>
            <a:ext cx="1525219" cy="182880"/>
          </a:xfrm>
          <a:prstGeom prst="rect">
            <a:avLst/>
          </a:prstGeom>
          <a:noFill/>
          <a:ln/>
        </p:spPr>
        <p:txBody>
          <a:bodyPr wrap="square" rtlCol="0" anchor="ctr"/>
          <a:lstStyle/>
          <a:p>
            <a:pPr indent="0" marL="0">
              <a:buNone/>
            </a:pPr>
            <a:r>
              <a:rPr lang="en-US" sz="750" spc="160" kern="0" dirty="0">
                <a:solidFill>
                  <a:srgbClr val="C08D7C"/>
                </a:solidFill>
                <a:latin typeface="Century Gothic" pitchFamily="34" charset="0"/>
                <a:ea typeface="Century Gothic" pitchFamily="34" charset="-122"/>
                <a:cs typeface="Century Gothic" pitchFamily="34" charset="-120"/>
              </a:rPr>
              <a:t>MONTH 15–36</a:t>
            </a:r>
            <a:endParaRPr lang="en-US" sz="750" dirty="0"/>
          </a:p>
        </p:txBody>
      </p:sp>
      <p:sp>
        <p:nvSpPr>
          <p:cNvPr id="27" name="Text 25"/>
          <p:cNvSpPr/>
          <p:nvPr/>
        </p:nvSpPr>
        <p:spPr>
          <a:xfrm>
            <a:off x="7115861" y="1938528"/>
            <a:ext cx="1525219" cy="237744"/>
          </a:xfrm>
          <a:prstGeom prst="rect">
            <a:avLst/>
          </a:prstGeom>
          <a:noFill/>
          <a:ln/>
        </p:spPr>
        <p:txBody>
          <a:bodyPr wrap="square" rtlCol="0" anchor="ctr"/>
          <a:lstStyle/>
          <a:p>
            <a:pPr indent="0" marL="0">
              <a:buNone/>
            </a:pPr>
            <a:r>
              <a:rPr lang="en-US" sz="1150" dirty="0">
                <a:solidFill>
                  <a:srgbClr val="EDE6DA"/>
                </a:solidFill>
                <a:latin typeface="Century Gothic" pitchFamily="34" charset="0"/>
                <a:ea typeface="Century Gothic" pitchFamily="34" charset="-122"/>
                <a:cs typeface="Century Gothic" pitchFamily="34" charset="-120"/>
              </a:rPr>
              <a:t>Stabilize</a:t>
            </a:r>
            <a:endParaRPr lang="en-US" sz="1150" dirty="0"/>
          </a:p>
        </p:txBody>
      </p:sp>
      <p:sp>
        <p:nvSpPr>
          <p:cNvPr id="28" name="Text 26"/>
          <p:cNvSpPr/>
          <p:nvPr/>
        </p:nvSpPr>
        <p:spPr>
          <a:xfrm>
            <a:off x="7115861" y="2212848"/>
            <a:ext cx="1525219" cy="1371600"/>
          </a:xfrm>
          <a:prstGeom prst="rect">
            <a:avLst/>
          </a:prstGeom>
          <a:noFill/>
          <a:ln/>
        </p:spPr>
        <p:txBody>
          <a:bodyPr wrap="square" rtlCol="0" anchor="t"/>
          <a:lstStyle/>
          <a:p>
            <a:pPr indent="0" marL="0">
              <a:lnSpc>
                <a:spcPct val="120000"/>
              </a:lnSpc>
              <a:buNone/>
            </a:pPr>
            <a:r>
              <a:rPr lang="en-US" sz="850" dirty="0">
                <a:solidFill>
                  <a:srgbClr val="A8A296"/>
                </a:solidFill>
                <a:latin typeface="Calibri" pitchFamily="34" charset="0"/>
                <a:ea typeface="Calibri" pitchFamily="34" charset="-122"/>
                <a:cs typeface="Calibri" pitchFamily="34" charset="-120"/>
              </a:rPr>
              <a:t>Amortization begins at month 19. Caps approached on Resident and Longevity. Waitlist opens.</a:t>
            </a:r>
            <a:endParaRPr lang="en-US" sz="850" dirty="0"/>
          </a:p>
        </p:txBody>
      </p:sp>
      <p:sp>
        <p:nvSpPr>
          <p:cNvPr id="29" name="Text 2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30" name="Text 2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TEAM</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operating team is in place.</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Clinical, aesthetic, longevity and hospitality leadership are all seated. No key role is open at opening.</a:t>
            </a:r>
            <a:endParaRPr lang="en-US" sz="11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2651760"/>
                <a:gridCol w="3840480"/>
                <a:gridCol w="164592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Seat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Responsibility</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Status</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Founder &amp; Operator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Operations, brand, capital, compliance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Medical Director (MD/DO)</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Clinical oversight, protocols, standing orders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Surgeon (plastic or facial plastic) · Principal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Operative cases, patient selection, surgical QA. Bills professional fees directly, not facility payroll.</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Surgical Tech, Circulator and Monitoring RN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OR setup, sterile field, sedation monitoring, PACU, instrument processing</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Aesthetics Injector (NP or PA)</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Neuromodulators, filler, energy devices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Longevity Clinical Lead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Therapeutic medications, GLP-1 and biomarker programs</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Club General Manager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Membership, events, hospitality, retention</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Registered Nurses (2)</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IV therapy, regenerative, recovery floor</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A8A296"/>
                          </a:solidFill>
                          <a:latin typeface="Calibri" pitchFamily="34" charset="0"/>
                          <a:ea typeface="Calibri" pitchFamily="34" charset="-122"/>
                          <a:cs typeface="Calibri" pitchFamily="34" charset="-120"/>
                        </a:rPr>
                        <a:t>In place</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RISKS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could go wrong, and what we did about it.</a:t>
            </a:r>
            <a:endParaRPr lang="en-US" sz="26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743200"/>
                <a:gridCol w="5394960"/>
              </a:tblGrid>
              <a:tr h="27432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Risk</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Mitigation</a:t>
                      </a:r>
                      <a:endParaRPr lang="en-US" sz="750" dirty="0">
                        <a:latin typeface="Century Gothic" charset="0"/>
                        <a:ea typeface="Century Gothic" charset="0"/>
                        <a:cs typeface="Century Gothic"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Membership fills slower than modeled.</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clinic is open to non-members from day one, so revenue does not depend on the club filling. The low case flexes volume to 72% of base and still services debt.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Members redeem more than their fees cover.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Credit banks are sized against measured redemption and the model asserts the ratio stays below 100%. The three-month minimum with 30-day change notice makes repricing operationally possible.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key clinical seat turns over during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asset is the facility, not any one clinician. The club layer, recovery floor and infusion suite run on materially less scarce staffing than the injectable and prescribing lines, so a temporary gap narrows the offering without closing the building. A licensed, equipped facility can credential a replacement. Clinical compensation carries retention terms through the ramp.</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An adverse surgical event, or an accreditation lapse.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sedation ceiling and two-hour recovery cap exclude every general-anesthesia procedure and its acuity. Patient-selection criteria, a written transfer agreement with a nearby acute-care facility, and a standing QA program sit behind that.</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Operating room utilization comes in below plan.</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facility bills for the room, not for a particular surgeon, so this is not one person’s key-person exposure, further credentialed principals can be added without changing the model. Facility fees are roughly a tenth of revenue and the OR runs at 61% of practical capacity, so coverage holds above 1.25x on the wellness business alone.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Rates move against us before close.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Coverage is stress-tested 200 basis points above assumption and disclosed at each level rather than quoted at one.</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national brand opens nearby.</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defensible asset is the licensed facility, not the sauna. Adding injectables, infusions and physician oversight is not a product decision for a recovery studio: it means becoming a licensed medical facility, with the staffing, supervision, malpractice and accreditation that implies.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Wet-area construction overruns.</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The highest-variance line in the buildout. The lean case exists precisely as the fallback scope, and the reserve is sized against the modeled cash trough rather than to a round number.</a:t>
                      </a:r>
                      <a:endParaRPr lang="en-US" sz="750" dirty="0">
                        <a:latin typeface="Calibri" charset="0"/>
                        <a:ea typeface="Calibri" charset="0"/>
                        <a:cs typeface="Calibri" charset="0"/>
                      </a:endParaRPr>
                    </a:p>
                  </a:txBody>
                  <a:tcPr marL="20117" marR="20117" marT="20117" marB="20117"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502920" y="1051560"/>
            <a:ext cx="8138160" cy="2834640"/>
          </a:xfrm>
          <a:prstGeom prst="roundRect">
            <a:avLst>
              <a:gd name="adj" fmla="val 2581"/>
            </a:avLst>
          </a:prstGeom>
          <a:solidFill>
            <a:srgbClr val="241C1A"/>
          </a:solidFill>
          <a:ln w="15875">
            <a:solidFill>
              <a:srgbClr val="C08D7C"/>
            </a:solidFill>
            <a:prstDash val="solid"/>
          </a:ln>
        </p:spPr>
      </p:sp>
      <p:sp>
        <p:nvSpPr>
          <p:cNvPr id="3" name="Text 1"/>
          <p:cNvSpPr/>
          <p:nvPr/>
        </p:nvSpPr>
        <p:spPr>
          <a:xfrm>
            <a:off x="502920" y="1371600"/>
            <a:ext cx="8138160" cy="228600"/>
          </a:xfrm>
          <a:prstGeom prst="rect">
            <a:avLst/>
          </a:prstGeom>
          <a:noFill/>
          <a:ln/>
        </p:spPr>
        <p:txBody>
          <a:bodyPr wrap="square" rtlCol="0" anchor="ctr"/>
          <a:lstStyle/>
          <a:p>
            <a:pPr algn="ctr" indent="0" marL="0">
              <a:buNone/>
            </a:pPr>
            <a:r>
              <a:rPr lang="en-US" sz="900" spc="300" kern="0" dirty="0">
                <a:solidFill>
                  <a:srgbClr val="C08D7C"/>
                </a:solidFill>
                <a:latin typeface="Century Gothic" pitchFamily="34" charset="0"/>
                <a:ea typeface="Century Gothic" pitchFamily="34" charset="-122"/>
                <a:cs typeface="Century Gothic" pitchFamily="34" charset="-120"/>
              </a:rPr>
              <a:t>PLAYA VISTA, CALIFORNIA</a:t>
            </a:r>
            <a:endParaRPr lang="en-US" sz="900" dirty="0"/>
          </a:p>
        </p:txBody>
      </p:sp>
      <p:sp>
        <p:nvSpPr>
          <p:cNvPr id="4" name="Text 2"/>
          <p:cNvSpPr/>
          <p:nvPr/>
        </p:nvSpPr>
        <p:spPr>
          <a:xfrm>
            <a:off x="502920" y="1691640"/>
            <a:ext cx="8138160" cy="914400"/>
          </a:xfrm>
          <a:prstGeom prst="rect">
            <a:avLst/>
          </a:prstGeom>
          <a:noFill/>
          <a:ln/>
        </p:spPr>
        <p:txBody>
          <a:bodyPr wrap="square" rtlCol="0" anchor="ctr"/>
          <a:lstStyle/>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Self-care is already social.</a:t>
            </a:r>
            <a:endParaRPr lang="en-US" sz="2400" dirty="0"/>
          </a:p>
          <a:p>
            <a:pPr algn="ctr" indent="0" marL="0">
              <a:lnSpc>
                <a:spcPct val="120000"/>
              </a:lnSpc>
              <a:buNone/>
            </a:pPr>
            <a:r>
              <a:rPr lang="en-US" sz="2400" dirty="0">
                <a:solidFill>
                  <a:srgbClr val="EDE6DA"/>
                </a:solidFill>
                <a:latin typeface="Century Gothic" pitchFamily="34" charset="0"/>
                <a:ea typeface="Century Gothic" pitchFamily="34" charset="-122"/>
                <a:cs typeface="Century Gothic" pitchFamily="34" charset="-120"/>
              </a:rPr>
              <a:t>Few rooms are built to hold it, and fewer are licensed to treat you.</a:t>
            </a:r>
            <a:endParaRPr lang="en-US" sz="2400" dirty="0"/>
          </a:p>
        </p:txBody>
      </p:sp>
      <p:sp>
        <p:nvSpPr>
          <p:cNvPr id="5" name="Text 3"/>
          <p:cNvSpPr/>
          <p:nvPr/>
        </p:nvSpPr>
        <p:spPr>
          <a:xfrm>
            <a:off x="502920" y="2697480"/>
            <a:ext cx="8138160" cy="274320"/>
          </a:xfrm>
          <a:prstGeom prst="rect">
            <a:avLst/>
          </a:prstGeom>
          <a:noFill/>
          <a:ln/>
        </p:spPr>
        <p:txBody>
          <a:bodyPr wrap="square" rtlCol="0" anchor="ctr"/>
          <a:lstStyle/>
          <a:p>
            <a:pPr algn="ctr" indent="0" marL="0">
              <a:buNone/>
            </a:pPr>
            <a:r>
              <a:rPr lang="en-US" sz="1150" dirty="0">
                <a:solidFill>
                  <a:srgbClr val="A8A296"/>
                </a:solidFill>
                <a:latin typeface="Calibri" pitchFamily="34" charset="0"/>
                <a:ea typeface="Calibri" pitchFamily="34" charset="-122"/>
                <a:cs typeface="Calibri" pitchFamily="34" charset="-120"/>
              </a:rPr>
              <a:t>Surgical case  ·  $5.3M project  ·  5,825 SF  ·  2.77x stabilized coverage</a:t>
            </a:r>
            <a:endParaRPr lang="en-US" sz="1150" dirty="0"/>
          </a:p>
        </p:txBody>
      </p:sp>
      <p:sp>
        <p:nvSpPr>
          <p:cNvPr id="6" name="Text 4"/>
          <p:cNvSpPr/>
          <p:nvPr/>
        </p:nvSpPr>
        <p:spPr>
          <a:xfrm>
            <a:off x="502920" y="3017520"/>
            <a:ext cx="8138160" cy="274320"/>
          </a:xfrm>
          <a:prstGeom prst="rect">
            <a:avLst/>
          </a:prstGeom>
          <a:noFill/>
          <a:ln/>
        </p:spPr>
        <p:txBody>
          <a:bodyPr wrap="square" rtlCol="0" anchor="ctr"/>
          <a:lstStyle/>
          <a:p>
            <a:pPr algn="ctr" indent="0" marL="0">
              <a:buNone/>
            </a:pPr>
            <a:r>
              <a:rPr lang="en-US" sz="1050" dirty="0">
                <a:solidFill>
                  <a:srgbClr val="6E6A62"/>
                </a:solidFill>
                <a:latin typeface="Calibri" pitchFamily="34" charset="0"/>
                <a:ea typeface="Calibri" pitchFamily="34" charset="-122"/>
                <a:cs typeface="Calibri" pitchFamily="34" charset="-120"/>
              </a:rPr>
              <a:t>Full model, capacity workbook and buildout detail available under NDA.</a:t>
            </a:r>
            <a:endParaRPr lang="en-US" sz="1050" dirty="0"/>
          </a:p>
        </p:txBody>
      </p:sp>
      <p:sp>
        <p:nvSpPr>
          <p:cNvPr id="7" name="Text 5"/>
          <p:cNvSpPr/>
          <p:nvPr/>
        </p:nvSpPr>
        <p:spPr>
          <a:xfrm>
            <a:off x="502920" y="3364992"/>
            <a:ext cx="8138160" cy="320040"/>
          </a:xfrm>
          <a:prstGeom prst="rect">
            <a:avLst/>
          </a:prstGeom>
          <a:noFill/>
          <a:ln/>
        </p:spPr>
        <p:txBody>
          <a:bodyPr wrap="square" rtlCol="0" anchor="ctr"/>
          <a:lstStyle/>
          <a:p>
            <a:pPr algn="ctr" indent="0" marL="0">
              <a:buNone/>
            </a:pPr>
            <a:r>
              <a:rPr lang="en-US" sz="1400" dirty="0">
                <a:solidFill>
                  <a:srgbClr val="C08D7C"/>
                </a:solidFill>
                <a:latin typeface="Century Gothic" pitchFamily="34" charset="0"/>
                <a:ea typeface="Century Gothic" pitchFamily="34" charset="-122"/>
                <a:cs typeface="Century Gothic" pitchFamily="34" charset="-120"/>
              </a:rPr>
              <a:t>Laura@culvercitysurgical.com</a:t>
            </a:r>
            <a:endParaRPr lang="en-US" sz="1400" dirty="0"/>
          </a:p>
        </p:txBody>
      </p:sp>
      <p:sp>
        <p:nvSpPr>
          <p:cNvPr id="8" name="Text 6"/>
          <p:cNvSpPr/>
          <p:nvPr/>
        </p:nvSpPr>
        <p:spPr>
          <a:xfrm>
            <a:off x="502920" y="4206240"/>
            <a:ext cx="8138160" cy="457200"/>
          </a:xfrm>
          <a:prstGeom prst="rect">
            <a:avLst/>
          </a:prstGeom>
          <a:noFill/>
          <a:ln/>
        </p:spPr>
        <p:txBody>
          <a:bodyPr wrap="square" rtlCol="0" anchor="ctr"/>
          <a:lstStyle/>
          <a:p>
            <a:pPr algn="ctr" indent="0" marL="0">
              <a:buNone/>
            </a:pPr>
            <a:r>
              <a:rPr lang="en-US" sz="750" dirty="0">
                <a:solidFill>
                  <a:srgbClr val="6E6A62"/>
                </a:solidFill>
                <a:latin typeface="Calibri" pitchFamily="34" charset="0"/>
                <a:ea typeface="Calibri" pitchFamily="34" charset="-122"/>
                <a:cs typeface="Calibri" pitchFamily="34" charset="-120"/>
              </a:rPr>
              <a:t>This document is not an offer to sell or a solicitation of an offer to buy any security. Forward-looking figures are projections and not guarantees of future performance.</a:t>
            </a:r>
            <a:endParaRPr lang="en-US" sz="7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Text 1"/>
          <p:cNvSpPr/>
          <p:nvPr/>
        </p:nvSpPr>
        <p:spPr>
          <a:xfrm>
            <a:off x="502920" y="1417320"/>
            <a:ext cx="8138160" cy="219456"/>
          </a:xfrm>
          <a:prstGeom prst="rect">
            <a:avLst/>
          </a:prstGeom>
          <a:noFill/>
          <a:ln/>
        </p:spPr>
        <p:txBody>
          <a:bodyPr wrap="square" rtlCol="0" anchor="ctr"/>
          <a:lstStyle/>
          <a:p>
            <a:pPr indent="0" marL="0">
              <a:buNone/>
            </a:pPr>
            <a:r>
              <a:rPr lang="en-US" sz="900" spc="340" kern="0" dirty="0">
                <a:solidFill>
                  <a:srgbClr val="C08D7C"/>
                </a:solidFill>
                <a:latin typeface="Century Gothic" pitchFamily="34" charset="0"/>
                <a:ea typeface="Century Gothic" pitchFamily="34" charset="-122"/>
                <a:cs typeface="Century Gothic" pitchFamily="34" charset="-120"/>
              </a:rPr>
              <a:t>APPENDIX</a:t>
            </a:r>
            <a:endParaRPr lang="en-US" sz="900" dirty="0"/>
          </a:p>
        </p:txBody>
      </p:sp>
      <p:sp>
        <p:nvSpPr>
          <p:cNvPr id="4" name="Text 2"/>
          <p:cNvSpPr/>
          <p:nvPr/>
        </p:nvSpPr>
        <p:spPr>
          <a:xfrm>
            <a:off x="502920" y="1691640"/>
            <a:ext cx="8138160" cy="548640"/>
          </a:xfrm>
          <a:prstGeom prst="rect">
            <a:avLst/>
          </a:prstGeom>
          <a:noFill/>
          <a:ln/>
        </p:spPr>
        <p:txBody>
          <a:bodyPr wrap="square" rtlCol="0" anchor="ctr"/>
          <a:lstStyle/>
          <a:p>
            <a:pPr indent="0" marL="0">
              <a:buNone/>
            </a:pPr>
            <a:r>
              <a:rPr lang="en-US" sz="3000" dirty="0">
                <a:solidFill>
                  <a:srgbClr val="EDE6DA"/>
                </a:solidFill>
                <a:latin typeface="Century Gothic" pitchFamily="34" charset="0"/>
                <a:ea typeface="Century Gothic" pitchFamily="34" charset="-122"/>
                <a:cs typeface="Century Gothic" pitchFamily="34" charset="-120"/>
              </a:rPr>
              <a:t>How these numbers were built.</a:t>
            </a:r>
            <a:endParaRPr lang="en-US" sz="3000" dirty="0"/>
          </a:p>
        </p:txBody>
      </p:sp>
      <p:sp>
        <p:nvSpPr>
          <p:cNvPr id="5" name="Shape 3"/>
          <p:cNvSpPr/>
          <p:nvPr/>
        </p:nvSpPr>
        <p:spPr>
          <a:xfrm>
            <a:off x="502920" y="2359152"/>
            <a:ext cx="822960" cy="36576"/>
          </a:xfrm>
          <a:prstGeom prst="rect">
            <a:avLst/>
          </a:prstGeom>
          <a:solidFill>
            <a:srgbClr val="C08D7C"/>
          </a:solidFill>
          <a:ln w="12700">
            <a:solidFill>
              <a:srgbClr val="C08D7C"/>
            </a:solidFill>
            <a:prstDash val="solid"/>
          </a:ln>
        </p:spPr>
      </p:sp>
      <p:sp>
        <p:nvSpPr>
          <p:cNvPr id="6" name="Text 4"/>
          <p:cNvSpPr/>
          <p:nvPr/>
        </p:nvSpPr>
        <p:spPr>
          <a:xfrm>
            <a:off x="502920" y="2606040"/>
            <a:ext cx="6673291" cy="640080"/>
          </a:xfrm>
          <a:prstGeom prst="rect">
            <a:avLst/>
          </a:prstGeom>
          <a:noFill/>
          <a:ln/>
        </p:spPr>
        <p:txBody>
          <a:bodyPr wrap="square" rtlCol="0" anchor="ctr"/>
          <a:lstStyle/>
          <a:p>
            <a:pPr indent="0" marL="0">
              <a:lnSpc>
                <a:spcPct val="125000"/>
              </a:lnSpc>
              <a:buNone/>
            </a:pPr>
            <a:r>
              <a:rPr lang="en-US" sz="1200" dirty="0">
                <a:solidFill>
                  <a:srgbClr val="A8A296"/>
                </a:solidFill>
                <a:latin typeface="Calibri" pitchFamily="34" charset="0"/>
                <a:ea typeface="Calibri" pitchFamily="34" charset="-122"/>
                <a:cs typeface="Calibri" pitchFamily="34" charset="-120"/>
              </a:rPr>
              <a:t>Everything in this brief resolves to a stabilized P&amp;L and a use-of-funds table. The slides that follow itemise both, every overhead line broken into its components, every capital line into what it buys, and the staffing plan named role by role.</a:t>
            </a:r>
            <a:endParaRPr lang="en-US" sz="1200" dirty="0"/>
          </a:p>
        </p:txBody>
      </p:sp>
      <p:sp>
        <p:nvSpPr>
          <p:cNvPr id="7" name="Text 5"/>
          <p:cNvSpPr/>
          <p:nvPr/>
        </p:nvSpPr>
        <p:spPr>
          <a:xfrm>
            <a:off x="502920" y="3310128"/>
            <a:ext cx="6673291" cy="731520"/>
          </a:xfrm>
          <a:prstGeom prst="rect">
            <a:avLst/>
          </a:prstGeom>
          <a:noFill/>
          <a:ln/>
        </p:spPr>
        <p:txBody>
          <a:bodyPr wrap="square" rtlCol="0" anchor="ctr"/>
          <a:lstStyle/>
          <a:p>
            <a:pPr indent="0" marL="0">
              <a:lnSpc>
                <a:spcPct val="125000"/>
              </a:lnSpc>
              <a:buNone/>
            </a:pPr>
            <a:r>
              <a:rPr lang="en-US" sz="1050" dirty="0">
                <a:solidFill>
                  <a:srgbClr val="6E6A62"/>
                </a:solidFill>
                <a:latin typeface="Calibri" pitchFamily="34" charset="0"/>
                <a:ea typeface="Calibri" pitchFamily="34" charset="-122"/>
                <a:cs typeface="Calibri" pitchFamily="34" charset="-120"/>
              </a:rPr>
              <a:t>These figures are generated from the same financial model that produces the rest of the deck, so the appendix cannot disagree with the pages in front of it. Each build-up is checked at build time to sum to the total it explains. The final page shows what happens to debt service coverage if the largest assumption, rent, turns out to be wrong.</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Rent, equipment and administration.</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Fixed overhead totals $342,713 a month. Rent is 5,825 SF at $5.50/SF/month NNN.</a:t>
            </a:r>
            <a:endParaRPr lang="en-US" sz="1150" dirty="0"/>
          </a:p>
        </p:txBody>
      </p:sp>
      <p:sp>
        <p:nvSpPr>
          <p:cNvPr id="5" name="Text 3"/>
          <p:cNvSpPr/>
          <p:nvPr/>
        </p:nvSpPr>
        <p:spPr>
          <a:xfrm>
            <a:off x="502920"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EQUIPMENT LEASES</a:t>
            </a:r>
            <a:endParaRPr lang="en-US" sz="7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Ammortal chamber (1 unit)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Aescape robotic massage (1 unit) subscription</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Second red light bed financed</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Balance of clinical and surgical equipment financed (~$900,000 @ 2.2%/mo)</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19800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$29,175</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7" name="Text 4"/>
          <p:cNvSpPr/>
          <p:nvPr/>
        </p:nvSpPr>
        <p:spPr>
          <a:xfrm>
            <a:off x="4672584" y="16916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ADMIN AND MANAGEMENT</a:t>
            </a:r>
            <a:endParaRPr lang="en-US" sz="750" dirty="0"/>
          </a:p>
        </p:txBody>
      </p:sp>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672584" y="1911096"/>
          <a:ext cx="3968496" cy="914400"/>
        </p:xfrm>
        <a:graphic>
          <a:graphicData uri="http://schemas.openxmlformats.org/drawingml/2006/table">
            <a:tbl>
              <a:tblPr/>
              <a:tblGrid>
                <a:gridCol w="2619207"/>
                <a:gridCol w="1349289"/>
              </a:tblGrid>
              <a:tr h="20116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Component</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a:t>
                      </a:r>
                      <a:endParaRPr lang="en-US" sz="80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Bookkeeping and accounting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5500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Legal and compliance retainer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IT and managed services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Business insurance (GL, property, cyber)</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Merchant processing and banking</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Recruiting, training, miscellaneous</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0116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$30,000</a:t>
                      </a:r>
                      <a:endParaRPr lang="en-US" sz="80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9" name="Text 5"/>
          <p:cNvSpPr/>
          <p:nvPr/>
        </p:nvSpPr>
        <p:spPr>
          <a:xfrm>
            <a:off x="502920" y="3886200"/>
            <a:ext cx="8138160" cy="59436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One Ammortal chamber and one Aescape unit, matching the ample program this case is now built on, which is what takes this line down from $37,300. Aescape cannot be purchased, and its $10 per-massage fee sits inside that service line’s margin. The second red light bed is vendor-financed at $1,375 a month to carry 650 sessions.</a:t>
            </a:r>
            <a:endParaRPr lang="en-US" sz="8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Clinical and club staff: $165,000/month.</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The club runs 14 hours a day, 7 days a week (98 hours), so one continuously staffed post is 2.45 FTE, not 1. All figures are fully loaded: base plus payroll tax, workers compensation and benefits.</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120640"/>
                <a:gridCol w="1097280"/>
                <a:gridCol w="1920240"/>
              </a:tblGrid>
              <a:tr h="155448">
                <a:tc>
                  <a:txBody>
                    <a:bodyPr/>
                    <a:lstStyle/>
                    <a:p>
                      <a:pPr algn="l" indent="0" marL="0">
                        <a:buNone/>
                      </a:pPr>
                      <a:r>
                        <a:rPr lang="en-US" sz="800" spc="140" kern="0" dirty="0">
                          <a:solidFill>
                            <a:srgbClr val="C08D7C"/>
                          </a:solidFill>
                          <a:latin typeface="Century Gothic" pitchFamily="34" charset="0"/>
                          <a:ea typeface="Century Gothic" pitchFamily="34" charset="-122"/>
                          <a:cs typeface="Century Gothic" pitchFamily="34" charset="-120"/>
                        </a:rPr>
                        <a:t>Role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FTE</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00" spc="140" kern="0" dirty="0">
                          <a:solidFill>
                            <a:srgbClr val="C08D7C"/>
                          </a:solidFill>
                          <a:latin typeface="Century Gothic" pitchFamily="34" charset="0"/>
                          <a:ea typeface="Century Gothic" pitchFamily="34" charset="-122"/>
                          <a:cs typeface="Century Gothic" pitchFamily="34" charset="-120"/>
                        </a:rPr>
                        <a:t>Monthly, loaded</a:t>
                      </a:r>
                      <a:endParaRPr lang="en-US" sz="800" dirty="0">
                        <a:latin typeface="Century Gothic" charset="0"/>
                        <a:ea typeface="Century Gothic" charset="0"/>
                        <a:cs typeface="Century Gothic"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Founder &amp; Operator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$12,000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Director (MD/DO)</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0.4</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Aesthetics Injector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$14,500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Longevity Clinical Lead (NP or PA)</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$13,500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Registered Nurses: IV, regenerative, recovery</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Medical assistants / technicians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3.0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$16,500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General Manager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Front desk / concierge</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$11,875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Club hosts / floor attendants</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2.5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$11,250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Membership &amp; events coordinator</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Facilities / housekeeping</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$7,375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Surgical Technologist</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$7,500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Circulator RN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$9,500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Monitoring RN: sedation and PACU</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1.0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$9,000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dirty="0">
                          <a:solidFill>
                            <a:srgbClr val="EDE6DA"/>
                          </a:solidFill>
                          <a:latin typeface="Calibri" pitchFamily="34" charset="0"/>
                          <a:ea typeface="Calibri" pitchFamily="34" charset="-122"/>
                          <a:cs typeface="Calibri" pitchFamily="34" charset="-120"/>
                        </a:rPr>
                        <a:t>Sterile processing technician</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0.5</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00" dirty="0">
                          <a:solidFill>
                            <a:srgbClr val="EDE6DA"/>
                          </a:solidFill>
                          <a:latin typeface="Calibri" pitchFamily="34" charset="0"/>
                          <a:ea typeface="Calibri" pitchFamily="34" charset="-122"/>
                          <a:cs typeface="Calibri" pitchFamily="34" charset="-120"/>
                        </a:rPr>
                        <a:t>$4,000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55448">
                <a:tc>
                  <a:txBody>
                    <a:bodyPr/>
                    <a:lstStyle/>
                    <a:p>
                      <a:pPr algn="l" indent="0" marL="0">
                        <a:buNone/>
                      </a:pPr>
                      <a:r>
                        <a:rPr lang="en-US" sz="800" b="1" dirty="0">
                          <a:solidFill>
                            <a:srgbClr val="C08D7C"/>
                          </a:solidFill>
                          <a:latin typeface="Calibri" pitchFamily="34" charset="0"/>
                          <a:ea typeface="Calibri" pitchFamily="34" charset="-122"/>
                          <a:cs typeface="Calibri" pitchFamily="34" charset="-120"/>
                        </a:rPr>
                        <a:t>Total</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00" b="1" dirty="0">
                          <a:solidFill>
                            <a:srgbClr val="C08D7C"/>
                          </a:solidFill>
                          <a:latin typeface="Calibri" pitchFamily="34" charset="0"/>
                          <a:ea typeface="Calibri" pitchFamily="34" charset="-122"/>
                          <a:cs typeface="Calibri" pitchFamily="34" charset="-120"/>
                        </a:rPr>
                        <a:t>$165,000</a:t>
                      </a:r>
                      <a:endParaRPr lang="en-US" sz="800" dirty="0">
                        <a:latin typeface="Calibri" charset="0"/>
                        <a:ea typeface="Calibri" charset="0"/>
                        <a:cs typeface="Calibri" charset="0"/>
                      </a:endParaRPr>
                    </a:p>
                  </a:txBody>
                  <a:tcPr marL="16459" marR="16459" marT="16459" marB="16459"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Marketing and insurance.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MARKETING AND MEMBER ACQUISITION</a:t>
            </a:r>
            <a:endParaRPr lang="en-US" sz="7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Paid digital and social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Content, photography, video</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4500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Events and community programming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Agency / fractional marketing lead</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Referral and partnership incentives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$32,000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MALPRACTICE AND LIABILITY</a:t>
            </a:r>
            <a:endParaRPr lang="en-US" sz="75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Director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 injector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Longevity clinical lead policy</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Nursing and surgical staff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3000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Accredited OR facility coverage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9000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Entity policy and raised umbrella limits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$26,000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3840480"/>
            <a:ext cx="8138160" cy="502920"/>
          </a:xfrm>
          <a:prstGeom prst="rect">
            <a:avLst/>
          </a:prstGeom>
          <a:noFill/>
          <a:ln/>
        </p:spPr>
        <p:txBody>
          <a:bodyPr wrap="square" rtlCol="0" anchor="ctr"/>
          <a:lstStyle/>
          <a:p>
            <a:pPr indent="0" marL="0">
              <a:lnSpc>
                <a:spcPct val="120000"/>
              </a:lnSpc>
              <a:buNone/>
            </a:pPr>
            <a:r>
              <a:rPr lang="en-US" sz="850" dirty="0">
                <a:solidFill>
                  <a:srgbClr val="6E6A62"/>
                </a:solidFill>
                <a:latin typeface="Calibri" pitchFamily="34" charset="0"/>
                <a:ea typeface="Calibri" pitchFamily="34" charset="-122"/>
                <a:cs typeface="Calibri" pitchFamily="34" charset="-120"/>
              </a:rPr>
              <a:t>Priced per credentialed provider plus an entity policy and umbrella. The surgical case adds facility coverage for an accredited operating room, which is the single largest driver of the difference.</a:t>
            </a:r>
            <a:endParaRPr lang="en-US" sz="850" dirty="0"/>
          </a:p>
        </p:txBody>
      </p:sp>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FIXED OVERHEAD</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Utilities and compliance.</a:t>
            </a:r>
            <a:endParaRPr lang="en-US" sz="2600" dirty="0"/>
          </a:p>
        </p:txBody>
      </p:sp>
      <p:sp>
        <p:nvSpPr>
          <p:cNvPr id="4" name="Text 2"/>
          <p:cNvSpPr/>
          <p:nvPr/>
        </p:nvSpPr>
        <p:spPr>
          <a:xfrm>
            <a:off x="502920"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UTILITIES, SOFTWARE, MEMBER PLATFORM</a:t>
            </a:r>
            <a:endParaRPr lang="en-US" sz="7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Utilities (electric, gas, water, OR HVAC)</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Member platform and booking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EMR / charting and surgical records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Phone, internet, security monitoring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Laundry and linen service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Music, AV, miscellaneous systems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$18,500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55448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LICENSING, COMPLIANCE AND ACCREDITATION</a:t>
            </a:r>
            <a:endParaRPr lang="en-US" sz="750" dirty="0"/>
          </a:p>
        </p:txBody>
      </p:sp>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4672584" y="1773936"/>
          <a:ext cx="3968496" cy="914400"/>
        </p:xfrm>
        <a:graphic>
          <a:graphicData uri="http://schemas.openxmlformats.org/drawingml/2006/table">
            <a:tbl>
              <a:tblPr/>
              <a:tblGrid>
                <a:gridCol w="2619207"/>
                <a:gridCol w="1349289"/>
              </a:tblGrid>
              <a:tr h="219456">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Component</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a:t>
                      </a:r>
                      <a:endParaRPr lang="en-US" sz="8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Medical licenses and DEA</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Business licenses and permits</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CLIA waiver / lab</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Compliance and policy management</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Continuing education and training</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1200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Biohazard and sharps disposal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Quad A accreditation maintenance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2500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Surgical QA / PI programme</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1500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850" b="1" dirty="0">
                          <a:solidFill>
                            <a:srgbClr val="C08D7C"/>
                          </a:solidFill>
                          <a:latin typeface="Calibri" pitchFamily="34" charset="0"/>
                          <a:ea typeface="Calibri" pitchFamily="34" charset="-122"/>
                          <a:cs typeface="Calibri" pitchFamily="34" charset="-120"/>
                        </a:rPr>
                        <a:t>Total</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850" b="1" dirty="0">
                          <a:solidFill>
                            <a:srgbClr val="C08D7C"/>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COST OF GOODS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the margins pay for.</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Cost of goods runs $199,412 a month against $731,666 of revenue, a blended 72.7% margin.</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822960"/>
                <a:gridCol w="5577840"/>
              </a:tblGrid>
              <a:tr h="274320">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Category</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Margin</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What the cost side is</a:t>
                      </a:r>
                      <a:endParaRPr lang="en-US" sz="8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Recovery</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80–82%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Consumables, filters and water treatment, linens, device servicing contracts. Almost no per-session variable cost, which is why these margins are the highest in the building.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PRP</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60–72%</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Draw kits, separation tubes and centrifuge consumables, needles and sharps, topical anaesthetic. Cost per case is close to fixed, so the margin spread across the six lines is a pricing decision rather than a cost 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Regenerative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56–78%</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IV bags and tubing, vitamins, glutathione and NAD+ compound, pharmacy cost on prescribed therapeutics. The widest band in the book: NAD+ carries the compound cost and the hydration drips carry almost none.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Aesthetics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65–75%</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Neuromodulator and filler units at acquisition cost, RF microneedling tips, laser consumables, topicals. Filler is the thinnest because product cost dominates a single syringe.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Diagnostics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65–77%</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Reference lab send-out fees, DEXA consumables, DNA and DUTCH collection kits, interpretation time. DEXA sits at the top because the scanner is owned and the marginal cost of a scan is small.</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facility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78–80%</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Disposables, implants, drugs and linens, instrument reprocessing. Clinical staff sits in fixed overhead and the surgeon takes no share of the facility fee, which is why these exceed the treatment-room lines.</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74320">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Surgery: full fee</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850" dirty="0">
                          <a:solidFill>
                            <a:srgbClr val="EDE6DA"/>
                          </a:solidFill>
                          <a:latin typeface="Calibri" pitchFamily="34" charset="0"/>
                          <a:ea typeface="Calibri" pitchFamily="34" charset="-122"/>
                          <a:cs typeface="Calibri" pitchFamily="34" charset="-120"/>
                        </a:rPr>
                        <a:t>73–76%</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850" dirty="0">
                          <a:solidFill>
                            <a:srgbClr val="EDE6DA"/>
                          </a:solidFill>
                          <a:latin typeface="Calibri" pitchFamily="34" charset="0"/>
                          <a:ea typeface="Calibri" pitchFamily="34" charset="-122"/>
                          <a:cs typeface="Calibri" pitchFamily="34" charset="-120"/>
                        </a:rPr>
                        <a:t>As above, plus graft handling and technician time on hair restoration and laser consumables on ablative resurfacing.</a:t>
                      </a:r>
                      <a:endParaRPr lang="en-US" sz="8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4069080"/>
            <a:ext cx="8138160" cy="365760"/>
          </a:xfrm>
          <a:prstGeom prst="rect">
            <a:avLst/>
          </a:prstGeom>
          <a:noFill/>
          <a:ln/>
        </p:spPr>
        <p:txBody>
          <a:bodyPr wrap="square" rtlCol="0" anchor="ctr"/>
          <a:lstStyle/>
          <a:p>
            <a:pPr indent="0" marL="0">
              <a:buNone/>
            </a:pPr>
            <a:r>
              <a:rPr lang="en-US" sz="850" dirty="0">
                <a:solidFill>
                  <a:srgbClr val="6E6A62"/>
                </a:solidFill>
                <a:latin typeface="Calibri" pitchFamily="34" charset="0"/>
                <a:ea typeface="Calibri" pitchFamily="34" charset="-122"/>
                <a:cs typeface="Calibri" pitchFamily="34" charset="-120"/>
              </a:rPr>
              <a:t>Circuit consumables (towels, laundry, water and amenities) are carried separately at $8 a visit across 2,345 monthly visits, or $18,760.</a:t>
            </a:r>
            <a:endParaRPr lang="en-US" sz="85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The itemised capital lines.</a:t>
            </a:r>
            <a:endParaRPr lang="en-US" sz="2600" dirty="0"/>
          </a:p>
        </p:txBody>
      </p:sp>
      <p:sp>
        <p:nvSpPr>
          <p:cNvPr id="4" name="Text 2"/>
          <p:cNvSpPr/>
          <p:nvPr/>
        </p:nvSpPr>
        <p:spPr>
          <a:xfrm>
            <a:off x="502920"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WET AREAS</a:t>
            </a:r>
            <a:endParaRPr lang="en-US" sz="7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Saunas (2), cedar, heaters, controls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95000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Cold plunges (2), chillers, filtration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70000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Steam room and generator</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Waterproofing, drainage, floor slopes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Dedicated ventilation and dehumidification</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85000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Tile, benching, finishes</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60000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6" name="Text 3"/>
          <p:cNvSpPr/>
          <p:nvPr/>
        </p:nvSpPr>
        <p:spPr>
          <a:xfrm>
            <a:off x="4672584" y="1463040"/>
            <a:ext cx="3968496" cy="182880"/>
          </a:xfrm>
          <a:prstGeom prst="rect">
            <a:avLst/>
          </a:prstGeom>
          <a:noFill/>
          <a:ln/>
        </p:spPr>
        <p:txBody>
          <a:bodyPr wrap="square" rtlCol="0" anchor="ctr"/>
          <a:lstStyle/>
          <a:p>
            <a:pPr indent="0" marL="0">
              <a:buNone/>
            </a:pPr>
            <a:r>
              <a:rPr lang="en-US" sz="750" spc="180" kern="0" dirty="0">
                <a:solidFill>
                  <a:srgbClr val="C08D7C"/>
                </a:solidFill>
                <a:latin typeface="Century Gothic" pitchFamily="34" charset="0"/>
                <a:ea typeface="Century Gothic" pitchFamily="34" charset="-122"/>
                <a:cs typeface="Century Gothic" pitchFamily="34" charset="-120"/>
              </a:rPr>
              <a:t>RECOVERY TECHNOLOGY</a:t>
            </a:r>
            <a:endParaRPr lang="en-US" sz="750" dirty="0"/>
          </a:p>
        </p:txBody>
      </p:sp>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672584" y="1682496"/>
          <a:ext cx="3968496" cy="914400"/>
        </p:xfrm>
        <a:graphic>
          <a:graphicData uri="http://schemas.openxmlformats.org/drawingml/2006/table">
            <a:tbl>
              <a:tblPr/>
              <a:tblGrid>
                <a:gridCol w="2619207"/>
                <a:gridCol w="1349289"/>
              </a:tblGrid>
              <a:tr h="182880">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Component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Hyperbaric oxygen chamber, purchased</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150000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Ammortal chamber ($159,500 list), 10% finance deposit</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Aescape robotic massage (1 unit), subscription only</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182880">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18288" marR="18288" marT="18288" marB="18288"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8"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9"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Buildout and tenant improvements (4,925 SF clinic and…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$1,231,250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Square footage × $250/SF for clinic and club space.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suite buildout (900 SF @ $320/SF, OR-grade…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$288,000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900 SF × $320/SF for OR-grade construction.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emergency power, life-safety branch for…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gas plus emergency power and life-safety branch for the suite.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Wet areas: 2 saunas, 2 plunges, steam, drainage…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$465,000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Itemised below. Wet construction is the highest-variance line in the whole buildout: waterproofing failures…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Medical and aesthetic equipment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$450,000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medical and aesthetic package. Excludes bone densitometry, which is itemised on…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Surgical capital equipment (balance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Purchased portion of the surgical package; the balance is leased.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Recovery technology: HBOT purchased, Ammortal deposit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$165,950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Only the hyperbaric chamber is bought outright. The Ammortal chamber is financed, so the capital cost is…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36</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USE OF FUNDS</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What each capital line covers (2 of 2).</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19456">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Line</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C08D7C"/>
                          </a:solidFill>
                          <a:latin typeface="Century Gothic" pitchFamily="34" charset="0"/>
                          <a:ea typeface="Century Gothic" pitchFamily="34" charset="-122"/>
                          <a:cs typeface="Century Gothic" pitchFamily="34" charset="-120"/>
                        </a:rPr>
                        <a:t>Amount</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C08D7C"/>
                          </a:solidFill>
                          <a:latin typeface="Century Gothic" pitchFamily="34" charset="0"/>
                          <a:ea typeface="Century Gothic" pitchFamily="34" charset="-122"/>
                          <a:cs typeface="Century Gothic" pitchFamily="34" charset="-120"/>
                        </a:rPr>
                        <a:t>Basis</a:t>
                      </a:r>
                      <a:endParaRPr lang="en-US" sz="750" dirty="0">
                        <a:latin typeface="Century Gothic" charset="0"/>
                        <a:ea typeface="Century Gothic" charset="0"/>
                        <a:cs typeface="Century Gothic"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GE iDXA bone densitometer, purchased</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$25,000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 GE Lunar iDXA bone densitometer, bought outright rather than leased, plus the 125 SF room it occupies.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FF&amp;E, lounge, millwork, retail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$400,000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Furniture, lounge fit-out, millwork and retail fixtures.</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Pre-opening: licensing, legal, insurance, hiring…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$310,000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Licensing, legal, insurance binders, recruiting and pre-opening payroll.</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Accreditation: Quad A survey, policies, QA/PI…</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$110,000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Quad A survey fees, policy and procedure development, QA/PI programme, staff training.</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Brand, launch, founding member campaign</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$200,000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Identity, site, photography, launch campaign and the founding member drive.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Working capital and debt service reserve</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750" dirty="0">
                          <a:solidFill>
                            <a:srgbClr val="EDE6DA"/>
                          </a:solidFill>
                          <a:latin typeface="Calibri" pitchFamily="34" charset="0"/>
                          <a:ea typeface="Calibri" pitchFamily="34" charset="-122"/>
                          <a:cs typeface="Calibri" pitchFamily="34" charset="-120"/>
                        </a:rPr>
                        <a:t>$1,354,800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l" indent="0" marL="0">
                        <a:buNone/>
                      </a:pPr>
                      <a:r>
                        <a:rPr lang="en-US" sz="750" dirty="0">
                          <a:solidFill>
                            <a:srgbClr val="EDE6DA"/>
                          </a:solidFill>
                          <a:latin typeface="Calibri" pitchFamily="34" charset="0"/>
                          <a:ea typeface="Calibri" pitchFamily="34" charset="-122"/>
                          <a:cs typeface="Calibri" pitchFamily="34" charset="-120"/>
                        </a:rPr>
                        <a:t>Sized against the modelled cash trough, not set to a round number.</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19456">
                <a:tc>
                  <a:txBody>
                    <a:bodyPr/>
                    <a:lstStyle/>
                    <a:p>
                      <a:pPr algn="l" indent="0" marL="0">
                        <a:buNone/>
                      </a:pPr>
                      <a:r>
                        <a:rPr lang="en-US" sz="750" b="1" dirty="0">
                          <a:solidFill>
                            <a:srgbClr val="C08D7C"/>
                          </a:solidFill>
                          <a:latin typeface="Calibri" pitchFamily="34" charset="0"/>
                          <a:ea typeface="Calibri" pitchFamily="34" charset="-122"/>
                          <a:cs typeface="Calibri" pitchFamily="34" charset="-120"/>
                        </a:rPr>
                        <a:t>Total project cost</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r" indent="0" marL="0">
                        <a:buNone/>
                      </a:pPr>
                      <a:r>
                        <a:rPr lang="en-US" sz="750" b="1" dirty="0">
                          <a:solidFill>
                            <a:srgbClr val="C08D7C"/>
                          </a:solidFill>
                          <a:latin typeface="Calibri" pitchFamily="34" charset="0"/>
                          <a:ea typeface="Calibri" pitchFamily="34" charset="-122"/>
                          <a:cs typeface="Calibri" pitchFamily="34" charset="-120"/>
                        </a:rPr>
                        <a:t>$5,300,000</a:t>
                      </a: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c>
                  <a:txBody>
                    <a:bodyPr/>
                    <a:lstStyle/>
                    <a:p>
                      <a:pPr algn="l" indent="0" marL="0">
                        <a:buNone/>
                      </a:pPr>
                      <a:endParaRPr lang="en-US" sz="750" dirty="0">
                        <a:latin typeface="Calibri" charset="0"/>
                        <a:ea typeface="Calibri" charset="0"/>
                        <a:cs typeface="Calibri" charset="0"/>
                      </a:endParaRPr>
                    </a:p>
                  </a:txBody>
                  <a:tcPr marL="27432" marR="27432" marT="27432" marB="27432"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D2A22"/>
                    </a:solidFill>
                  </a:tcPr>
                </a:tc>
              </a:tr>
            </a:tbl>
          </a:graphicData>
        </a:graphic>
      </p:graphicFrame>
      <p:sp>
        <p:nvSpPr>
          <p:cNvPr id="5" name="Text 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6" name="Text 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35</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C08D7C"/>
                </a:solidFill>
                <a:latin typeface="Century Gothic" pitchFamily="34" charset="0"/>
                <a:ea typeface="Century Gothic" pitchFamily="34" charset="-122"/>
                <a:cs typeface="Century Gothic" pitchFamily="34" charset="-120"/>
              </a:rPr>
              <a:t>APPENDIX · SENSITIVITY</a:t>
            </a:r>
            <a:endParaRPr lang="en-US" sz="900" dirty="0"/>
          </a:p>
        </p:txBody>
      </p:sp>
      <p:sp>
        <p:nvSpPr>
          <p:cNvPr id="3" name="Text 1"/>
          <p:cNvSpPr/>
          <p:nvPr/>
        </p:nvSpPr>
        <p:spPr>
          <a:xfrm>
            <a:off x="502920" y="530352"/>
            <a:ext cx="8138160" cy="548640"/>
          </a:xfrm>
          <a:prstGeom prst="rect">
            <a:avLst/>
          </a:prstGeom>
          <a:noFill/>
          <a:ln/>
        </p:spPr>
        <p:txBody>
          <a:bodyPr wrap="square" rtlCol="0" anchor="ctr"/>
          <a:lstStyle/>
          <a:p>
            <a:pPr indent="0" marL="0">
              <a:buNone/>
            </a:pPr>
            <a:r>
              <a:rPr lang="en-US" sz="2600" dirty="0">
                <a:solidFill>
                  <a:srgbClr val="EDE6DA"/>
                </a:solidFill>
                <a:latin typeface="Century Gothic" pitchFamily="34" charset="0"/>
                <a:ea typeface="Century Gothic" pitchFamily="34" charset="-122"/>
                <a:cs typeface="Century Gothic" pitchFamily="34" charset="-120"/>
              </a:rPr>
              <a:t>If rent is wrong, what happens.</a:t>
            </a:r>
            <a:endParaRPr lang="en-US" sz="2600" dirty="0"/>
          </a:p>
        </p:txBody>
      </p:sp>
      <p:sp>
        <p:nvSpPr>
          <p:cNvPr id="4" name="Text 2"/>
          <p:cNvSpPr/>
          <p:nvPr/>
        </p:nvSpPr>
        <p:spPr>
          <a:xfrm>
            <a:off x="502920" y="1097280"/>
            <a:ext cx="8138160" cy="457200"/>
          </a:xfrm>
          <a:prstGeom prst="rect">
            <a:avLst/>
          </a:prstGeom>
          <a:noFill/>
          <a:ln/>
        </p:spPr>
        <p:txBody>
          <a:bodyPr wrap="square" rtlCol="0" anchor="ctr"/>
          <a:lstStyle/>
          <a:p>
            <a:pPr indent="0" marL="0">
              <a:lnSpc>
                <a:spcPct val="120000"/>
              </a:lnSpc>
              <a:buNone/>
            </a:pPr>
            <a:r>
              <a:rPr lang="en-US" sz="1150" dirty="0">
                <a:solidFill>
                  <a:srgbClr val="A8A296"/>
                </a:solidFill>
                <a:latin typeface="Calibri" pitchFamily="34" charset="0"/>
                <a:ea typeface="Calibri" pitchFamily="34" charset="-122"/>
                <a:cs typeface="Calibri" pitchFamily="34" charset="-120"/>
              </a:rPr>
              <a:t>Rent is the largest single assumption in the model and the easiest to check. Everything else is held constant.</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850" spc="140" kern="0" dirty="0">
                          <a:solidFill>
                            <a:srgbClr val="C08D7C"/>
                          </a:solidFill>
                          <a:latin typeface="Century Gothic" pitchFamily="34" charset="0"/>
                          <a:ea typeface="Century Gothic" pitchFamily="34" charset="-122"/>
                          <a:cs typeface="Century Gothic" pitchFamily="34" charset="-120"/>
                        </a:rPr>
                        <a:t>Rent $/SF/month NNN</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Monthly rent</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Operating /mo</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Annual</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c>
                  <a:txBody>
                    <a:bodyPr/>
                    <a:lstStyle/>
                    <a:p>
                      <a:pPr algn="r" indent="0" marL="0">
                        <a:buNone/>
                      </a:pPr>
                      <a:r>
                        <a:rPr lang="en-US" sz="850" spc="140" kern="0" dirty="0">
                          <a:solidFill>
                            <a:srgbClr val="C08D7C"/>
                          </a:solidFill>
                          <a:latin typeface="Century Gothic" pitchFamily="34" charset="0"/>
                          <a:ea typeface="Century Gothic" pitchFamily="34" charset="-122"/>
                          <a:cs typeface="Century Gothic" pitchFamily="34" charset="-120"/>
                        </a:rPr>
                        <a:t>DSCR</a:t>
                      </a:r>
                      <a:endParaRPr lang="en-US" sz="850" dirty="0">
                        <a:latin typeface="Century Gothic" charset="0"/>
                        <a:ea typeface="Century Gothic" charset="0"/>
                        <a:cs typeface="Century Gothic"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$5.50  (modelled)</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$32,038</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$189,541</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$2,274,497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2.77x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$34,950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$186,629</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$2,239,547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2.73x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$6.50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$37,863</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$183,716</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$2,204,597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2.69x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r h="292608">
                <a:tc>
                  <a:txBody>
                    <a:bodyPr/>
                    <a:lstStyle/>
                    <a:p>
                      <a:pPr algn="l" indent="0" marL="0">
                        <a:buNone/>
                      </a:pPr>
                      <a:r>
                        <a:rPr lang="en-US" sz="950" dirty="0">
                          <a:solidFill>
                            <a:srgbClr val="EDE6DA"/>
                          </a:solidFill>
                          <a:latin typeface="Calibri" pitchFamily="34" charset="0"/>
                          <a:ea typeface="Calibri" pitchFamily="34" charset="-122"/>
                          <a:cs typeface="Calibri" pitchFamily="34" charset="-120"/>
                        </a:rPr>
                        <a:t>$7.00</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$40,775</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$180,804</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$2,169,647</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c>
                  <a:txBody>
                    <a:bodyPr/>
                    <a:lstStyle/>
                    <a:p>
                      <a:pPr algn="r" indent="0" marL="0">
                        <a:buNone/>
                      </a:pPr>
                      <a:r>
                        <a:rPr lang="en-US" sz="950" dirty="0">
                          <a:solidFill>
                            <a:srgbClr val="EDE6DA"/>
                          </a:solidFill>
                          <a:latin typeface="Calibri" pitchFamily="34" charset="0"/>
                          <a:ea typeface="Calibri" pitchFamily="34" charset="-122"/>
                          <a:cs typeface="Calibri" pitchFamily="34" charset="-120"/>
                        </a:rPr>
                        <a:t>2.65x</a:t>
                      </a:r>
                      <a:endParaRPr lang="en-US" sz="950" dirty="0">
                        <a:latin typeface="Calibri" charset="0"/>
                        <a:ea typeface="Calibri" charset="0"/>
                        <a:cs typeface="Calibri" charset="0"/>
                      </a:endParaRPr>
                    </a:p>
                  </a:txBody>
                  <a:tcPr marL="36576" marR="36576" marT="36576" marB="36576" anchor="ctr">
                    <a:lnL w="6350" cap="flat" cmpd="sng" algn="ctr">
                      <a:solidFill>
                        <a:srgbClr val="2E4237"/>
                      </a:solidFill>
                      <a:prstDash val="solid"/>
                      <a:round/>
                      <a:headEnd type="none" w="med" len="med"/>
                      <a:tailEnd type="none" w="med" len="med"/>
                    </a:lnL>
                    <a:lnR w="6350" cap="flat" cmpd="sng" algn="ctr">
                      <a:solidFill>
                        <a:srgbClr val="2E4237"/>
                      </a:solidFill>
                      <a:prstDash val="solid"/>
                      <a:round/>
                      <a:headEnd type="none" w="med" len="med"/>
                      <a:tailEnd type="none" w="med" len="med"/>
                    </a:lnR>
                    <a:lnT w="6350" cap="flat" cmpd="sng" algn="ctr">
                      <a:solidFill>
                        <a:srgbClr val="2E4237"/>
                      </a:solidFill>
                      <a:prstDash val="solid"/>
                      <a:round/>
                      <a:headEnd type="none" w="med" len="med"/>
                      <a:tailEnd type="none" w="med" len="med"/>
                    </a:lnT>
                    <a:lnB w="6350" cap="flat" cmpd="sng" algn="ctr">
                      <a:solidFill>
                        <a:srgbClr val="2E4237"/>
                      </a:solidFill>
                      <a:prstDash val="solid"/>
                      <a:round/>
                      <a:headEnd type="none" w="med" len="med"/>
                      <a:tailEnd type="none" w="med" len="med"/>
                    </a:lnB>
                    <a:solidFill>
                      <a:srgbClr val="16241C"/>
                    </a:solidFill>
                  </a:tcPr>
                </a:tc>
              </a:tr>
            </a:tbl>
          </a:graphicData>
        </a:graphic>
      </p:graphicFrame>
      <p:sp>
        <p:nvSpPr>
          <p:cNvPr id="6" name="Text 3"/>
          <p:cNvSpPr/>
          <p:nvPr/>
        </p:nvSpPr>
        <p:spPr>
          <a:xfrm>
            <a:off x="502920" y="3611880"/>
            <a:ext cx="8138160" cy="457200"/>
          </a:xfrm>
          <a:prstGeom prst="rect">
            <a:avLst/>
          </a:prstGeom>
          <a:noFill/>
          <a:ln/>
        </p:spPr>
        <p:txBody>
          <a:bodyPr wrap="square" rtlCol="0" anchor="ctr"/>
          <a:lstStyle/>
          <a:p>
            <a:pPr indent="0" marL="0">
              <a:lnSpc>
                <a:spcPct val="120000"/>
              </a:lnSpc>
              <a:buNone/>
            </a:pPr>
            <a:r>
              <a:rPr lang="en-US" sz="900" dirty="0">
                <a:solidFill>
                  <a:srgbClr val="6E6A62"/>
                </a:solidFill>
                <a:latin typeface="Calibri" pitchFamily="34" charset="0"/>
                <a:ea typeface="Calibri" pitchFamily="34" charset="-122"/>
                <a:cs typeface="Calibri" pitchFamily="34" charset="-120"/>
              </a:rPr>
              <a:t>Coverage against the 1.25x underwriting convention. The modelled rate is the more aggressive of the figures shown; a broker letter or signed lease would replace this assumption with a fact.</a:t>
            </a:r>
            <a:endParaRPr lang="en-US" sz="900" dirty="0"/>
          </a:p>
        </p:txBody>
      </p:sp>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E6A62"/>
                </a:solidFill>
                <a:latin typeface="Century Gothic" pitchFamily="34" charset="0"/>
                <a:ea typeface="Century Gothic" pitchFamily="34" charset="-122"/>
                <a:cs typeface="Century Gothic" pitchFamily="34" charset="-120"/>
              </a:rPr>
              <a:t>L&amp;K WELLNESS  ·  PLAYA VISTA, CA  ·  SURGICAL CASE  ·  CONFIDENTIAL</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E6A62"/>
                </a:solidFill>
                <a:latin typeface="Century Gothic" pitchFamily="34" charset="0"/>
                <a:ea typeface="Century Gothic" pitchFamily="34" charset="-122"/>
                <a:cs typeface="Century Gothic" pitchFamily="34" charset="-120"/>
              </a:rPr>
              <a:t>37</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Investor and SBA Brief</dc:subject>
  <dc:creator>LK Wellness</dc:creator>
  <cp:lastModifiedBy>LK Wellness</cp:lastModifiedBy>
  <cp:revision>1</cp:revision>
  <dcterms:created xsi:type="dcterms:W3CDTF">2026-08-17T08:17:38Z</dcterms:created>
  <dcterms:modified xsi:type="dcterms:W3CDTF">2026-08-17T08:17:38Z</dcterms:modified>
</cp:coreProperties>
</file>