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4480560"/>
            <a:ext cx="9144000" cy="667512"/>
          </a:xfrm>
          <a:prstGeom prst="rect">
            <a:avLst/>
          </a:prstGeom>
          <a:solidFill>
            <a:srgbClr val="16241C"/>
          </a:solidFill>
          <a:ln w="12700">
            <a:solidFill>
              <a:srgbClr val="16241C"/>
            </a:solidFill>
            <a:prstDash val="solid"/>
          </a:ln>
        </p:spPr>
      </p:sp>
      <p:sp>
        <p:nvSpPr>
          <p:cNvPr id="4" name="Text 2"/>
          <p:cNvSpPr/>
          <p:nvPr/>
        </p:nvSpPr>
        <p:spPr>
          <a:xfrm>
            <a:off x="502920" y="1371600"/>
            <a:ext cx="8138160" cy="640080"/>
          </a:xfrm>
          <a:prstGeom prst="rect">
            <a:avLst/>
          </a:prstGeom>
          <a:noFill/>
          <a:ln/>
        </p:spPr>
        <p:txBody>
          <a:bodyPr wrap="square" rtlCol="0" anchor="ctr"/>
          <a:lstStyle/>
          <a:p>
            <a:pPr indent="0" marL="0">
              <a:buNone/>
            </a:pPr>
            <a:r>
              <a:rPr lang="en-US" sz="4000" spc="300" kern="0" dirty="0">
                <a:solidFill>
                  <a:srgbClr val="EDE6DA"/>
                </a:solidFill>
                <a:latin typeface="Century Gothic" pitchFamily="34" charset="0"/>
                <a:ea typeface="Century Gothic" pitchFamily="34" charset="-122"/>
                <a:cs typeface="Century Gothic" pitchFamily="34" charset="-120"/>
              </a:rPr>
              <a:t>L&amp;K WELLNESS</a:t>
            </a:r>
            <a:endParaRPr lang="en-US" sz="4000" dirty="0"/>
          </a:p>
        </p:txBody>
      </p:sp>
      <p:sp>
        <p:nvSpPr>
          <p:cNvPr id="5" name="Shape 3"/>
          <p:cNvSpPr/>
          <p:nvPr/>
        </p:nvSpPr>
        <p:spPr>
          <a:xfrm>
            <a:off x="502920" y="2121408"/>
            <a:ext cx="822960" cy="41148"/>
          </a:xfrm>
          <a:prstGeom prst="rect">
            <a:avLst/>
          </a:prstGeom>
          <a:solidFill>
            <a:srgbClr val="C08D7C"/>
          </a:solidFill>
          <a:ln w="12700">
            <a:solidFill>
              <a:srgbClr val="C08D7C"/>
            </a:solidFill>
            <a:prstDash val="solid"/>
          </a:ln>
        </p:spPr>
      </p:sp>
      <p:sp>
        <p:nvSpPr>
          <p:cNvPr id="6" name="Text 4"/>
          <p:cNvSpPr/>
          <p:nvPr/>
        </p:nvSpPr>
        <p:spPr>
          <a:xfrm>
            <a:off x="502920" y="2331720"/>
            <a:ext cx="8138160" cy="411480"/>
          </a:xfrm>
          <a:prstGeom prst="rect">
            <a:avLst/>
          </a:prstGeom>
          <a:noFill/>
          <a:ln/>
        </p:spPr>
        <p:txBody>
          <a:bodyPr wrap="square" rtlCol="0" anchor="ctr"/>
          <a:lstStyle/>
          <a:p>
            <a:pPr indent="0" marL="0">
              <a:buNone/>
            </a:pPr>
            <a:r>
              <a:rPr lang="en-US" sz="2000" dirty="0">
                <a:solidFill>
                  <a:srgbClr val="EDE6DA"/>
                </a:solidFill>
                <a:latin typeface="Century Gothic" pitchFamily="34" charset="0"/>
                <a:ea typeface="Century Gothic" pitchFamily="34" charset="-122"/>
                <a:cs typeface="Century Gothic" pitchFamily="34" charset="-120"/>
              </a:rPr>
              <a:t>A licensed clinic inside a private club.</a:t>
            </a:r>
            <a:endParaRPr lang="en-US" sz="2000" dirty="0"/>
          </a:p>
        </p:txBody>
      </p:sp>
      <p:sp>
        <p:nvSpPr>
          <p:cNvPr id="7" name="Text 5"/>
          <p:cNvSpPr/>
          <p:nvPr/>
        </p:nvSpPr>
        <p:spPr>
          <a:xfrm>
            <a:off x="502920" y="2788920"/>
            <a:ext cx="6510528" cy="457200"/>
          </a:xfrm>
          <a:prstGeom prst="rect">
            <a:avLst/>
          </a:prstGeom>
          <a:noFill/>
          <a:ln/>
        </p:spPr>
        <p:txBody>
          <a:bodyPr wrap="square" rtlCol="0" anchor="ctr"/>
          <a:lstStyle/>
          <a:p>
            <a:pPr indent="0" marL="0">
              <a:buNone/>
            </a:pPr>
            <a:r>
              <a:rPr lang="en-US" sz="1250" dirty="0">
                <a:solidFill>
                  <a:srgbClr val="C08D7C"/>
                </a:solidFill>
                <a:latin typeface="Calibri" pitchFamily="34" charset="0"/>
                <a:ea typeface="Calibri" pitchFamily="34" charset="-122"/>
                <a:cs typeface="Calibri" pitchFamily="34" charset="-120"/>
              </a:rPr>
              <a:t>The medicine is open to everyone. The room you want to stay in is members only.</a:t>
            </a:r>
            <a:endParaRPr lang="en-US" sz="1250" dirty="0"/>
          </a:p>
        </p:txBody>
      </p:sp>
      <p:sp>
        <p:nvSpPr>
          <p:cNvPr id="8" name="Text 6"/>
          <p:cNvSpPr/>
          <p:nvPr/>
        </p:nvSpPr>
        <p:spPr>
          <a:xfrm>
            <a:off x="502920" y="3429000"/>
            <a:ext cx="8138160" cy="274320"/>
          </a:xfrm>
          <a:prstGeom prst="rect">
            <a:avLst/>
          </a:prstGeom>
          <a:noFill/>
          <a:ln/>
        </p:spPr>
        <p:txBody>
          <a:bodyPr wrap="square" rtlCol="0" anchor="ctr"/>
          <a:lstStyle/>
          <a:p>
            <a:pPr indent="0" marL="0">
              <a:buNone/>
            </a:pPr>
            <a:r>
              <a:rPr lang="en-US" sz="1050" dirty="0">
                <a:solidFill>
                  <a:srgbClr val="A8A296"/>
                </a:solidFill>
                <a:latin typeface="Calibri" pitchFamily="34" charset="0"/>
                <a:ea typeface="Calibri" pitchFamily="34" charset="-122"/>
                <a:cs typeface="Calibri" pitchFamily="34" charset="-120"/>
              </a:rPr>
              <a:t>Playa Vista, California   ·   6,700 SF   ·   Est. 2026   ·   Surgical case, $5.55M project</a:t>
            </a:r>
            <a:endParaRPr lang="en-US" sz="1050" dirty="0"/>
          </a:p>
        </p:txBody>
      </p:sp>
      <p:sp>
        <p:nvSpPr>
          <p:cNvPr id="9" name="Text 7"/>
          <p:cNvSpPr/>
          <p:nvPr/>
        </p:nvSpPr>
        <p:spPr>
          <a:xfrm>
            <a:off x="502920" y="4645152"/>
            <a:ext cx="8138160" cy="274320"/>
          </a:xfrm>
          <a:prstGeom prst="rect">
            <a:avLst/>
          </a:prstGeom>
          <a:noFill/>
          <a:ln/>
        </p:spPr>
        <p:txBody>
          <a:bodyPr wrap="square" rtlCol="0" anchor="ctr"/>
          <a:lstStyle/>
          <a:p>
            <a:pPr indent="0" marL="0">
              <a:buNone/>
            </a:pPr>
            <a:r>
              <a:rPr lang="en-US" sz="800" spc="200" kern="0" dirty="0">
                <a:solidFill>
                  <a:srgbClr val="A8A296"/>
                </a:solidFill>
                <a:latin typeface="Century Gothic" pitchFamily="34" charset="0"/>
                <a:ea typeface="Century Gothic" pitchFamily="34" charset="-122"/>
                <a:cs typeface="Century Gothic" pitchFamily="34" charset="-120"/>
              </a:rPr>
              <a:t>CONFIDENTIAL  ·  INVESTOR AND SBA BRIEF  ·  FOR QUALIFIED RECIPIENTS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PROBLEM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Wellness on the Westside is fragmented.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patient optimizing their health today visits a medspa for injectables, a recovery studio for cold plunge, a longevity clinic for labs, and a concierge doctor for hormones. Four intakes, four records, four bills. Not one of them is somewhere you would choose to spend a Saturday morning.</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4+</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Separate providers a patient coordinates for care that belongs in one building.</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Facilities on the Westside combining licensed medical care with a genuine social club.</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10,488</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US medical spas as of 2023, up from 8,899 the year before. The category is commoditizing on treatment alone.</a:t>
            </a:r>
            <a:endParaRPr lang="en-US" sz="9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INSIGHT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Two proven models. Neither one is complete.</a:t>
            </a:r>
            <a:endParaRPr lang="en-US" sz="2600" dirty="0"/>
          </a:p>
        </p:txBody>
      </p:sp>
      <p:sp>
        <p:nvSpPr>
          <p:cNvPr id="4" name="Shape 2"/>
          <p:cNvSpPr/>
          <p:nvPr/>
        </p:nvSpPr>
        <p:spPr>
          <a:xfrm>
            <a:off x="502920" y="1463040"/>
            <a:ext cx="3986784" cy="1371600"/>
          </a:xfrm>
          <a:prstGeom prst="roundRect">
            <a:avLst>
              <a:gd name="adj" fmla="val 4000"/>
            </a:avLst>
          </a:prstGeom>
          <a:solidFill>
            <a:srgbClr val="16241C"/>
          </a:solidFill>
          <a:ln w="12700">
            <a:solidFill>
              <a:srgbClr val="2E4237"/>
            </a:solidFill>
            <a:prstDash val="solid"/>
          </a:ln>
        </p:spPr>
      </p:sp>
      <p:sp>
        <p:nvSpPr>
          <p:cNvPr id="5" name="Text 3"/>
          <p:cNvSpPr/>
          <p:nvPr/>
        </p:nvSpPr>
        <p:spPr>
          <a:xfrm>
            <a:off x="649224"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Remedy Place</a:t>
            </a:r>
            <a:endParaRPr lang="en-US" sz="2000" dirty="0"/>
          </a:p>
        </p:txBody>
      </p:sp>
      <p:sp>
        <p:nvSpPr>
          <p:cNvPr id="6" name="Text 4"/>
          <p:cNvSpPr/>
          <p:nvPr/>
        </p:nvSpPr>
        <p:spPr>
          <a:xfrm>
            <a:off x="649224"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Open booking works. Anyone can book a remedy; members get credits, member pricing and guest passes. What they lack is a real ladder of affiliation.</a:t>
            </a:r>
            <a:endParaRPr lang="en-US" sz="900" dirty="0"/>
          </a:p>
        </p:txBody>
      </p:sp>
      <p:sp>
        <p:nvSpPr>
          <p:cNvPr id="7" name="Shape 5"/>
          <p:cNvSpPr/>
          <p:nvPr/>
        </p:nvSpPr>
        <p:spPr>
          <a:xfrm>
            <a:off x="4654296" y="1463040"/>
            <a:ext cx="3986784" cy="1371600"/>
          </a:xfrm>
          <a:prstGeom prst="roundRect">
            <a:avLst>
              <a:gd name="adj" fmla="val 4000"/>
            </a:avLst>
          </a:prstGeom>
          <a:solidFill>
            <a:srgbClr val="16241C"/>
          </a:solidFill>
          <a:ln w="12700">
            <a:solidFill>
              <a:srgbClr val="2E4237"/>
            </a:solidFill>
            <a:prstDash val="solid"/>
          </a:ln>
        </p:spPr>
      </p:sp>
      <p:sp>
        <p:nvSpPr>
          <p:cNvPr id="8" name="Text 6"/>
          <p:cNvSpPr/>
          <p:nvPr/>
        </p:nvSpPr>
        <p:spPr>
          <a:xfrm>
            <a:off x="4800600"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Soho House</a:t>
            </a:r>
            <a:endParaRPr lang="en-US" sz="2000" dirty="0"/>
          </a:p>
        </p:txBody>
      </p:sp>
      <p:sp>
        <p:nvSpPr>
          <p:cNvPr id="9" name="Text 7"/>
          <p:cNvSpPr/>
          <p:nvPr/>
        </p:nvSpPr>
        <p:spPr>
          <a:xfrm>
            <a:off x="4800600"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The ladder works. Soho Friends is a published annual tier buying discounts and event invitations but no club access. What they lack is medicine.</a:t>
            </a:r>
            <a:endParaRPr lang="en-US" sz="900" dirty="0"/>
          </a:p>
        </p:txBody>
      </p:sp>
      <p:sp>
        <p:nvSpPr>
          <p:cNvPr id="10" name="Shape 8"/>
          <p:cNvSpPr/>
          <p:nvPr/>
        </p:nvSpPr>
        <p:spPr>
          <a:xfrm>
            <a:off x="502920" y="3017520"/>
            <a:ext cx="8138160" cy="1417320"/>
          </a:xfrm>
          <a:prstGeom prst="roundRect">
            <a:avLst>
              <a:gd name="adj" fmla="val 3871"/>
            </a:avLst>
          </a:prstGeom>
          <a:solidFill>
            <a:srgbClr val="241C1A"/>
          </a:solidFill>
          <a:ln w="12700">
            <a:solidFill>
              <a:srgbClr val="C08D7C"/>
            </a:solidFill>
            <a:prstDash val="solid"/>
          </a:ln>
        </p:spPr>
      </p:sp>
      <p:sp>
        <p:nvSpPr>
          <p:cNvPr id="11" name="Text 9"/>
          <p:cNvSpPr/>
          <p:nvPr/>
        </p:nvSpPr>
        <p:spPr>
          <a:xfrm>
            <a:off x="704088" y="3154680"/>
            <a:ext cx="7735824"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THE GAP</a:t>
            </a:r>
            <a:endParaRPr lang="en-US" sz="850" dirty="0"/>
          </a:p>
        </p:txBody>
      </p:sp>
      <p:sp>
        <p:nvSpPr>
          <p:cNvPr id="12" name="Text 10"/>
          <p:cNvSpPr/>
          <p:nvPr/>
        </p:nvSpPr>
        <p:spPr>
          <a:xfrm>
            <a:off x="704088" y="3383280"/>
            <a:ext cx="7735824" cy="411480"/>
          </a:xfrm>
          <a:prstGeom prst="rect">
            <a:avLst/>
          </a:prstGeom>
          <a:noFill/>
          <a:ln/>
        </p:spPr>
        <p:txBody>
          <a:bodyPr wrap="square" rtlCol="0" anchor="ctr"/>
          <a:lstStyle/>
          <a:p>
            <a:pPr indent="0" marL="0">
              <a:buNone/>
            </a:pPr>
            <a:r>
              <a:rPr lang="en-US" sz="1450" dirty="0">
                <a:solidFill>
                  <a:srgbClr val="EDE6DA"/>
                </a:solidFill>
                <a:latin typeface="Century Gothic" pitchFamily="34" charset="0"/>
                <a:ea typeface="Century Gothic" pitchFamily="34" charset="-122"/>
                <a:cs typeface="Century Gothic" pitchFamily="34" charset="-120"/>
              </a:rPr>
              <a:t>Nobody has put a licensed medical clinic inside a social club and left the medicine open to everyone.</a:t>
            </a:r>
            <a:endParaRPr lang="en-US" sz="1450" dirty="0"/>
          </a:p>
        </p:txBody>
      </p:sp>
      <p:sp>
        <p:nvSpPr>
          <p:cNvPr id="13" name="Text 11"/>
          <p:cNvSpPr/>
          <p:nvPr/>
        </p:nvSpPr>
        <p:spPr>
          <a:xfrm>
            <a:off x="704088" y="3803904"/>
            <a:ext cx="7735824" cy="548640"/>
          </a:xfrm>
          <a:prstGeom prst="rect">
            <a:avLst/>
          </a:prstGeom>
          <a:noFill/>
          <a:ln/>
        </p:spPr>
        <p:txBody>
          <a:bodyPr wrap="square" rtlCol="0" anchor="ctr"/>
          <a:lstStyle/>
          <a:p>
            <a:pPr indent="0" marL="0">
              <a:lnSpc>
                <a:spcPct val="120000"/>
              </a:lnSpc>
              <a:buNone/>
            </a:pPr>
            <a:r>
              <a:rPr lang="en-US" sz="1050" dirty="0">
                <a:solidFill>
                  <a:srgbClr val="A8A296"/>
                </a:solidFill>
                <a:latin typeface="Calibri" pitchFamily="34" charset="0"/>
                <a:ea typeface="Calibri" pitchFamily="34" charset="-122"/>
                <a:cs typeface="Calibri" pitchFamily="34" charset="-120"/>
              </a:rPr>
              <a:t>Gating clinical care behind a membership is bad business and a bad look. Gating the room where people actually want to spend time is precisely what a club is. L&amp;K separates the two, and that separation is the entire model.</a:t>
            </a:r>
            <a:endParaRPr lang="en-US" sz="105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building. Two layers. Different doors.</a:t>
            </a:r>
            <a:endParaRPr lang="en-US" sz="2600" dirty="0"/>
          </a:p>
        </p:txBody>
      </p:sp>
      <p:sp>
        <p:nvSpPr>
          <p:cNvPr id="4" name="Shape 2"/>
          <p:cNvSpPr/>
          <p:nvPr/>
        </p:nvSpPr>
        <p:spPr>
          <a:xfrm>
            <a:off x="1508760" y="1325880"/>
            <a:ext cx="6126480" cy="1325880"/>
          </a:xfrm>
          <a:prstGeom prst="roundRect">
            <a:avLst>
              <a:gd name="adj" fmla="val 4138"/>
            </a:avLst>
          </a:prstGeom>
          <a:solidFill>
            <a:srgbClr val="241C1A"/>
          </a:solidFill>
          <a:ln w="15875">
            <a:solidFill>
              <a:srgbClr val="C08D7C"/>
            </a:solidFill>
            <a:prstDash val="solid"/>
          </a:ln>
        </p:spPr>
      </p:sp>
      <p:sp>
        <p:nvSpPr>
          <p:cNvPr id="5" name="Text 3"/>
          <p:cNvSpPr/>
          <p:nvPr/>
        </p:nvSpPr>
        <p:spPr>
          <a:xfrm>
            <a:off x="1691640" y="1444752"/>
            <a:ext cx="5760720" cy="182880"/>
          </a:xfrm>
          <a:prstGeom prst="rect">
            <a:avLst/>
          </a:prstGeom>
          <a:noFill/>
          <a:ln/>
        </p:spPr>
        <p:txBody>
          <a:bodyPr wrap="square" rtlCol="0" anchor="ctr"/>
          <a:lstStyle/>
          <a:p>
            <a:pPr indent="0" marL="0">
              <a:buNone/>
            </a:pPr>
            <a:r>
              <a:rPr lang="en-US" sz="800" spc="240" kern="0" dirty="0">
                <a:solidFill>
                  <a:srgbClr val="C08D7C"/>
                </a:solidFill>
                <a:latin typeface="Century Gothic" pitchFamily="34" charset="0"/>
                <a:ea typeface="Century Gothic" pitchFamily="34" charset="-122"/>
                <a:cs typeface="Century Gothic" pitchFamily="34" charset="-120"/>
              </a:rPr>
              <a:t>MEMBERS ONLY  ·  CAPPED</a:t>
            </a:r>
            <a:endParaRPr lang="en-US" sz="800" dirty="0"/>
          </a:p>
        </p:txBody>
      </p:sp>
      <p:sp>
        <p:nvSpPr>
          <p:cNvPr id="6" name="Text 4"/>
          <p:cNvSpPr/>
          <p:nvPr/>
        </p:nvSpPr>
        <p:spPr>
          <a:xfrm>
            <a:off x="1691640" y="1627632"/>
            <a:ext cx="5760720"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Club</a:t>
            </a:r>
            <a:endParaRPr lang="en-US" sz="1600" dirty="0"/>
          </a:p>
        </p:txBody>
      </p:sp>
      <p:sp>
        <p:nvSpPr>
          <p:cNvPr id="7" name="Text 5"/>
          <p:cNvSpPr/>
          <p:nvPr/>
        </p:nvSpPr>
        <p:spPr>
          <a:xfrm>
            <a:off x="1691640" y="1956816"/>
            <a:ext cx="5760720" cy="548640"/>
          </a:xfrm>
          <a:prstGeom prst="rect">
            <a:avLst/>
          </a:prstGeom>
          <a:noFill/>
          <a:ln/>
        </p:spPr>
        <p:txBody>
          <a:bodyPr wrap="square" rtlCol="0" anchor="ctr"/>
          <a:lstStyle/>
          <a:p>
            <a:pPr indent="0" marL="0">
              <a:lnSpc>
                <a:spcPct val="120000"/>
              </a:lnSpc>
              <a:buNone/>
            </a:pPr>
            <a:r>
              <a:rPr lang="en-US" sz="1000" dirty="0">
                <a:solidFill>
                  <a:srgbClr val="A8A296"/>
                </a:solidFill>
                <a:latin typeface="Calibri" pitchFamily="34" charset="0"/>
                <a:ea typeface="Calibri" pitchFamily="34" charset="-122"/>
                <a:cs typeface="Calibri" pitchFamily="34" charset="-120"/>
              </a:rPr>
              <a:t>Contrast suite  ·  Sauna and cold plunge ritual  ·  The Lounge  ·  Member events  ·  Guest passes  ·  Priority booking  ·  Private buyouts</a:t>
            </a:r>
            <a:endParaRPr lang="en-US" sz="1000" dirty="0"/>
          </a:p>
        </p:txBody>
      </p:sp>
      <p:sp>
        <p:nvSpPr>
          <p:cNvPr id="8" name="Text 6"/>
          <p:cNvSpPr/>
          <p:nvPr/>
        </p:nvSpPr>
        <p:spPr>
          <a:xfrm>
            <a:off x="502920" y="2697480"/>
            <a:ext cx="8138160" cy="237744"/>
          </a:xfrm>
          <a:prstGeom prst="rect">
            <a:avLst/>
          </a:prstGeom>
          <a:noFill/>
          <a:ln/>
        </p:spPr>
        <p:txBody>
          <a:bodyPr wrap="square" rtlCol="0" anchor="ctr"/>
          <a:lstStyle/>
          <a:p>
            <a:pPr algn="ctr" indent="0" marL="0">
              <a:buNone/>
            </a:pPr>
            <a:r>
              <a:rPr lang="en-US" sz="900" spc="200" kern="0" dirty="0">
                <a:solidFill>
                  <a:srgbClr val="6E6A62"/>
                </a:solidFill>
                <a:latin typeface="Century Gothic" pitchFamily="34" charset="0"/>
                <a:ea typeface="Century Gothic" pitchFamily="34" charset="-122"/>
                <a:cs typeface="Century Gothic" pitchFamily="34" charset="-120"/>
              </a:rPr>
              <a:t>Membership sits on top. It never sits in front.</a:t>
            </a:r>
            <a:endParaRPr lang="en-US" sz="900" dirty="0"/>
          </a:p>
        </p:txBody>
      </p:sp>
      <p:sp>
        <p:nvSpPr>
          <p:cNvPr id="9" name="Shape 7"/>
          <p:cNvSpPr/>
          <p:nvPr/>
        </p:nvSpPr>
        <p:spPr>
          <a:xfrm>
            <a:off x="502920" y="2999232"/>
            <a:ext cx="8138160" cy="1463040"/>
          </a:xfrm>
          <a:prstGeom prst="roundRect">
            <a:avLst>
              <a:gd name="adj" fmla="val 3750"/>
            </a:avLst>
          </a:prstGeom>
          <a:solidFill>
            <a:srgbClr val="16241C"/>
          </a:solidFill>
          <a:ln w="12700">
            <a:solidFill>
              <a:srgbClr val="2E4237"/>
            </a:solidFill>
            <a:prstDash val="solid"/>
          </a:ln>
        </p:spPr>
      </p:sp>
      <p:sp>
        <p:nvSpPr>
          <p:cNvPr id="10" name="Text 8"/>
          <p:cNvSpPr/>
          <p:nvPr/>
        </p:nvSpPr>
        <p:spPr>
          <a:xfrm>
            <a:off x="704088" y="3127248"/>
            <a:ext cx="7735824" cy="182880"/>
          </a:xfrm>
          <a:prstGeom prst="rect">
            <a:avLst/>
          </a:prstGeom>
          <a:noFill/>
          <a:ln/>
        </p:spPr>
        <p:txBody>
          <a:bodyPr wrap="square" rtlCol="0" anchor="ctr"/>
          <a:lstStyle/>
          <a:p>
            <a:pPr indent="0" marL="0">
              <a:buNone/>
            </a:pPr>
            <a:r>
              <a:rPr lang="en-US" sz="800" spc="240" kern="0" dirty="0">
                <a:solidFill>
                  <a:srgbClr val="6E6A62"/>
                </a:solidFill>
                <a:latin typeface="Century Gothic" pitchFamily="34" charset="0"/>
                <a:ea typeface="Century Gothic" pitchFamily="34" charset="-122"/>
                <a:cs typeface="Century Gothic" pitchFamily="34" charset="-120"/>
              </a:rPr>
              <a:t>OPEN TO EVERYONE  ·  NO MEMBERSHIP REQUIRED</a:t>
            </a:r>
            <a:endParaRPr lang="en-US" sz="800" dirty="0"/>
          </a:p>
        </p:txBody>
      </p:sp>
      <p:sp>
        <p:nvSpPr>
          <p:cNvPr id="11" name="Text 9"/>
          <p:cNvSpPr/>
          <p:nvPr/>
        </p:nvSpPr>
        <p:spPr>
          <a:xfrm>
            <a:off x="704088" y="3310128"/>
            <a:ext cx="7735824"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Clinic</a:t>
            </a:r>
            <a:endParaRPr lang="en-US" sz="1600" dirty="0"/>
          </a:p>
        </p:txBody>
      </p:sp>
      <p:sp>
        <p:nvSpPr>
          <p:cNvPr id="12" name="Text 10"/>
          <p:cNvSpPr/>
          <p:nvPr/>
        </p:nvSpPr>
        <p:spPr>
          <a:xfrm>
            <a:off x="704088" y="3639312"/>
            <a:ext cx="7735824" cy="731520"/>
          </a:xfrm>
          <a:prstGeom prst="rect">
            <a:avLst/>
          </a:prstGeom>
          <a:noFill/>
          <a:ln/>
        </p:spPr>
        <p:txBody>
          <a:bodyPr wrap="square" rtlCol="0" anchor="ctr"/>
          <a:lstStyle/>
          <a:p>
            <a:pPr indent="0" marL="0">
              <a:lnSpc>
                <a:spcPct val="120000"/>
              </a:lnSpc>
              <a:buNone/>
            </a:pPr>
            <a:r>
              <a:rPr lang="en-US" sz="950" dirty="0">
                <a:solidFill>
                  <a:srgbClr val="A8A296"/>
                </a:solidFill>
                <a:latin typeface="Calibri" pitchFamily="34" charset="0"/>
                <a:ea typeface="Calibri" pitchFamily="34" charset="-122"/>
                <a:cs typeface="Calibri" pitchFamily="34" charset="-120"/>
              </a:rPr>
              <a:t>Aescape Robotic Massage  ·  Ammortal Chamber  ·  Red Light Therapy  ·  Hyperbaric Oxygen  ·  PRP Injections  ·  Compression / NeuFit  ·  Hormone / Peptide / GLP  ·  IV Therapy (NAD+ / Drips)  ·  Botox &amp; Fillers  ·  Laser Platform  ·  Advanced Biometrics  ·  Morpheus8 RF Microneedling  ·  DNA Analysis  ·  Emsculpt  ·  DUTCH Testing  ·  CoolSculpting  ·  DEXA Scan  ·  Blepharoplasty  ·  Facial Contouring Surgery  ·  Awake Liposuction &amp; Body Contouring  ·  Fat Grafting &amp; Transfer  ·  Hair Restoration Surgery  ·  Office Surgical Procedures  ·  Ablative Laser &amp; Skin Tightening</a:t>
            </a:r>
            <a:endParaRPr lang="en-US" sz="95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SURGERY SUITE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accredited operating room, inside the clinic.</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900 SF office-based surgery suite planned to the published iOR Partners specification, accredited by Quad A. It sits in the clinic layer, so anyone can book it. Surgery is never a membership benefit.</a:t>
            </a:r>
            <a:endParaRPr lang="en-US" sz="1150" dirty="0"/>
          </a:p>
        </p:txBody>
      </p:sp>
      <p:sp>
        <p:nvSpPr>
          <p:cNvPr id="5" name="Shape 3"/>
          <p:cNvSpPr/>
          <p:nvPr/>
        </p:nvSpPr>
        <p:spPr>
          <a:xfrm>
            <a:off x="502920" y="1645920"/>
            <a:ext cx="8138160" cy="841248"/>
          </a:xfrm>
          <a:prstGeom prst="roundRect">
            <a:avLst>
              <a:gd name="adj" fmla="val 6522"/>
            </a:avLst>
          </a:prstGeom>
          <a:solidFill>
            <a:srgbClr val="241C1A"/>
          </a:solidFill>
          <a:ln w="15875">
            <a:solidFill>
              <a:srgbClr val="C08D7C"/>
            </a:solidFill>
            <a:prstDash val="solid"/>
          </a:ln>
        </p:spPr>
      </p:sp>
      <p:sp>
        <p:nvSpPr>
          <p:cNvPr id="6" name="Text 4"/>
          <p:cNvSpPr/>
          <p:nvPr/>
        </p:nvSpPr>
        <p:spPr>
          <a:xfrm>
            <a:off x="704088" y="1737360"/>
            <a:ext cx="7735824" cy="256032"/>
          </a:xfrm>
          <a:prstGeom prst="rect">
            <a:avLst/>
          </a:prstGeom>
          <a:noFill/>
          <a:ln/>
        </p:spPr>
        <p:txBody>
          <a:bodyPr wrap="square" rtlCol="0" anchor="ctr"/>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Moderate sedation. Under two hours of recovery. Nothing above that line.</a:t>
            </a:r>
            <a:endParaRPr lang="en-US" sz="1300" dirty="0"/>
          </a:p>
        </p:txBody>
      </p:sp>
      <p:sp>
        <p:nvSpPr>
          <p:cNvPr id="7" name="Text 5"/>
          <p:cNvSpPr/>
          <p:nvPr/>
        </p:nvSpPr>
        <p:spPr>
          <a:xfrm>
            <a:off x="704088" y="2011680"/>
            <a:ext cx="7735824" cy="420624"/>
          </a:xfrm>
          <a:prstGeom prst="rect">
            <a:avLst/>
          </a:prstGeom>
          <a:noFill/>
          <a:ln/>
        </p:spPr>
        <p:txBody>
          <a:bodyPr wrap="square" rtlCol="0" anchor="ctr"/>
          <a:lstStyle/>
          <a:p>
            <a:pPr indent="0" marL="0">
              <a:lnSpc>
                <a:spcPct val="112000"/>
              </a:lnSpc>
              <a:buNone/>
            </a:pPr>
            <a:r>
              <a:rPr lang="en-US" sz="900" dirty="0">
                <a:solidFill>
                  <a:srgbClr val="A8A296"/>
                </a:solidFill>
                <a:latin typeface="Calibri" pitchFamily="34" charset="0"/>
                <a:ea typeface="Calibri" pitchFamily="34" charset="-122"/>
                <a:cs typeface="Calibri" pitchFamily="34" charset="-120"/>
              </a:rPr>
              <a:t>A design decision, not a limitation. It is why there is no anesthesiologist on payroll, no anesthesia machine in the budget, and only three PACU bays. California requires accreditation only when protective reflexes may be lost; moderate sedation preserves them, so this suite sits below the trigger. We accredit anyway.</a:t>
            </a:r>
            <a:endParaRPr lang="en-US" sz="900" dirty="0"/>
          </a:p>
        </p:txBody>
      </p:sp>
      <p:sp>
        <p:nvSpPr>
          <p:cNvPr id="8" name="Shape 6"/>
          <p:cNvSpPr/>
          <p:nvPr/>
        </p:nvSpPr>
        <p:spPr>
          <a:xfrm>
            <a:off x="502920" y="2578608"/>
            <a:ext cx="3986784" cy="1901952"/>
          </a:xfrm>
          <a:prstGeom prst="roundRect">
            <a:avLst>
              <a:gd name="adj" fmla="val 2885"/>
            </a:avLst>
          </a:prstGeom>
          <a:solidFill>
            <a:srgbClr val="16241C"/>
          </a:solidFill>
          <a:ln w="12700">
            <a:solidFill>
              <a:srgbClr val="2E4237"/>
            </a:solidFill>
            <a:prstDash val="solid"/>
          </a:ln>
        </p:spPr>
      </p:sp>
      <p:sp>
        <p:nvSpPr>
          <p:cNvPr id="9" name="Text 7"/>
          <p:cNvSpPr/>
          <p:nvPr/>
        </p:nvSpPr>
        <p:spPr>
          <a:xfrm>
            <a:off x="649224"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OPERATING ROOM</a:t>
            </a:r>
            <a:endParaRPr lang="en-US" sz="750" dirty="0"/>
          </a:p>
        </p:txBody>
      </p:sp>
      <p:sp>
        <p:nvSpPr>
          <p:cNvPr id="10" name="Text 8"/>
          <p:cNvSpPr/>
          <p:nvPr/>
        </p:nvSpPr>
        <p:spPr>
          <a:xfrm>
            <a:off x="649224"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Blepharoplasty, upper, lower and combined</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Brow lift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Otoplasty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Chin augmentation and implant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Buccal fat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Facial fat grafting and transfer</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Liposuction, single or limited area, awake tumescent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Submental neck contouring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Limited body-contouring revision</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Scar revision, facial and body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Nasal valve procedures sold as elective self-pay</a:t>
            </a:r>
            <a:endParaRPr lang="en-US" sz="700" dirty="0"/>
          </a:p>
        </p:txBody>
      </p:sp>
      <p:sp>
        <p:nvSpPr>
          <p:cNvPr id="11" name="Shape 9"/>
          <p:cNvSpPr/>
          <p:nvPr/>
        </p:nvSpPr>
        <p:spPr>
          <a:xfrm>
            <a:off x="4654296" y="2578608"/>
            <a:ext cx="3986784" cy="1901952"/>
          </a:xfrm>
          <a:prstGeom prst="roundRect">
            <a:avLst>
              <a:gd name="adj" fmla="val 2885"/>
            </a:avLst>
          </a:prstGeom>
          <a:solidFill>
            <a:srgbClr val="16241C"/>
          </a:solidFill>
          <a:ln w="12700">
            <a:solidFill>
              <a:srgbClr val="2E4237"/>
            </a:solidFill>
            <a:prstDash val="solid"/>
          </a:ln>
        </p:spPr>
      </p:sp>
      <p:sp>
        <p:nvSpPr>
          <p:cNvPr id="12" name="Text 10"/>
          <p:cNvSpPr/>
          <p:nvPr/>
        </p:nvSpPr>
        <p:spPr>
          <a:xfrm>
            <a:off x="4800600"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TREATMENT ROOMS, UNDER LOCAL</a:t>
            </a:r>
            <a:endParaRPr lang="en-US" sz="750" dirty="0"/>
          </a:p>
        </p:txBody>
      </p:sp>
      <p:sp>
        <p:nvSpPr>
          <p:cNvPr id="13" name="Text 11"/>
          <p:cNvSpPr/>
          <p:nvPr/>
        </p:nvSpPr>
        <p:spPr>
          <a:xfrm>
            <a:off x="4800600"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Lipoma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Cyst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Benign lesion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Ablative laser resurfacing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Skin tightening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Hair restoration surgery and transplant</a:t>
            </a:r>
            <a:endParaRPr lang="en-US" sz="7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MEMBERSHIP ARCHITECTURE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ladder, not a gate.</a:t>
            </a:r>
            <a:endParaRPr lang="en-US" sz="2600" dirty="0"/>
          </a:p>
        </p:txBody>
      </p:sp>
      <p:sp>
        <p:nvSpPr>
          <p:cNvPr id="4" name="Shape 2"/>
          <p:cNvSpPr/>
          <p:nvPr/>
        </p:nvSpPr>
        <p:spPr>
          <a:xfrm>
            <a:off x="502920" y="1371600"/>
            <a:ext cx="1924812" cy="3063240"/>
          </a:xfrm>
          <a:prstGeom prst="roundRect">
            <a:avLst>
              <a:gd name="adj" fmla="val 2850"/>
            </a:avLst>
          </a:prstGeom>
          <a:solidFill>
            <a:srgbClr val="16241C"/>
          </a:solidFill>
          <a:ln w="12700">
            <a:solidFill>
              <a:srgbClr val="2E4237"/>
            </a:solidFill>
            <a:prstDash val="solid"/>
          </a:ln>
        </p:spPr>
      </p:sp>
      <p:sp>
        <p:nvSpPr>
          <p:cNvPr id="5" name="Text 3"/>
          <p:cNvSpPr/>
          <p:nvPr/>
        </p:nvSpPr>
        <p:spPr>
          <a:xfrm>
            <a:off x="630936"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Day Pass</a:t>
            </a:r>
            <a:endParaRPr lang="en-US" sz="1150" dirty="0"/>
          </a:p>
        </p:txBody>
      </p:sp>
      <p:sp>
        <p:nvSpPr>
          <p:cNvPr id="6" name="Text 4"/>
          <p:cNvSpPr/>
          <p:nvPr/>
        </p:nvSpPr>
        <p:spPr>
          <a:xfrm>
            <a:off x="630936"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$75</a:t>
            </a:r>
            <a:endParaRPr lang="en-US" sz="1900" dirty="0"/>
          </a:p>
        </p:txBody>
      </p:sp>
      <p:sp>
        <p:nvSpPr>
          <p:cNvPr id="7" name="Text 5"/>
          <p:cNvSpPr/>
          <p:nvPr/>
        </p:nvSpPr>
        <p:spPr>
          <a:xfrm>
            <a:off x="630936"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VISIT</a:t>
            </a:r>
            <a:endParaRPr lang="en-US" sz="750" dirty="0"/>
          </a:p>
        </p:txBody>
      </p:sp>
      <p:sp>
        <p:nvSpPr>
          <p:cNvPr id="8" name="Text 6"/>
          <p:cNvSpPr/>
          <p:nvPr/>
        </p:nvSpPr>
        <p:spPr>
          <a:xfrm>
            <a:off x="630936"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Single circuit visit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Procedures at rack rate</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events or lounge privileges</a:t>
            </a:r>
            <a:endParaRPr lang="en-US" sz="800" dirty="0"/>
          </a:p>
        </p:txBody>
      </p:sp>
      <p:sp>
        <p:nvSpPr>
          <p:cNvPr id="9" name="Text 7"/>
          <p:cNvSpPr/>
          <p:nvPr/>
        </p:nvSpPr>
        <p:spPr>
          <a:xfrm>
            <a:off x="630936"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275 visits/mo</a:t>
            </a:r>
            <a:endParaRPr lang="en-US" sz="800" dirty="0"/>
          </a:p>
        </p:txBody>
      </p:sp>
      <p:sp>
        <p:nvSpPr>
          <p:cNvPr id="10" name="Shape 8"/>
          <p:cNvSpPr/>
          <p:nvPr/>
        </p:nvSpPr>
        <p:spPr>
          <a:xfrm>
            <a:off x="2574036" y="1371600"/>
            <a:ext cx="1924812" cy="3063240"/>
          </a:xfrm>
          <a:prstGeom prst="roundRect">
            <a:avLst>
              <a:gd name="adj" fmla="val 2850"/>
            </a:avLst>
          </a:prstGeom>
          <a:solidFill>
            <a:srgbClr val="16241C"/>
          </a:solidFill>
          <a:ln w="12700">
            <a:solidFill>
              <a:srgbClr val="2E4237"/>
            </a:solidFill>
            <a:prstDash val="solid"/>
          </a:ln>
        </p:spPr>
      </p:sp>
      <p:sp>
        <p:nvSpPr>
          <p:cNvPr id="11" name="Text 9"/>
          <p:cNvSpPr/>
          <p:nvPr/>
        </p:nvSpPr>
        <p:spPr>
          <a:xfrm>
            <a:off x="2702052"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Friends of L&amp;K</a:t>
            </a:r>
            <a:endParaRPr lang="en-US" sz="1150" dirty="0"/>
          </a:p>
        </p:txBody>
      </p:sp>
      <p:sp>
        <p:nvSpPr>
          <p:cNvPr id="12" name="Text 10"/>
          <p:cNvSpPr/>
          <p:nvPr/>
        </p:nvSpPr>
        <p:spPr>
          <a:xfrm>
            <a:off x="2702052"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$300</a:t>
            </a:r>
            <a:endParaRPr lang="en-US" sz="1900" dirty="0"/>
          </a:p>
        </p:txBody>
      </p:sp>
      <p:sp>
        <p:nvSpPr>
          <p:cNvPr id="13" name="Text 11"/>
          <p:cNvSpPr/>
          <p:nvPr/>
        </p:nvSpPr>
        <p:spPr>
          <a:xfrm>
            <a:off x="2702052"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YEAR</a:t>
            </a:r>
            <a:endParaRPr lang="en-US" sz="750" dirty="0"/>
          </a:p>
        </p:txBody>
      </p:sp>
      <p:sp>
        <p:nvSpPr>
          <p:cNvPr id="14" name="Text 12"/>
          <p:cNvSpPr/>
          <p:nvPr/>
        </p:nvSpPr>
        <p:spPr>
          <a:xfrm>
            <a:off x="2702052"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Priority booking window</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Invitations to open events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club or circuit access</a:t>
            </a:r>
            <a:endParaRPr lang="en-US" sz="800" dirty="0"/>
          </a:p>
        </p:txBody>
      </p:sp>
      <p:sp>
        <p:nvSpPr>
          <p:cNvPr id="15" name="Text 13"/>
          <p:cNvSpPr/>
          <p:nvPr/>
        </p:nvSpPr>
        <p:spPr>
          <a:xfrm>
            <a:off x="2702052"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900 members</a:t>
            </a:r>
            <a:endParaRPr lang="en-US" sz="800" dirty="0"/>
          </a:p>
        </p:txBody>
      </p:sp>
      <p:sp>
        <p:nvSpPr>
          <p:cNvPr id="16" name="Shape 14"/>
          <p:cNvSpPr/>
          <p:nvPr/>
        </p:nvSpPr>
        <p:spPr>
          <a:xfrm>
            <a:off x="4645152" y="1371600"/>
            <a:ext cx="1924812" cy="3063240"/>
          </a:xfrm>
          <a:prstGeom prst="roundRect">
            <a:avLst>
              <a:gd name="adj" fmla="val 2850"/>
            </a:avLst>
          </a:prstGeom>
          <a:solidFill>
            <a:srgbClr val="16241C"/>
          </a:solidFill>
          <a:ln w="12700">
            <a:solidFill>
              <a:srgbClr val="2E4237"/>
            </a:solidFill>
            <a:prstDash val="solid"/>
          </a:ln>
        </p:spPr>
      </p:sp>
      <p:sp>
        <p:nvSpPr>
          <p:cNvPr id="17" name="Text 15"/>
          <p:cNvSpPr/>
          <p:nvPr/>
        </p:nvSpPr>
        <p:spPr>
          <a:xfrm>
            <a:off x="4773168"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Resident</a:t>
            </a:r>
            <a:endParaRPr lang="en-US" sz="1150" dirty="0"/>
          </a:p>
        </p:txBody>
      </p:sp>
      <p:sp>
        <p:nvSpPr>
          <p:cNvPr id="18" name="Text 16"/>
          <p:cNvSpPr/>
          <p:nvPr/>
        </p:nvSpPr>
        <p:spPr>
          <a:xfrm>
            <a:off x="4773168"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$450</a:t>
            </a:r>
            <a:endParaRPr lang="en-US" sz="1900" dirty="0"/>
          </a:p>
        </p:txBody>
      </p:sp>
      <p:sp>
        <p:nvSpPr>
          <p:cNvPr id="19" name="Text 17"/>
          <p:cNvSpPr/>
          <p:nvPr/>
        </p:nvSpPr>
        <p:spPr>
          <a:xfrm>
            <a:off x="4773168"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0" name="Text 18"/>
          <p:cNvSpPr/>
          <p:nvPr/>
        </p:nvSpPr>
        <p:spPr>
          <a:xfrm>
            <a:off x="4773168"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Rolling monthly credit bank</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Unlimited recovery circuit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1 guest pass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events</a:t>
            </a:r>
            <a:endParaRPr lang="en-US" sz="800" dirty="0"/>
          </a:p>
        </p:txBody>
      </p:sp>
      <p:sp>
        <p:nvSpPr>
          <p:cNvPr id="21" name="Text 19"/>
          <p:cNvSpPr/>
          <p:nvPr/>
        </p:nvSpPr>
        <p:spPr>
          <a:xfrm>
            <a:off x="4773168"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350 members · capped</a:t>
            </a:r>
            <a:endParaRPr lang="en-US" sz="800" dirty="0"/>
          </a:p>
        </p:txBody>
      </p:sp>
      <p:sp>
        <p:nvSpPr>
          <p:cNvPr id="22" name="Shape 20"/>
          <p:cNvSpPr/>
          <p:nvPr/>
        </p:nvSpPr>
        <p:spPr>
          <a:xfrm>
            <a:off x="6716268" y="1371600"/>
            <a:ext cx="1924812" cy="3063240"/>
          </a:xfrm>
          <a:prstGeom prst="roundRect">
            <a:avLst>
              <a:gd name="adj" fmla="val 2850"/>
            </a:avLst>
          </a:prstGeom>
          <a:solidFill>
            <a:srgbClr val="241C1A"/>
          </a:solidFill>
          <a:ln w="12700">
            <a:solidFill>
              <a:srgbClr val="C08D7C"/>
            </a:solidFill>
            <a:prstDash val="solid"/>
          </a:ln>
        </p:spPr>
      </p:sp>
      <p:sp>
        <p:nvSpPr>
          <p:cNvPr id="23" name="Text 21"/>
          <p:cNvSpPr/>
          <p:nvPr/>
        </p:nvSpPr>
        <p:spPr>
          <a:xfrm>
            <a:off x="6844284"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Longevity</a:t>
            </a:r>
            <a:endParaRPr lang="en-US" sz="1150" dirty="0"/>
          </a:p>
        </p:txBody>
      </p:sp>
      <p:sp>
        <p:nvSpPr>
          <p:cNvPr id="24" name="Text 22"/>
          <p:cNvSpPr/>
          <p:nvPr/>
        </p:nvSpPr>
        <p:spPr>
          <a:xfrm>
            <a:off x="6844284"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$1,250</a:t>
            </a:r>
            <a:endParaRPr lang="en-US" sz="1900" dirty="0"/>
          </a:p>
        </p:txBody>
      </p:sp>
      <p:sp>
        <p:nvSpPr>
          <p:cNvPr id="25" name="Text 23"/>
          <p:cNvSpPr/>
          <p:nvPr/>
        </p:nvSpPr>
        <p:spPr>
          <a:xfrm>
            <a:off x="6844284"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6" name="Text 24"/>
          <p:cNvSpPr/>
          <p:nvPr/>
        </p:nvSpPr>
        <p:spPr>
          <a:xfrm>
            <a:off x="6844284"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Everything in Resident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Quarterly physician consult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Annual biomarker panel, DEXA and DUTCH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Hormone and peptide program included</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4 guest passes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Private buyout privileges</a:t>
            </a:r>
            <a:endParaRPr lang="en-US" sz="800" dirty="0"/>
          </a:p>
        </p:txBody>
      </p:sp>
      <p:sp>
        <p:nvSpPr>
          <p:cNvPr id="27" name="Text 25"/>
          <p:cNvSpPr/>
          <p:nvPr/>
        </p:nvSpPr>
        <p:spPr>
          <a:xfrm>
            <a:off x="6844284"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40 members · capped</a:t>
            </a:r>
            <a:endParaRPr lang="en-US" sz="800" dirty="0"/>
          </a:p>
        </p:txBody>
      </p:sp>
      <p:sp>
        <p:nvSpPr>
          <p:cNvPr id="28" name="Text 26"/>
          <p:cNvSpPr/>
          <p:nvPr/>
        </p:nvSpPr>
        <p:spPr>
          <a:xfrm>
            <a:off x="502920" y="4498848"/>
            <a:ext cx="8138160" cy="237744"/>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Three-month minimum then month-to-month. Credits roll over while active and expire on cancellation. Freezes on seven days notice. Tier changes after the initial commitment.</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BEFORE DOORS OPEN</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Founding Members de-risk the ramp.</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single strongest item in this brief for both an investor and a credit committee: revenue contracted before the business opens.</a:t>
            </a:r>
            <a:endParaRPr lang="en-US" sz="1150" dirty="0"/>
          </a:p>
        </p:txBody>
      </p:sp>
      <p:sp>
        <p:nvSpPr>
          <p:cNvPr id="5" name="Shape 3"/>
          <p:cNvSpPr/>
          <p:nvPr/>
        </p:nvSpPr>
        <p:spPr>
          <a:xfrm>
            <a:off x="502920" y="2194560"/>
            <a:ext cx="2602992" cy="1463040"/>
          </a:xfrm>
          <a:prstGeom prst="roundRect">
            <a:avLst>
              <a:gd name="adj" fmla="val 3750"/>
            </a:avLst>
          </a:prstGeom>
          <a:solidFill>
            <a:srgbClr val="16241C"/>
          </a:solidFill>
          <a:ln w="12700">
            <a:solidFill>
              <a:srgbClr val="2E4237"/>
            </a:solidFill>
            <a:prstDash val="solid"/>
          </a:ln>
        </p:spPr>
      </p:sp>
      <p:sp>
        <p:nvSpPr>
          <p:cNvPr id="6" name="Text 4"/>
          <p:cNvSpPr/>
          <p:nvPr/>
        </p:nvSpPr>
        <p:spPr>
          <a:xfrm>
            <a:off x="649224"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150</a:t>
            </a:r>
            <a:endParaRPr lang="en-US" sz="2000" dirty="0"/>
          </a:p>
        </p:txBody>
      </p:sp>
      <p:sp>
        <p:nvSpPr>
          <p:cNvPr id="7" name="Text 5"/>
          <p:cNvSpPr/>
          <p:nvPr/>
        </p:nvSpPr>
        <p:spPr>
          <a:xfrm>
            <a:off x="649224"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Founding memberships, hard capped and sold during construction.</a:t>
            </a:r>
            <a:endParaRPr lang="en-US" sz="900" dirty="0"/>
          </a:p>
        </p:txBody>
      </p:sp>
      <p:sp>
        <p:nvSpPr>
          <p:cNvPr id="8" name="Shape 6"/>
          <p:cNvSpPr/>
          <p:nvPr/>
        </p:nvSpPr>
        <p:spPr>
          <a:xfrm>
            <a:off x="3270504" y="2194560"/>
            <a:ext cx="2602992" cy="1463040"/>
          </a:xfrm>
          <a:prstGeom prst="roundRect">
            <a:avLst>
              <a:gd name="adj" fmla="val 3750"/>
            </a:avLst>
          </a:prstGeom>
          <a:solidFill>
            <a:srgbClr val="241C1A"/>
          </a:solidFill>
          <a:ln w="12700">
            <a:solidFill>
              <a:srgbClr val="C08D7C"/>
            </a:solidFill>
            <a:prstDash val="solid"/>
          </a:ln>
        </p:spPr>
      </p:sp>
      <p:sp>
        <p:nvSpPr>
          <p:cNvPr id="9" name="Text 7"/>
          <p:cNvSpPr/>
          <p:nvPr/>
        </p:nvSpPr>
        <p:spPr>
          <a:xfrm>
            <a:off x="3416808"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$3,600</a:t>
            </a:r>
            <a:endParaRPr lang="en-US" sz="2000" dirty="0"/>
          </a:p>
        </p:txBody>
      </p:sp>
      <p:sp>
        <p:nvSpPr>
          <p:cNvPr id="10" name="Text 8"/>
          <p:cNvSpPr/>
          <p:nvPr/>
        </p:nvSpPr>
        <p:spPr>
          <a:xfrm>
            <a:off x="3416808"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Prepaid for the first year, a 33% discount against list.</a:t>
            </a:r>
            <a:endParaRPr lang="en-US" sz="900" dirty="0"/>
          </a:p>
        </p:txBody>
      </p:sp>
      <p:sp>
        <p:nvSpPr>
          <p:cNvPr id="11" name="Shape 9"/>
          <p:cNvSpPr/>
          <p:nvPr/>
        </p:nvSpPr>
        <p:spPr>
          <a:xfrm>
            <a:off x="6038088" y="2194560"/>
            <a:ext cx="2602992" cy="1463040"/>
          </a:xfrm>
          <a:prstGeom prst="roundRect">
            <a:avLst>
              <a:gd name="adj" fmla="val 3750"/>
            </a:avLst>
          </a:prstGeom>
          <a:solidFill>
            <a:srgbClr val="241C1A"/>
          </a:solidFill>
          <a:ln w="12700">
            <a:solidFill>
              <a:srgbClr val="C08D7C"/>
            </a:solidFill>
            <a:prstDash val="solid"/>
          </a:ln>
        </p:spPr>
      </p:sp>
      <p:sp>
        <p:nvSpPr>
          <p:cNvPr id="12" name="Text 10"/>
          <p:cNvSpPr/>
          <p:nvPr/>
        </p:nvSpPr>
        <p:spPr>
          <a:xfrm>
            <a:off x="6184392"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$540,000</a:t>
            </a:r>
            <a:endParaRPr lang="en-US" sz="2000" dirty="0"/>
          </a:p>
        </p:txBody>
      </p:sp>
      <p:sp>
        <p:nvSpPr>
          <p:cNvPr id="13" name="Text 11"/>
          <p:cNvSpPr/>
          <p:nvPr/>
        </p:nvSpPr>
        <p:spPr>
          <a:xfrm>
            <a:off x="6184392"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Collected before opening, offsetting the construction-period burn.</a:t>
            </a:r>
            <a:endParaRPr lang="en-US" sz="900" dirty="0"/>
          </a:p>
        </p:txBody>
      </p:sp>
      <p:sp>
        <p:nvSpPr>
          <p:cNvPr id="14" name="Text 12"/>
          <p:cNvSpPr/>
          <p:nvPr/>
        </p:nvSpPr>
        <p:spPr>
          <a:xfrm>
            <a:off x="502920" y="3840480"/>
            <a:ext cx="8138160" cy="548640"/>
          </a:xfrm>
          <a:prstGeom prst="rect">
            <a:avLst/>
          </a:prstGeom>
          <a:noFill/>
          <a:ln/>
        </p:spPr>
        <p:txBody>
          <a:bodyPr wrap="square" rtlCol="0" anchor="ctr"/>
          <a:lstStyle/>
          <a:p>
            <a:pPr indent="0" marL="0">
              <a:lnSpc>
                <a:spcPct val="125000"/>
              </a:lnSpc>
              <a:buNone/>
            </a:pPr>
            <a:r>
              <a:rPr lang="en-US" sz="1050" dirty="0">
                <a:solidFill>
                  <a:srgbClr val="A8A296"/>
                </a:solidFill>
                <a:latin typeface="Calibri" pitchFamily="34" charset="0"/>
                <a:ea typeface="Calibri" pitchFamily="34" charset="-122"/>
                <a:cs typeface="Calibri" pitchFamily="34" charset="-120"/>
              </a:rPr>
              <a:t>This converts the opening ramp from a projection into a partially pre-sold book. It is also the cheapest possible market test: if the founding cohort does not sell, that is a signal worth having before the buildout is committed rather than after.</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6,700 SF in Playa Vista.</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8138160" cy="914400"/>
        </p:xfrm>
        <a:graphic>
          <a:graphicData uri="http://schemas.openxmlformats.org/drawingml/2006/table">
            <a:tbl>
              <a:tblPr/>
              <a:tblGrid>
                <a:gridCol w="6309360"/>
                <a:gridCol w="1828800"/>
              </a:tblGrid>
              <a:tr h="16916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Arrival, concierge, retail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Lounge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Contrast suite (2 saunas, 2 plunges)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550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floor</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IV and regenerative lounge (8 chairs)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Treatment rooms (3)</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Diagnostics and consult</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Operating room</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 and PACU (3 monitored bays)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220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Sterile processing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Sterile supply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Soiled utility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suite circulation</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Locker, shower, changing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Staff, MEP, storage, circulation</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1,150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69164">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6,700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Stations and equipment.</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What sits in the 6,700 square feet, and how it is paid for.</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931920" cy="914400"/>
        </p:xfrm>
        <a:graphic>
          <a:graphicData uri="http://schemas.openxmlformats.org/drawingml/2006/table">
            <a:tbl>
              <a:tblPr/>
              <a:tblGrid>
                <a:gridCol w="301752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 regenerative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Saunas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Cold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 robotic massage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 consult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Recovery stations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Shape 3"/>
          <p:cNvSpPr/>
          <p:nvPr/>
        </p:nvSpPr>
        <p:spPr>
          <a:xfrm>
            <a:off x="4754880" y="1645920"/>
            <a:ext cx="3520440" cy="2011680"/>
          </a:xfrm>
          <a:prstGeom prst="roundRect">
            <a:avLst>
              <a:gd name="adj" fmla="val 2727"/>
            </a:avLst>
          </a:prstGeom>
          <a:solidFill>
            <a:srgbClr val="16241C"/>
          </a:solidFill>
          <a:ln w="12700">
            <a:solidFill>
              <a:srgbClr val="2E4237"/>
            </a:solidFill>
            <a:prstDash val="solid"/>
          </a:ln>
        </p:spPr>
      </p:sp>
      <p:sp>
        <p:nvSpPr>
          <p:cNvPr id="7" name="Text 4"/>
          <p:cNvSpPr/>
          <p:nvPr/>
        </p:nvSpPr>
        <p:spPr>
          <a:xfrm>
            <a:off x="4901184" y="1773936"/>
            <a:ext cx="3246120" cy="182880"/>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EQUIPMENT STRATEGY</a:t>
            </a:r>
            <a:endParaRPr lang="en-US" sz="750" dirty="0"/>
          </a:p>
        </p:txBody>
      </p:sp>
      <p:sp>
        <p:nvSpPr>
          <p:cNvPr id="8" name="Text 5"/>
          <p:cNvSpPr/>
          <p:nvPr/>
        </p:nvSpPr>
        <p:spPr>
          <a:xfrm>
            <a:off x="4901184" y="1993392"/>
            <a:ext cx="3246120" cy="1554480"/>
          </a:xfrm>
          <a:prstGeom prst="rect">
            <a:avLst/>
          </a:prstGeom>
          <a:noFill/>
          <a:ln/>
        </p:spPr>
        <p:txBody>
          <a:bodyPr wrap="square" rtlCol="0" anchor="t"/>
          <a:lstStyle/>
          <a:p>
            <a:pPr indent="0" marL="0">
              <a:lnSpc>
                <a:spcPct val="120000"/>
              </a:lnSpc>
              <a:buNone/>
            </a:pPr>
            <a:r>
              <a:rPr lang="en-US" sz="900" dirty="0">
                <a:solidFill>
                  <a:srgbClr val="A8A296"/>
                </a:solidFill>
                <a:latin typeface="Calibri" pitchFamily="34" charset="0"/>
                <a:ea typeface="Calibri" pitchFamily="34" charset="-122"/>
                <a:cs typeface="Calibri" pitchFamily="34" charset="-120"/>
              </a:rPr>
              <a:t>Purchased where payback justifies it, surgical equipment part leased. Wet areas drive cost — plunges, saunas and steam carry a materially higher per-SF buildout than a dry medspa, which is why the lean case trims the contrast suite before it trims treatment rooms.</a:t>
            </a:r>
            <a:endParaRPr lang="en-US" sz="900" dirty="0"/>
          </a:p>
        </p:txBody>
      </p:sp>
      <p:sp>
        <p:nvSpPr>
          <p:cNvPr id="9"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0"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CAPACITY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building can serve the memberships being sold.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Built bottom-up from station hours, not assumed. The circuit bottleneck is the cold plunge, not the sauna; the clinical bottleneck is treatment rooms.</a:t>
            </a:r>
            <a:endParaRPr lang="en-US" sz="1150" dirty="0"/>
          </a:p>
        </p:txBody>
      </p:sp>
      <p:sp>
        <p:nvSpPr>
          <p:cNvPr id="5" name="Shape 3"/>
          <p:cNvSpPr/>
          <p:nvPr/>
        </p:nvSpPr>
        <p:spPr>
          <a:xfrm>
            <a:off x="502920" y="2240280"/>
            <a:ext cx="2602992" cy="1554480"/>
          </a:xfrm>
          <a:prstGeom prst="roundRect">
            <a:avLst>
              <a:gd name="adj" fmla="val 3529"/>
            </a:avLst>
          </a:prstGeom>
          <a:solidFill>
            <a:srgbClr val="241C1A"/>
          </a:solidFill>
          <a:ln w="12700">
            <a:solidFill>
              <a:srgbClr val="C08D7C"/>
            </a:solidFill>
            <a:prstDash val="solid"/>
          </a:ln>
        </p:spPr>
      </p:sp>
      <p:sp>
        <p:nvSpPr>
          <p:cNvPr id="6" name="Text 4"/>
          <p:cNvSpPr/>
          <p:nvPr/>
        </p:nvSpPr>
        <p:spPr>
          <a:xfrm>
            <a:off x="649224"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73%</a:t>
            </a:r>
            <a:endParaRPr lang="en-US" sz="2000" dirty="0"/>
          </a:p>
        </p:txBody>
      </p:sp>
      <p:sp>
        <p:nvSpPr>
          <p:cNvPr id="7" name="Text 5"/>
          <p:cNvSpPr/>
          <p:nvPr/>
        </p:nvSpPr>
        <p:spPr>
          <a:xfrm>
            <a:off x="649224"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Recovery circuit utilization. 2,345 modeled visits against 3,192 practical capacity, leaving 847 visits of headroom.</a:t>
            </a:r>
            <a:endParaRPr lang="en-US" sz="900" dirty="0"/>
          </a:p>
        </p:txBody>
      </p:sp>
      <p:sp>
        <p:nvSpPr>
          <p:cNvPr id="8" name="Shape 6"/>
          <p:cNvSpPr/>
          <p:nvPr/>
        </p:nvSpPr>
        <p:spPr>
          <a:xfrm>
            <a:off x="3270504" y="2240280"/>
            <a:ext cx="2602992" cy="1554480"/>
          </a:xfrm>
          <a:prstGeom prst="roundRect">
            <a:avLst>
              <a:gd name="adj" fmla="val 3529"/>
            </a:avLst>
          </a:prstGeom>
          <a:solidFill>
            <a:srgbClr val="241C1A"/>
          </a:solidFill>
          <a:ln w="12700">
            <a:solidFill>
              <a:srgbClr val="C08D7C"/>
            </a:solidFill>
            <a:prstDash val="solid"/>
          </a:ln>
        </p:spPr>
      </p:sp>
      <p:sp>
        <p:nvSpPr>
          <p:cNvPr id="9" name="Text 7"/>
          <p:cNvSpPr/>
          <p:nvPr/>
        </p:nvSpPr>
        <p:spPr>
          <a:xfrm>
            <a:off x="3416808"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59%</a:t>
            </a:r>
            <a:endParaRPr lang="en-US" sz="2000" dirty="0"/>
          </a:p>
        </p:txBody>
      </p:sp>
      <p:sp>
        <p:nvSpPr>
          <p:cNvPr id="10" name="Text 8"/>
          <p:cNvSpPr/>
          <p:nvPr/>
        </p:nvSpPr>
        <p:spPr>
          <a:xfrm>
            <a:off x="3416808"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Treatment room utilization. 300 procedures against 507 practical capacity, leaving 207 slots of headroom.</a:t>
            </a:r>
            <a:endParaRPr lang="en-US" sz="900" dirty="0"/>
          </a:p>
        </p:txBody>
      </p:sp>
      <p:sp>
        <p:nvSpPr>
          <p:cNvPr id="11" name="Shape 9"/>
          <p:cNvSpPr/>
          <p:nvPr/>
        </p:nvSpPr>
        <p:spPr>
          <a:xfrm>
            <a:off x="6038088" y="2240280"/>
            <a:ext cx="2602992" cy="1554480"/>
          </a:xfrm>
          <a:prstGeom prst="roundRect">
            <a:avLst>
              <a:gd name="adj" fmla="val 3529"/>
            </a:avLst>
          </a:prstGeom>
          <a:solidFill>
            <a:srgbClr val="241C1A"/>
          </a:solidFill>
          <a:ln w="12700">
            <a:solidFill>
              <a:srgbClr val="C08D7C"/>
            </a:solidFill>
            <a:prstDash val="solid"/>
          </a:ln>
        </p:spPr>
      </p:sp>
      <p:sp>
        <p:nvSpPr>
          <p:cNvPr id="12" name="Text 10"/>
          <p:cNvSpPr/>
          <p:nvPr/>
        </p:nvSpPr>
        <p:spPr>
          <a:xfrm>
            <a:off x="6184392"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61%</a:t>
            </a:r>
            <a:endParaRPr lang="en-US" sz="2000" dirty="0"/>
          </a:p>
        </p:txBody>
      </p:sp>
      <p:sp>
        <p:nvSpPr>
          <p:cNvPr id="13" name="Text 11"/>
          <p:cNvSpPr/>
          <p:nvPr/>
        </p:nvSpPr>
        <p:spPr>
          <a:xfrm>
            <a:off x="6184392"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Operating room utilization. 22 cases needing 38.5 hours against 63 practical hours across nine block days, leaving 24.5 hours of headroom.</a:t>
            </a:r>
            <a:endParaRPr lang="en-US" sz="900" dirty="0"/>
          </a:p>
        </p:txBody>
      </p:sp>
      <p:sp>
        <p:nvSpPr>
          <p:cNvPr id="14" name="Text 12"/>
          <p:cNvSpPr/>
          <p:nvPr/>
        </p:nvSpPr>
        <p:spPr>
          <a:xfrm>
            <a:off x="502920" y="3977640"/>
            <a:ext cx="8138160" cy="457200"/>
          </a:xfrm>
          <a:prstGeom prst="rect">
            <a:avLst/>
          </a:prstGeom>
          <a:noFill/>
          <a:ln/>
        </p:spPr>
        <p:txBody>
          <a:bodyPr wrap="square" rtlCol="0" anchor="ctr"/>
          <a:lstStyle/>
          <a:p>
            <a:pPr indent="0" marL="0">
              <a:lnSpc>
                <a:spcPct val="120000"/>
              </a:lnSpc>
              <a:buNone/>
            </a:pPr>
            <a:r>
              <a:rPr lang="en-US" sz="1000" dirty="0">
                <a:solidFill>
                  <a:srgbClr val="6E6A62"/>
                </a:solidFill>
                <a:latin typeface="Calibri" pitchFamily="34" charset="0"/>
                <a:ea typeface="Calibri" pitchFamily="34" charset="-122"/>
                <a:cs typeface="Calibri" pitchFamily="34" charset="-120"/>
              </a:rPr>
              <a:t>Practical capacity applies a utilization ceiling to theoretical station hours, because demand concentrates at peak times and nothing runs flat out. Headroom is the growth the facility can absorb without further capital.</a:t>
            </a:r>
            <a:endParaRPr lang="en-US" sz="10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large, fast, cash-pay category.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 figure carries its source. Anything we could not source was cut rather than estimated.</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Figure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Source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economy, 2024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Institute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medical spa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$27.8B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medical spas, 2023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10,488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consumers calling wellness a top or important priority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McKinsey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concierge medicine market by 2034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$19.4B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Cited in Patientfy longevity market map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adults currently taking a GLP-1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 in 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KFF</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retreats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Research and Markets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CATCHMENT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Playa Vista is the right box on the map.</a:t>
            </a:r>
            <a:endParaRPr lang="en-US" sz="2600" dirty="0"/>
          </a:p>
        </p:txBody>
      </p:sp>
      <p:sp>
        <p:nvSpPr>
          <p:cNvPr id="4" name="Shape 2"/>
          <p:cNvSpPr/>
          <p:nvPr/>
        </p:nvSpPr>
        <p:spPr>
          <a:xfrm>
            <a:off x="502920" y="1463040"/>
            <a:ext cx="2602992" cy="1828800"/>
          </a:xfrm>
          <a:prstGeom prst="roundRect">
            <a:avLst>
              <a:gd name="adj" fmla="val 3000"/>
            </a:avLst>
          </a:prstGeom>
          <a:solidFill>
            <a:srgbClr val="16241C"/>
          </a:solidFill>
          <a:ln w="12700">
            <a:solidFill>
              <a:srgbClr val="2E4237"/>
            </a:solidFill>
            <a:prstDash val="solid"/>
          </a:ln>
        </p:spPr>
      </p:sp>
      <p:sp>
        <p:nvSpPr>
          <p:cNvPr id="5" name="Text 3"/>
          <p:cNvSpPr/>
          <p:nvPr/>
        </p:nvSpPr>
        <p:spPr>
          <a:xfrm>
            <a:off x="649224" y="159105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$129,942</a:t>
            </a:r>
            <a:endParaRPr lang="en-US" sz="2000" dirty="0"/>
          </a:p>
        </p:txBody>
      </p:sp>
      <p:sp>
        <p:nvSpPr>
          <p:cNvPr id="6" name="Text 4"/>
          <p:cNvSpPr/>
          <p:nvPr/>
        </p:nvSpPr>
        <p:spPr>
          <a:xfrm>
            <a:off x="649224" y="2029968"/>
            <a:ext cx="2310384" cy="11338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Playa Vista median household income. Against a Los Angeles County median well below it. This is a cash-pay catchment.  (US Census Bureau, via Point2Homes)</a:t>
            </a:r>
            <a:endParaRPr lang="en-US" sz="900" dirty="0"/>
          </a:p>
        </p:txBody>
      </p:sp>
      <p:sp>
        <p:nvSpPr>
          <p:cNvPr id="7" name="Shape 5"/>
          <p:cNvSpPr/>
          <p:nvPr/>
        </p:nvSpPr>
        <p:spPr>
          <a:xfrm>
            <a:off x="3270504" y="1463040"/>
            <a:ext cx="2602992" cy="1828800"/>
          </a:xfrm>
          <a:prstGeom prst="roundRect">
            <a:avLst>
              <a:gd name="adj" fmla="val 3000"/>
            </a:avLst>
          </a:prstGeom>
          <a:solidFill>
            <a:srgbClr val="16241C"/>
          </a:solidFill>
          <a:ln w="12700">
            <a:solidFill>
              <a:srgbClr val="2E4237"/>
            </a:solidFill>
            <a:prstDash val="solid"/>
          </a:ln>
        </p:spPr>
      </p:sp>
      <p:sp>
        <p:nvSpPr>
          <p:cNvPr id="8" name="Text 6"/>
          <p:cNvSpPr/>
          <p:nvPr/>
        </p:nvSpPr>
        <p:spPr>
          <a:xfrm>
            <a:off x="3416808" y="159105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500+</a:t>
            </a:r>
            <a:endParaRPr lang="en-US" sz="2000" dirty="0"/>
          </a:p>
        </p:txBody>
      </p:sp>
      <p:sp>
        <p:nvSpPr>
          <p:cNvPr id="9" name="Text 7"/>
          <p:cNvSpPr/>
          <p:nvPr/>
        </p:nvSpPr>
        <p:spPr>
          <a:xfrm>
            <a:off x="3416808" y="2029968"/>
            <a:ext cx="2310384" cy="11338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Technology companies in Silicon Beach. The Westside tech corridor that Playa Vista sits at the center of.  (Wikipedia, Silicon Beach)</a:t>
            </a:r>
            <a:endParaRPr lang="en-US" sz="900" dirty="0"/>
          </a:p>
        </p:txBody>
      </p:sp>
      <p:sp>
        <p:nvSpPr>
          <p:cNvPr id="10" name="Shape 8"/>
          <p:cNvSpPr/>
          <p:nvPr/>
        </p:nvSpPr>
        <p:spPr>
          <a:xfrm>
            <a:off x="6038088" y="1463040"/>
            <a:ext cx="2602992" cy="1828800"/>
          </a:xfrm>
          <a:prstGeom prst="roundRect">
            <a:avLst>
              <a:gd name="adj" fmla="val 3000"/>
            </a:avLst>
          </a:prstGeom>
          <a:solidFill>
            <a:srgbClr val="16241C"/>
          </a:solidFill>
          <a:ln w="12700">
            <a:solidFill>
              <a:srgbClr val="2E4237"/>
            </a:solidFill>
            <a:prstDash val="solid"/>
          </a:ln>
        </p:spPr>
      </p:sp>
      <p:sp>
        <p:nvSpPr>
          <p:cNvPr id="11" name="Text 9"/>
          <p:cNvSpPr/>
          <p:nvPr/>
        </p:nvSpPr>
        <p:spPr>
          <a:xfrm>
            <a:off x="6184392" y="159105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~5,100</a:t>
            </a:r>
            <a:endParaRPr lang="en-US" sz="2000" dirty="0"/>
          </a:p>
        </p:txBody>
      </p:sp>
      <p:sp>
        <p:nvSpPr>
          <p:cNvPr id="12" name="Text 10"/>
          <p:cNvSpPr/>
          <p:nvPr/>
        </p:nvSpPr>
        <p:spPr>
          <a:xfrm>
            <a:off x="6184392" y="2029968"/>
            <a:ext cx="2310384" cy="11338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Employed at The Campus at Playa Vista. Up from roughly 2,000 in 2015, a 150% increase. A dense, high-income daytime population inside walking distance.  (Los Angeles Business Journal)</a:t>
            </a:r>
            <a:endParaRPr lang="en-US" sz="900" dirty="0"/>
          </a:p>
        </p:txBody>
      </p:sp>
      <p:sp>
        <p:nvSpPr>
          <p:cNvPr id="13" name="Text 11"/>
          <p:cNvSpPr/>
          <p:nvPr/>
        </p:nvSpPr>
        <p:spPr>
          <a:xfrm>
            <a:off x="502920" y="3520440"/>
            <a:ext cx="8138160"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INSIDE A REALISTIC DRIVE TIME</a:t>
            </a:r>
            <a:endParaRPr lang="en-US" sz="850" dirty="0"/>
          </a:p>
        </p:txBody>
      </p:sp>
      <p:sp>
        <p:nvSpPr>
          <p:cNvPr id="14" name="Text 12"/>
          <p:cNvSpPr/>
          <p:nvPr/>
        </p:nvSpPr>
        <p:spPr>
          <a:xfrm>
            <a:off x="502920" y="3749040"/>
            <a:ext cx="8138160" cy="457200"/>
          </a:xfrm>
          <a:prstGeom prst="rect">
            <a:avLst/>
          </a:prstGeom>
          <a:noFill/>
          <a:ln/>
        </p:spPr>
        <p:txBody>
          <a:bodyPr wrap="square" rtlCol="0" anchor="ctr"/>
          <a:lstStyle/>
          <a:p>
            <a:pPr indent="0" marL="0">
              <a:lnSpc>
                <a:spcPct val="120000"/>
              </a:lnSpc>
              <a:buNone/>
            </a:pPr>
            <a:r>
              <a:rPr lang="en-US" sz="1100" dirty="0">
                <a:solidFill>
                  <a:srgbClr val="A8A296"/>
                </a:solidFill>
                <a:latin typeface="Calibri" pitchFamily="34" charset="0"/>
                <a:ea typeface="Calibri" pitchFamily="34" charset="-122"/>
                <a:cs typeface="Calibri" pitchFamily="34" charset="-120"/>
              </a:rPr>
              <a:t>Playa Vista   ·   Marina del Rey   ·   Culver City   ·   Venice   ·   Santa Monica   ·   Playa del Rey   ·   El Segundo   ·   Westchester   ·   Mar Vista   ·   Manhattan Beach</a:t>
            </a:r>
            <a:endParaRPr lang="en-US" sz="11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Seventeen wellness lines, every one cash-pay.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No insurance contracts, no payer mix, no receivables aging. Price is the midpoint of a stated band.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331720"/>
                <a:gridCol w="1234440"/>
                <a:gridCol w="868680"/>
                <a:gridCol w="777240"/>
                <a:gridCol w="1097280"/>
                <a:gridCol w="13716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Red Light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Injections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$57,500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Compression / NeuFit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Hormone / Peptide / GLP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IV Therapy (NAD+ / Drips)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Botox &amp; Fillers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Laser Platform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Advanced Biometrics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Morpheus8 RF Microneedling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$35,040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DNA Analysis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Emsculpt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$29,250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DUTCH Testing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CoolSculpting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DEXA Scan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Wellness delivery at rack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1,055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$419,230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Seven surgical lines, also cash-pay.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Elective self-pay only. No payer contracts on the surgical side either, which is the direct result of holding the menu to the sedation ceiling.</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331720"/>
                <a:gridCol w="1234440"/>
                <a:gridCol w="868680"/>
                <a:gridCol w="777240"/>
                <a:gridCol w="1097280"/>
                <a:gridCol w="13716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Blepharoplasty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$43,750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Facial Contouring 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Awake Liposuction &amp; Body Contouring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Fat Grafting &amp; Transfer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Hair Restoration 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Office Surgical Procedures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$26,400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Ablative Laser &amp; Skin Tightening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$21,250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Surgical delivery at rack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$214,150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3429000"/>
            <a:ext cx="8138160" cy="54864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Only the four operating-room lines consume the OR. Hair restoration, ablative laser and office excisions run under local in the treatment rooms the clinic already has, which is what holds the surgical suite to 900 square feet with no dedicated procedure room.</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REVENUE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Membership revenue is not additive.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easy mistake is to stack membership fees on top of full a la carte revenue. Members draw down a credit bank against services that would otherwise be paid at rack rate, so redemption is netted out first.</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Build</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Service delivery at rack value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$633,380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credit redemption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-$129,500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and Friends discount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-$40,310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A la carte revenue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$463,570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membership fees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day pass and access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$20,625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 REVENUE PER MONTH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$714,195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11480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Residents and Longevity members pay $207,500 a month and redeem $129,500 of service at retail. Redemption ratio 62.4%. If that exceeded 100% the credit bank would be underpriced; the model asserts it cannot.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RAMP</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Breakeven at month 13.</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Months one through six are construction and founding presales. Debt service is interest-only through construction and the ramp, then amortizes.</a:t>
            </a:r>
            <a:endParaRPr lang="en-US" sz="1150" dirty="0"/>
          </a:p>
        </p:txBody>
      </p:sp>
      <p:sp>
        <p:nvSpPr>
          <p:cNvPr id="5" name="Shape 3"/>
          <p:cNvSpPr/>
          <p:nvPr/>
        </p:nvSpPr>
        <p:spPr>
          <a:xfrm>
            <a:off x="502920" y="1572768"/>
            <a:ext cx="8138160" cy="2377440"/>
          </a:xfrm>
          <a:prstGeom prst="rect">
            <a:avLst/>
          </a:prstGeom>
          <a:solidFill>
            <a:srgbClr val="000000"/>
          </a:solidFill>
          <a:ln w="9525">
            <a:solidFill>
              <a:srgbClr val="2E4237"/>
            </a:solidFill>
            <a:prstDash val="solid"/>
          </a:ln>
        </p:spPr>
      </p:sp>
      <p:sp>
        <p:nvSpPr>
          <p:cNvPr id="6" name="Shape 4"/>
          <p:cNvSpPr/>
          <p:nvPr/>
        </p:nvSpPr>
        <p:spPr>
          <a:xfrm>
            <a:off x="502920" y="2696944"/>
            <a:ext cx="8138160" cy="10973"/>
          </a:xfrm>
          <a:prstGeom prst="rect">
            <a:avLst/>
          </a:prstGeom>
          <a:solidFill>
            <a:srgbClr val="2E4237"/>
          </a:solidFill>
          <a:ln w="12700">
            <a:solidFill>
              <a:srgbClr val="2E4237"/>
            </a:solidFill>
            <a:prstDash val="solid"/>
          </a:ln>
        </p:spPr>
      </p:sp>
      <p:sp>
        <p:nvSpPr>
          <p:cNvPr id="7" name="Shape 5"/>
          <p:cNvSpPr/>
          <p:nvPr/>
        </p:nvSpPr>
        <p:spPr>
          <a:xfrm>
            <a:off x="539090" y="2696944"/>
            <a:ext cx="153721" cy="904836"/>
          </a:xfrm>
          <a:prstGeom prst="rect">
            <a:avLst/>
          </a:prstGeom>
          <a:solidFill>
            <a:srgbClr val="2E4237"/>
          </a:solidFill>
          <a:ln w="12700">
            <a:solidFill>
              <a:srgbClr val="2E4237"/>
            </a:solidFill>
            <a:prstDash val="solid"/>
          </a:ln>
        </p:spPr>
      </p:sp>
      <p:sp>
        <p:nvSpPr>
          <p:cNvPr id="8" name="Shape 6"/>
          <p:cNvSpPr/>
          <p:nvPr/>
        </p:nvSpPr>
        <p:spPr>
          <a:xfrm>
            <a:off x="765150" y="2696944"/>
            <a:ext cx="153721" cy="904836"/>
          </a:xfrm>
          <a:prstGeom prst="rect">
            <a:avLst/>
          </a:prstGeom>
          <a:solidFill>
            <a:srgbClr val="2E4237"/>
          </a:solidFill>
          <a:ln w="12700">
            <a:solidFill>
              <a:srgbClr val="2E4237"/>
            </a:solidFill>
            <a:prstDash val="solid"/>
          </a:ln>
        </p:spPr>
      </p:sp>
      <p:sp>
        <p:nvSpPr>
          <p:cNvPr id="9" name="Shape 7"/>
          <p:cNvSpPr/>
          <p:nvPr/>
        </p:nvSpPr>
        <p:spPr>
          <a:xfrm>
            <a:off x="991210" y="2696944"/>
            <a:ext cx="153721" cy="904836"/>
          </a:xfrm>
          <a:prstGeom prst="rect">
            <a:avLst/>
          </a:prstGeom>
          <a:solidFill>
            <a:srgbClr val="2E4237"/>
          </a:solidFill>
          <a:ln w="12700">
            <a:solidFill>
              <a:srgbClr val="2E4237"/>
            </a:solidFill>
            <a:prstDash val="solid"/>
          </a:ln>
        </p:spPr>
      </p:sp>
      <p:sp>
        <p:nvSpPr>
          <p:cNvPr id="10" name="Shape 8"/>
          <p:cNvSpPr/>
          <p:nvPr/>
        </p:nvSpPr>
        <p:spPr>
          <a:xfrm>
            <a:off x="1217270" y="2696944"/>
            <a:ext cx="153721" cy="904836"/>
          </a:xfrm>
          <a:prstGeom prst="rect">
            <a:avLst/>
          </a:prstGeom>
          <a:solidFill>
            <a:srgbClr val="2E4237"/>
          </a:solidFill>
          <a:ln w="12700">
            <a:solidFill>
              <a:srgbClr val="2E4237"/>
            </a:solidFill>
            <a:prstDash val="solid"/>
          </a:ln>
        </p:spPr>
      </p:sp>
      <p:sp>
        <p:nvSpPr>
          <p:cNvPr id="11" name="Shape 9"/>
          <p:cNvSpPr/>
          <p:nvPr/>
        </p:nvSpPr>
        <p:spPr>
          <a:xfrm>
            <a:off x="1443330" y="2696944"/>
            <a:ext cx="153721" cy="904836"/>
          </a:xfrm>
          <a:prstGeom prst="rect">
            <a:avLst/>
          </a:prstGeom>
          <a:solidFill>
            <a:srgbClr val="2E4237"/>
          </a:solidFill>
          <a:ln w="12700">
            <a:solidFill>
              <a:srgbClr val="2E4237"/>
            </a:solidFill>
            <a:prstDash val="solid"/>
          </a:ln>
        </p:spPr>
      </p:sp>
      <p:sp>
        <p:nvSpPr>
          <p:cNvPr id="12" name="Shape 10"/>
          <p:cNvSpPr/>
          <p:nvPr/>
        </p:nvSpPr>
        <p:spPr>
          <a:xfrm>
            <a:off x="1669390" y="2696944"/>
            <a:ext cx="153721" cy="904836"/>
          </a:xfrm>
          <a:prstGeom prst="rect">
            <a:avLst/>
          </a:prstGeom>
          <a:solidFill>
            <a:srgbClr val="2E4237"/>
          </a:solidFill>
          <a:ln w="12700">
            <a:solidFill>
              <a:srgbClr val="2E4237"/>
            </a:solidFill>
            <a:prstDash val="solid"/>
          </a:ln>
        </p:spPr>
      </p:sp>
      <p:sp>
        <p:nvSpPr>
          <p:cNvPr id="13" name="Text 11"/>
          <p:cNvSpPr/>
          <p:nvPr/>
        </p:nvSpPr>
        <p:spPr>
          <a:xfrm>
            <a:off x="14433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M6</a:t>
            </a:r>
            <a:endParaRPr lang="en-US" sz="700" dirty="0"/>
          </a:p>
        </p:txBody>
      </p:sp>
      <p:sp>
        <p:nvSpPr>
          <p:cNvPr id="14" name="Shape 12"/>
          <p:cNvSpPr/>
          <p:nvPr/>
        </p:nvSpPr>
        <p:spPr>
          <a:xfrm>
            <a:off x="1895450" y="2696944"/>
            <a:ext cx="153721" cy="1253264"/>
          </a:xfrm>
          <a:prstGeom prst="rect">
            <a:avLst/>
          </a:prstGeom>
          <a:solidFill>
            <a:srgbClr val="2E4237"/>
          </a:solidFill>
          <a:ln w="12700">
            <a:solidFill>
              <a:srgbClr val="2E4237"/>
            </a:solidFill>
            <a:prstDash val="solid"/>
          </a:ln>
        </p:spPr>
      </p:sp>
      <p:sp>
        <p:nvSpPr>
          <p:cNvPr id="15" name="Shape 13"/>
          <p:cNvSpPr/>
          <p:nvPr/>
        </p:nvSpPr>
        <p:spPr>
          <a:xfrm>
            <a:off x="2121510" y="2696944"/>
            <a:ext cx="153721" cy="993601"/>
          </a:xfrm>
          <a:prstGeom prst="rect">
            <a:avLst/>
          </a:prstGeom>
          <a:solidFill>
            <a:srgbClr val="2E4237"/>
          </a:solidFill>
          <a:ln w="12700">
            <a:solidFill>
              <a:srgbClr val="2E4237"/>
            </a:solidFill>
            <a:prstDash val="solid"/>
          </a:ln>
        </p:spPr>
      </p:sp>
      <p:sp>
        <p:nvSpPr>
          <p:cNvPr id="16" name="Shape 14"/>
          <p:cNvSpPr/>
          <p:nvPr/>
        </p:nvSpPr>
        <p:spPr>
          <a:xfrm>
            <a:off x="2347570" y="2696944"/>
            <a:ext cx="153721" cy="696850"/>
          </a:xfrm>
          <a:prstGeom prst="rect">
            <a:avLst/>
          </a:prstGeom>
          <a:solidFill>
            <a:srgbClr val="2E4237"/>
          </a:solidFill>
          <a:ln w="12700">
            <a:solidFill>
              <a:srgbClr val="2E4237"/>
            </a:solidFill>
            <a:prstDash val="solid"/>
          </a:ln>
        </p:spPr>
      </p:sp>
      <p:sp>
        <p:nvSpPr>
          <p:cNvPr id="17" name="Shape 15"/>
          <p:cNvSpPr/>
          <p:nvPr/>
        </p:nvSpPr>
        <p:spPr>
          <a:xfrm>
            <a:off x="2573630" y="2696944"/>
            <a:ext cx="153721" cy="474282"/>
          </a:xfrm>
          <a:prstGeom prst="rect">
            <a:avLst/>
          </a:prstGeom>
          <a:solidFill>
            <a:srgbClr val="2E4237"/>
          </a:solidFill>
          <a:ln w="12700">
            <a:solidFill>
              <a:srgbClr val="2E4237"/>
            </a:solidFill>
            <a:prstDash val="solid"/>
          </a:ln>
        </p:spPr>
      </p:sp>
      <p:sp>
        <p:nvSpPr>
          <p:cNvPr id="18" name="Shape 16"/>
          <p:cNvSpPr/>
          <p:nvPr/>
        </p:nvSpPr>
        <p:spPr>
          <a:xfrm>
            <a:off x="2799690" y="2696944"/>
            <a:ext cx="153721" cy="251715"/>
          </a:xfrm>
          <a:prstGeom prst="rect">
            <a:avLst/>
          </a:prstGeom>
          <a:solidFill>
            <a:srgbClr val="2E4237"/>
          </a:solidFill>
          <a:ln w="12700">
            <a:solidFill>
              <a:srgbClr val="2E4237"/>
            </a:solidFill>
            <a:prstDash val="solid"/>
          </a:ln>
        </p:spPr>
      </p:sp>
      <p:sp>
        <p:nvSpPr>
          <p:cNvPr id="19" name="Shape 17"/>
          <p:cNvSpPr/>
          <p:nvPr/>
        </p:nvSpPr>
        <p:spPr>
          <a:xfrm>
            <a:off x="3025750" y="2696944"/>
            <a:ext cx="153721" cy="29155"/>
          </a:xfrm>
          <a:prstGeom prst="rect">
            <a:avLst/>
          </a:prstGeom>
          <a:solidFill>
            <a:srgbClr val="2E4237"/>
          </a:solidFill>
          <a:ln w="12700">
            <a:solidFill>
              <a:srgbClr val="2E4237"/>
            </a:solidFill>
            <a:prstDash val="solid"/>
          </a:ln>
        </p:spPr>
      </p:sp>
      <p:sp>
        <p:nvSpPr>
          <p:cNvPr id="20" name="Text 18"/>
          <p:cNvSpPr/>
          <p:nvPr/>
        </p:nvSpPr>
        <p:spPr>
          <a:xfrm>
            <a:off x="279969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M12</a:t>
            </a:r>
            <a:endParaRPr lang="en-US" sz="700" dirty="0"/>
          </a:p>
        </p:txBody>
      </p:sp>
      <p:sp>
        <p:nvSpPr>
          <p:cNvPr id="21" name="Shape 19"/>
          <p:cNvSpPr/>
          <p:nvPr/>
        </p:nvSpPr>
        <p:spPr>
          <a:xfrm>
            <a:off x="3251810" y="2503531"/>
            <a:ext cx="153721" cy="193413"/>
          </a:xfrm>
          <a:prstGeom prst="rect">
            <a:avLst/>
          </a:prstGeom>
          <a:solidFill>
            <a:srgbClr val="C08D7C"/>
          </a:solidFill>
          <a:ln w="12700">
            <a:solidFill>
              <a:srgbClr val="C08D7C"/>
            </a:solidFill>
            <a:prstDash val="solid"/>
          </a:ln>
        </p:spPr>
      </p:sp>
      <p:sp>
        <p:nvSpPr>
          <p:cNvPr id="22" name="Shape 20"/>
          <p:cNvSpPr/>
          <p:nvPr/>
        </p:nvSpPr>
        <p:spPr>
          <a:xfrm>
            <a:off x="3477870" y="2355155"/>
            <a:ext cx="153721" cy="341788"/>
          </a:xfrm>
          <a:prstGeom prst="rect">
            <a:avLst/>
          </a:prstGeom>
          <a:solidFill>
            <a:srgbClr val="C08D7C"/>
          </a:solidFill>
          <a:ln w="12700">
            <a:solidFill>
              <a:srgbClr val="C08D7C"/>
            </a:solidFill>
            <a:prstDash val="solid"/>
          </a:ln>
        </p:spPr>
      </p:sp>
      <p:sp>
        <p:nvSpPr>
          <p:cNvPr id="23" name="Shape 21"/>
          <p:cNvSpPr/>
          <p:nvPr/>
        </p:nvSpPr>
        <p:spPr>
          <a:xfrm>
            <a:off x="3703930" y="2206772"/>
            <a:ext cx="153721" cy="490171"/>
          </a:xfrm>
          <a:prstGeom prst="rect">
            <a:avLst/>
          </a:prstGeom>
          <a:solidFill>
            <a:srgbClr val="C08D7C"/>
          </a:solidFill>
          <a:ln w="12700">
            <a:solidFill>
              <a:srgbClr val="C08D7C"/>
            </a:solidFill>
            <a:prstDash val="solid"/>
          </a:ln>
        </p:spPr>
      </p:sp>
      <p:sp>
        <p:nvSpPr>
          <p:cNvPr id="24" name="Shape 22"/>
          <p:cNvSpPr/>
          <p:nvPr/>
        </p:nvSpPr>
        <p:spPr>
          <a:xfrm>
            <a:off x="3929990" y="2058397"/>
            <a:ext cx="153721" cy="638547"/>
          </a:xfrm>
          <a:prstGeom prst="rect">
            <a:avLst/>
          </a:prstGeom>
          <a:solidFill>
            <a:srgbClr val="C08D7C"/>
          </a:solidFill>
          <a:ln w="12700">
            <a:solidFill>
              <a:srgbClr val="C08D7C"/>
            </a:solidFill>
            <a:prstDash val="solid"/>
          </a:ln>
        </p:spPr>
      </p:sp>
      <p:sp>
        <p:nvSpPr>
          <p:cNvPr id="25" name="Shape 23"/>
          <p:cNvSpPr/>
          <p:nvPr/>
        </p:nvSpPr>
        <p:spPr>
          <a:xfrm>
            <a:off x="4156050" y="1910021"/>
            <a:ext cx="153721" cy="786923"/>
          </a:xfrm>
          <a:prstGeom prst="rect">
            <a:avLst/>
          </a:prstGeom>
          <a:solidFill>
            <a:srgbClr val="C08D7C"/>
          </a:solidFill>
          <a:ln w="12700">
            <a:solidFill>
              <a:srgbClr val="C08D7C"/>
            </a:solidFill>
            <a:prstDash val="solid"/>
          </a:ln>
        </p:spPr>
      </p:sp>
      <p:sp>
        <p:nvSpPr>
          <p:cNvPr id="26" name="Shape 24"/>
          <p:cNvSpPr/>
          <p:nvPr/>
        </p:nvSpPr>
        <p:spPr>
          <a:xfrm>
            <a:off x="4382110" y="1876295"/>
            <a:ext cx="153721" cy="820649"/>
          </a:xfrm>
          <a:prstGeom prst="rect">
            <a:avLst/>
          </a:prstGeom>
          <a:solidFill>
            <a:srgbClr val="C08D7C"/>
          </a:solidFill>
          <a:ln w="12700">
            <a:solidFill>
              <a:srgbClr val="C08D7C"/>
            </a:solidFill>
            <a:prstDash val="solid"/>
          </a:ln>
        </p:spPr>
      </p:sp>
      <p:sp>
        <p:nvSpPr>
          <p:cNvPr id="27" name="Text 25"/>
          <p:cNvSpPr/>
          <p:nvPr/>
        </p:nvSpPr>
        <p:spPr>
          <a:xfrm>
            <a:off x="415605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M18</a:t>
            </a:r>
            <a:endParaRPr lang="en-US" sz="700" dirty="0"/>
          </a:p>
        </p:txBody>
      </p:sp>
      <p:sp>
        <p:nvSpPr>
          <p:cNvPr id="28" name="Shape 26"/>
          <p:cNvSpPr/>
          <p:nvPr/>
        </p:nvSpPr>
        <p:spPr>
          <a:xfrm>
            <a:off x="4608170" y="1842569"/>
            <a:ext cx="153721" cy="854375"/>
          </a:xfrm>
          <a:prstGeom prst="rect">
            <a:avLst/>
          </a:prstGeom>
          <a:solidFill>
            <a:srgbClr val="C08D7C"/>
          </a:solidFill>
          <a:ln w="12700">
            <a:solidFill>
              <a:srgbClr val="C08D7C"/>
            </a:solidFill>
            <a:prstDash val="solid"/>
          </a:ln>
        </p:spPr>
      </p:sp>
      <p:sp>
        <p:nvSpPr>
          <p:cNvPr id="29" name="Shape 27"/>
          <p:cNvSpPr/>
          <p:nvPr/>
        </p:nvSpPr>
        <p:spPr>
          <a:xfrm>
            <a:off x="4834230" y="1808843"/>
            <a:ext cx="153721" cy="888101"/>
          </a:xfrm>
          <a:prstGeom prst="rect">
            <a:avLst/>
          </a:prstGeom>
          <a:solidFill>
            <a:srgbClr val="C08D7C"/>
          </a:solidFill>
          <a:ln w="12700">
            <a:solidFill>
              <a:srgbClr val="C08D7C"/>
            </a:solidFill>
            <a:prstDash val="solid"/>
          </a:ln>
        </p:spPr>
      </p:sp>
      <p:sp>
        <p:nvSpPr>
          <p:cNvPr id="30" name="Shape 28"/>
          <p:cNvSpPr/>
          <p:nvPr/>
        </p:nvSpPr>
        <p:spPr>
          <a:xfrm>
            <a:off x="5060290" y="1775117"/>
            <a:ext cx="153721" cy="921827"/>
          </a:xfrm>
          <a:prstGeom prst="rect">
            <a:avLst/>
          </a:prstGeom>
          <a:solidFill>
            <a:srgbClr val="C08D7C"/>
          </a:solidFill>
          <a:ln w="12700">
            <a:solidFill>
              <a:srgbClr val="C08D7C"/>
            </a:solidFill>
            <a:prstDash val="solid"/>
          </a:ln>
        </p:spPr>
      </p:sp>
      <p:sp>
        <p:nvSpPr>
          <p:cNvPr id="31" name="Shape 29"/>
          <p:cNvSpPr/>
          <p:nvPr/>
        </p:nvSpPr>
        <p:spPr>
          <a:xfrm>
            <a:off x="5286350" y="1741398"/>
            <a:ext cx="153721" cy="955546"/>
          </a:xfrm>
          <a:prstGeom prst="rect">
            <a:avLst/>
          </a:prstGeom>
          <a:solidFill>
            <a:srgbClr val="C08D7C"/>
          </a:solidFill>
          <a:ln w="12700">
            <a:solidFill>
              <a:srgbClr val="C08D7C"/>
            </a:solidFill>
            <a:prstDash val="solid"/>
          </a:ln>
        </p:spPr>
      </p:sp>
      <p:sp>
        <p:nvSpPr>
          <p:cNvPr id="32" name="Shape 30"/>
          <p:cNvSpPr/>
          <p:nvPr/>
        </p:nvSpPr>
        <p:spPr>
          <a:xfrm>
            <a:off x="5512410" y="1718912"/>
            <a:ext cx="153721" cy="978032"/>
          </a:xfrm>
          <a:prstGeom prst="rect">
            <a:avLst/>
          </a:prstGeom>
          <a:solidFill>
            <a:srgbClr val="C08D7C"/>
          </a:solidFill>
          <a:ln w="12700">
            <a:solidFill>
              <a:srgbClr val="C08D7C"/>
            </a:solidFill>
            <a:prstDash val="solid"/>
          </a:ln>
        </p:spPr>
      </p:sp>
      <p:sp>
        <p:nvSpPr>
          <p:cNvPr id="33" name="Shape 31"/>
          <p:cNvSpPr/>
          <p:nvPr/>
        </p:nvSpPr>
        <p:spPr>
          <a:xfrm>
            <a:off x="5738470" y="1696425"/>
            <a:ext cx="153721" cy="1000519"/>
          </a:xfrm>
          <a:prstGeom prst="rect">
            <a:avLst/>
          </a:prstGeom>
          <a:solidFill>
            <a:srgbClr val="C08D7C"/>
          </a:solidFill>
          <a:ln w="12700">
            <a:solidFill>
              <a:srgbClr val="C08D7C"/>
            </a:solidFill>
            <a:prstDash val="solid"/>
          </a:ln>
        </p:spPr>
      </p:sp>
      <p:sp>
        <p:nvSpPr>
          <p:cNvPr id="34" name="Text 32"/>
          <p:cNvSpPr/>
          <p:nvPr/>
        </p:nvSpPr>
        <p:spPr>
          <a:xfrm>
            <a:off x="551241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M24</a:t>
            </a:r>
            <a:endParaRPr lang="en-US" sz="700" dirty="0"/>
          </a:p>
        </p:txBody>
      </p:sp>
      <p:sp>
        <p:nvSpPr>
          <p:cNvPr id="35" name="Shape 33"/>
          <p:cNvSpPr/>
          <p:nvPr/>
        </p:nvSpPr>
        <p:spPr>
          <a:xfrm>
            <a:off x="5964530" y="1673946"/>
            <a:ext cx="153721" cy="1022998"/>
          </a:xfrm>
          <a:prstGeom prst="rect">
            <a:avLst/>
          </a:prstGeom>
          <a:solidFill>
            <a:srgbClr val="C08D7C"/>
          </a:solidFill>
          <a:ln w="12700">
            <a:solidFill>
              <a:srgbClr val="C08D7C"/>
            </a:solidFill>
            <a:prstDash val="solid"/>
          </a:ln>
        </p:spPr>
      </p:sp>
      <p:sp>
        <p:nvSpPr>
          <p:cNvPr id="36" name="Shape 34"/>
          <p:cNvSpPr/>
          <p:nvPr/>
        </p:nvSpPr>
        <p:spPr>
          <a:xfrm>
            <a:off x="6190590" y="1651460"/>
            <a:ext cx="153721" cy="1045484"/>
          </a:xfrm>
          <a:prstGeom prst="rect">
            <a:avLst/>
          </a:prstGeom>
          <a:solidFill>
            <a:srgbClr val="C08D7C"/>
          </a:solidFill>
          <a:ln w="12700">
            <a:solidFill>
              <a:srgbClr val="C08D7C"/>
            </a:solidFill>
            <a:prstDash val="solid"/>
          </a:ln>
        </p:spPr>
      </p:sp>
      <p:sp>
        <p:nvSpPr>
          <p:cNvPr id="37" name="Shape 35"/>
          <p:cNvSpPr/>
          <p:nvPr/>
        </p:nvSpPr>
        <p:spPr>
          <a:xfrm>
            <a:off x="6416650" y="1640220"/>
            <a:ext cx="153721" cy="1056724"/>
          </a:xfrm>
          <a:prstGeom prst="rect">
            <a:avLst/>
          </a:prstGeom>
          <a:solidFill>
            <a:srgbClr val="C08D7C"/>
          </a:solidFill>
          <a:ln w="12700">
            <a:solidFill>
              <a:srgbClr val="C08D7C"/>
            </a:solidFill>
            <a:prstDash val="solid"/>
          </a:ln>
        </p:spPr>
      </p:sp>
      <p:sp>
        <p:nvSpPr>
          <p:cNvPr id="38" name="Shape 36"/>
          <p:cNvSpPr/>
          <p:nvPr/>
        </p:nvSpPr>
        <p:spPr>
          <a:xfrm>
            <a:off x="6642710" y="1617734"/>
            <a:ext cx="153721" cy="1079210"/>
          </a:xfrm>
          <a:prstGeom prst="rect">
            <a:avLst/>
          </a:prstGeom>
          <a:solidFill>
            <a:srgbClr val="C08D7C"/>
          </a:solidFill>
          <a:ln w="12700">
            <a:solidFill>
              <a:srgbClr val="C08D7C"/>
            </a:solidFill>
            <a:prstDash val="solid"/>
          </a:ln>
        </p:spPr>
      </p:sp>
      <p:sp>
        <p:nvSpPr>
          <p:cNvPr id="39" name="Shape 37"/>
          <p:cNvSpPr/>
          <p:nvPr/>
        </p:nvSpPr>
        <p:spPr>
          <a:xfrm>
            <a:off x="6868770" y="1606494"/>
            <a:ext cx="153721" cy="1090450"/>
          </a:xfrm>
          <a:prstGeom prst="rect">
            <a:avLst/>
          </a:prstGeom>
          <a:solidFill>
            <a:srgbClr val="C08D7C"/>
          </a:solidFill>
          <a:ln w="12700">
            <a:solidFill>
              <a:srgbClr val="C08D7C"/>
            </a:solidFill>
            <a:prstDash val="solid"/>
          </a:ln>
        </p:spPr>
      </p:sp>
      <p:sp>
        <p:nvSpPr>
          <p:cNvPr id="40" name="Shape 38"/>
          <p:cNvSpPr/>
          <p:nvPr/>
        </p:nvSpPr>
        <p:spPr>
          <a:xfrm>
            <a:off x="7094830" y="1595254"/>
            <a:ext cx="153721" cy="1101689"/>
          </a:xfrm>
          <a:prstGeom prst="rect">
            <a:avLst/>
          </a:prstGeom>
          <a:solidFill>
            <a:srgbClr val="C08D7C"/>
          </a:solidFill>
          <a:ln w="12700">
            <a:solidFill>
              <a:srgbClr val="C08D7C"/>
            </a:solidFill>
            <a:prstDash val="solid"/>
          </a:ln>
        </p:spPr>
      </p:sp>
      <p:sp>
        <p:nvSpPr>
          <p:cNvPr id="41" name="Text 39"/>
          <p:cNvSpPr/>
          <p:nvPr/>
        </p:nvSpPr>
        <p:spPr>
          <a:xfrm>
            <a:off x="686877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M30</a:t>
            </a:r>
            <a:endParaRPr lang="en-US" sz="700" dirty="0"/>
          </a:p>
        </p:txBody>
      </p:sp>
      <p:sp>
        <p:nvSpPr>
          <p:cNvPr id="42" name="Shape 40"/>
          <p:cNvSpPr/>
          <p:nvPr/>
        </p:nvSpPr>
        <p:spPr>
          <a:xfrm>
            <a:off x="7320890" y="1584008"/>
            <a:ext cx="153721" cy="1112936"/>
          </a:xfrm>
          <a:prstGeom prst="rect">
            <a:avLst/>
          </a:prstGeom>
          <a:solidFill>
            <a:srgbClr val="C08D7C"/>
          </a:solidFill>
          <a:ln w="12700">
            <a:solidFill>
              <a:srgbClr val="C08D7C"/>
            </a:solidFill>
            <a:prstDash val="solid"/>
          </a:ln>
        </p:spPr>
      </p:sp>
      <p:sp>
        <p:nvSpPr>
          <p:cNvPr id="43" name="Shape 41"/>
          <p:cNvSpPr/>
          <p:nvPr/>
        </p:nvSpPr>
        <p:spPr>
          <a:xfrm>
            <a:off x="7546950" y="1572768"/>
            <a:ext cx="153721" cy="1124176"/>
          </a:xfrm>
          <a:prstGeom prst="rect">
            <a:avLst/>
          </a:prstGeom>
          <a:solidFill>
            <a:srgbClr val="C08D7C"/>
          </a:solidFill>
          <a:ln w="12700">
            <a:solidFill>
              <a:srgbClr val="C08D7C"/>
            </a:solidFill>
            <a:prstDash val="solid"/>
          </a:ln>
        </p:spPr>
      </p:sp>
      <p:sp>
        <p:nvSpPr>
          <p:cNvPr id="44" name="Shape 42"/>
          <p:cNvSpPr/>
          <p:nvPr/>
        </p:nvSpPr>
        <p:spPr>
          <a:xfrm>
            <a:off x="7773010" y="1572768"/>
            <a:ext cx="153721" cy="1124176"/>
          </a:xfrm>
          <a:prstGeom prst="rect">
            <a:avLst/>
          </a:prstGeom>
          <a:solidFill>
            <a:srgbClr val="C08D7C"/>
          </a:solidFill>
          <a:ln w="12700">
            <a:solidFill>
              <a:srgbClr val="C08D7C"/>
            </a:solidFill>
            <a:prstDash val="solid"/>
          </a:ln>
        </p:spPr>
      </p:sp>
      <p:sp>
        <p:nvSpPr>
          <p:cNvPr id="45" name="Shape 43"/>
          <p:cNvSpPr/>
          <p:nvPr/>
        </p:nvSpPr>
        <p:spPr>
          <a:xfrm>
            <a:off x="7999070" y="1572768"/>
            <a:ext cx="153721" cy="1124176"/>
          </a:xfrm>
          <a:prstGeom prst="rect">
            <a:avLst/>
          </a:prstGeom>
          <a:solidFill>
            <a:srgbClr val="C08D7C"/>
          </a:solidFill>
          <a:ln w="12700">
            <a:solidFill>
              <a:srgbClr val="C08D7C"/>
            </a:solidFill>
            <a:prstDash val="solid"/>
          </a:ln>
        </p:spPr>
      </p:sp>
      <p:sp>
        <p:nvSpPr>
          <p:cNvPr id="46" name="Shape 44"/>
          <p:cNvSpPr/>
          <p:nvPr/>
        </p:nvSpPr>
        <p:spPr>
          <a:xfrm>
            <a:off x="8225130" y="1572768"/>
            <a:ext cx="153721" cy="1124176"/>
          </a:xfrm>
          <a:prstGeom prst="rect">
            <a:avLst/>
          </a:prstGeom>
          <a:solidFill>
            <a:srgbClr val="C08D7C"/>
          </a:solidFill>
          <a:ln w="12700">
            <a:solidFill>
              <a:srgbClr val="C08D7C"/>
            </a:solidFill>
            <a:prstDash val="solid"/>
          </a:ln>
        </p:spPr>
      </p:sp>
      <p:sp>
        <p:nvSpPr>
          <p:cNvPr id="47" name="Shape 45"/>
          <p:cNvSpPr/>
          <p:nvPr/>
        </p:nvSpPr>
        <p:spPr>
          <a:xfrm>
            <a:off x="8451190" y="1572768"/>
            <a:ext cx="153721" cy="1124176"/>
          </a:xfrm>
          <a:prstGeom prst="rect">
            <a:avLst/>
          </a:prstGeom>
          <a:solidFill>
            <a:srgbClr val="C08D7C"/>
          </a:solidFill>
          <a:ln w="12700">
            <a:solidFill>
              <a:srgbClr val="C08D7C"/>
            </a:solidFill>
            <a:prstDash val="solid"/>
          </a:ln>
        </p:spPr>
      </p:sp>
      <p:sp>
        <p:nvSpPr>
          <p:cNvPr id="48" name="Text 46"/>
          <p:cNvSpPr/>
          <p:nvPr/>
        </p:nvSpPr>
        <p:spPr>
          <a:xfrm>
            <a:off x="82251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M36</a:t>
            </a:r>
            <a:endParaRPr lang="en-US" sz="700" dirty="0"/>
          </a:p>
        </p:txBody>
      </p:sp>
      <p:sp>
        <p:nvSpPr>
          <p:cNvPr id="49" name="Text 47"/>
          <p:cNvSpPr/>
          <p:nvPr/>
        </p:nvSpPr>
        <p:spPr>
          <a:xfrm>
            <a:off x="576072" y="1618488"/>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$158,130 / mo</a:t>
            </a:r>
            <a:endParaRPr lang="en-US" sz="700" dirty="0"/>
          </a:p>
        </p:txBody>
      </p:sp>
      <p:sp>
        <p:nvSpPr>
          <p:cNvPr id="50" name="Text 48"/>
          <p:cNvSpPr/>
          <p:nvPr/>
        </p:nvSpPr>
        <p:spPr>
          <a:xfrm>
            <a:off x="576072" y="3749040"/>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$-176,288 / mo</a:t>
            </a:r>
            <a:endParaRPr lang="en-US" sz="700" dirty="0"/>
          </a:p>
        </p:txBody>
      </p:sp>
      <p:sp>
        <p:nvSpPr>
          <p:cNvPr id="51" name="Text 49"/>
          <p:cNvSpPr/>
          <p:nvPr/>
        </p:nvSpPr>
        <p:spPr>
          <a:xfrm>
            <a:off x="502920" y="4206240"/>
            <a:ext cx="8138160" cy="365760"/>
          </a:xfrm>
          <a:prstGeom prst="rect">
            <a:avLst/>
          </a:prstGeom>
          <a:noFill/>
          <a:ln/>
        </p:spPr>
        <p:txBody>
          <a:bodyPr wrap="square" rtlCol="0" anchor="ctr"/>
          <a:lstStyle/>
          <a:p>
            <a:pPr indent="0" marL="0">
              <a:buNone/>
            </a:pPr>
            <a:r>
              <a:rPr lang="en-US" sz="950" dirty="0">
                <a:solidFill>
                  <a:srgbClr val="A8A296"/>
                </a:solidFill>
                <a:latin typeface="Calibri" pitchFamily="34" charset="0"/>
                <a:ea typeface="Calibri" pitchFamily="34" charset="-122"/>
                <a:cs typeface="Calibri" pitchFamily="34" charset="-120"/>
              </a:rPr>
              <a:t>Cash trough -$1,112,191 at month 13, against a $1,207,000 working capital and debt service reserve funded inside use of funds.</a:t>
            </a:r>
            <a:endParaRPr lang="en-US" sz="950" dirty="0"/>
          </a:p>
        </p:txBody>
      </p:sp>
      <p:sp>
        <p:nvSpPr>
          <p:cNvPr id="52" name="Text 5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53" name="Text 5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STABILIZED P&amp;L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Monthly, at stabilization. Projected.</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4480560"/>
                <a:gridCol w="1828800"/>
                <a:gridCol w="182880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Line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 of revenue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Total revenue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$714,195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Cost of services delivered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-$173,655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Circuit consumables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-$18,760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Net after COGS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$521,780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73%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Rent (6,700 SF NNN)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-$36,850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Clinical and club staff</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-$173,000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Admin and management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Marketing and member acquisition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Malpractice and liability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Equipment leases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-$37,300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Utilities, software, member platform</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Licensing, compliance and accreditation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Total fixed overhead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-$363,650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51%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OPERATING INCOME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$158,130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we are wrong, how wrong can we afford to be?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Volume flexed against the base case with fixed overhead held constant, which is the conservative treatment.</a:t>
            </a:r>
            <a:endParaRPr lang="en-US" sz="1150" dirty="0"/>
          </a:p>
        </p:txBody>
      </p:sp>
      <p:sp>
        <p:nvSpPr>
          <p:cNvPr id="5" name="Shape 3"/>
          <p:cNvSpPr/>
          <p:nvPr/>
        </p:nvSpPr>
        <p:spPr>
          <a:xfrm>
            <a:off x="502920" y="1691640"/>
            <a:ext cx="2602992" cy="2468880"/>
          </a:xfrm>
          <a:prstGeom prst="roundRect">
            <a:avLst>
              <a:gd name="adj" fmla="val 2222"/>
            </a:avLst>
          </a:prstGeom>
          <a:solidFill>
            <a:srgbClr val="16241C"/>
          </a:solidFill>
          <a:ln w="12700">
            <a:solidFill>
              <a:srgbClr val="2E4237"/>
            </a:solidFill>
            <a:prstDash val="solid"/>
          </a:ln>
        </p:spPr>
      </p:sp>
      <p:sp>
        <p:nvSpPr>
          <p:cNvPr id="6" name="Text 4"/>
          <p:cNvSpPr/>
          <p:nvPr/>
        </p:nvSpPr>
        <p:spPr>
          <a:xfrm>
            <a:off x="649224"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LOW</a:t>
            </a:r>
            <a:endParaRPr lang="en-US" sz="850" dirty="0"/>
          </a:p>
        </p:txBody>
      </p:sp>
      <p:sp>
        <p:nvSpPr>
          <p:cNvPr id="7" name="Text 5"/>
          <p:cNvSpPr/>
          <p:nvPr/>
        </p:nvSpPr>
        <p:spPr>
          <a:xfrm>
            <a:off x="649224"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$0.14M / yr</a:t>
            </a:r>
            <a:endParaRPr lang="en-US" sz="1800" dirty="0"/>
          </a:p>
        </p:txBody>
      </p:sp>
      <p:sp>
        <p:nvSpPr>
          <p:cNvPr id="8" name="Text 6"/>
          <p:cNvSpPr/>
          <p:nvPr/>
        </p:nvSpPr>
        <p:spPr>
          <a:xfrm>
            <a:off x="649224"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Slow member ramp, 72% of base volume</a:t>
            </a:r>
            <a:endParaRPr lang="en-US" sz="850" dirty="0"/>
          </a:p>
        </p:txBody>
      </p:sp>
      <p:sp>
        <p:nvSpPr>
          <p:cNvPr id="9" name="Text 7"/>
          <p:cNvSpPr/>
          <p:nvPr/>
        </p:nvSpPr>
        <p:spPr>
          <a:xfrm>
            <a:off x="649224"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10" name="Text 8"/>
          <p:cNvSpPr/>
          <p:nvPr/>
        </p:nvSpPr>
        <p:spPr>
          <a:xfrm>
            <a:off x="1804416"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$514,220</a:t>
            </a:r>
            <a:endParaRPr lang="en-US" sz="900" dirty="0"/>
          </a:p>
        </p:txBody>
      </p:sp>
      <p:sp>
        <p:nvSpPr>
          <p:cNvPr id="11" name="Text 9"/>
          <p:cNvSpPr/>
          <p:nvPr/>
        </p:nvSpPr>
        <p:spPr>
          <a:xfrm>
            <a:off x="649224"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12" name="Text 10"/>
          <p:cNvSpPr/>
          <p:nvPr/>
        </p:nvSpPr>
        <p:spPr>
          <a:xfrm>
            <a:off x="1804416"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$375,682</a:t>
            </a:r>
            <a:endParaRPr lang="en-US" sz="900" dirty="0"/>
          </a:p>
        </p:txBody>
      </p:sp>
      <p:sp>
        <p:nvSpPr>
          <p:cNvPr id="13" name="Text 11"/>
          <p:cNvSpPr/>
          <p:nvPr/>
        </p:nvSpPr>
        <p:spPr>
          <a:xfrm>
            <a:off x="649224"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14" name="Text 12"/>
          <p:cNvSpPr/>
          <p:nvPr/>
        </p:nvSpPr>
        <p:spPr>
          <a:xfrm>
            <a:off x="1804416"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$12,032</a:t>
            </a:r>
            <a:endParaRPr lang="en-US" sz="900" dirty="0"/>
          </a:p>
        </p:txBody>
      </p:sp>
      <p:sp>
        <p:nvSpPr>
          <p:cNvPr id="15" name="Text 13"/>
          <p:cNvSpPr/>
          <p:nvPr/>
        </p:nvSpPr>
        <p:spPr>
          <a:xfrm>
            <a:off x="649224"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16" name="Text 14"/>
          <p:cNvSpPr/>
          <p:nvPr/>
        </p:nvSpPr>
        <p:spPr>
          <a:xfrm>
            <a:off x="1804416"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0.17x</a:t>
            </a:r>
            <a:endParaRPr lang="en-US" sz="900" dirty="0"/>
          </a:p>
        </p:txBody>
      </p:sp>
      <p:sp>
        <p:nvSpPr>
          <p:cNvPr id="17" name="Shape 15"/>
          <p:cNvSpPr/>
          <p:nvPr/>
        </p:nvSpPr>
        <p:spPr>
          <a:xfrm>
            <a:off x="3270504" y="1691640"/>
            <a:ext cx="2602992" cy="2468880"/>
          </a:xfrm>
          <a:prstGeom prst="roundRect">
            <a:avLst>
              <a:gd name="adj" fmla="val 2222"/>
            </a:avLst>
          </a:prstGeom>
          <a:solidFill>
            <a:srgbClr val="241C1A"/>
          </a:solidFill>
          <a:ln w="19050">
            <a:solidFill>
              <a:srgbClr val="C08D7C"/>
            </a:solidFill>
            <a:prstDash val="solid"/>
          </a:ln>
        </p:spPr>
      </p:sp>
      <p:sp>
        <p:nvSpPr>
          <p:cNvPr id="18" name="Text 16"/>
          <p:cNvSpPr/>
          <p:nvPr/>
        </p:nvSpPr>
        <p:spPr>
          <a:xfrm>
            <a:off x="3416808" y="1810512"/>
            <a:ext cx="2310384" cy="182880"/>
          </a:xfrm>
          <a:prstGeom prst="rect">
            <a:avLst/>
          </a:prstGeom>
          <a:noFill/>
          <a:ln/>
        </p:spPr>
        <p:txBody>
          <a:bodyPr wrap="square" rtlCol="0" anchor="ctr"/>
          <a:lstStyle/>
          <a:p>
            <a:pPr indent="0" marL="0">
              <a:buNone/>
            </a:pPr>
            <a:r>
              <a:rPr lang="en-US" sz="850" spc="240" kern="0" dirty="0">
                <a:solidFill>
                  <a:srgbClr val="C08D7C"/>
                </a:solidFill>
                <a:latin typeface="Century Gothic" pitchFamily="34" charset="0"/>
                <a:ea typeface="Century Gothic" pitchFamily="34" charset="-122"/>
                <a:cs typeface="Century Gothic" pitchFamily="34" charset="-120"/>
              </a:rPr>
              <a:t>BASE</a:t>
            </a:r>
            <a:endParaRPr lang="en-US" sz="850" dirty="0"/>
          </a:p>
        </p:txBody>
      </p:sp>
      <p:sp>
        <p:nvSpPr>
          <p:cNvPr id="19" name="Text 17"/>
          <p:cNvSpPr/>
          <p:nvPr/>
        </p:nvSpPr>
        <p:spPr>
          <a:xfrm>
            <a:off x="3416808" y="2011680"/>
            <a:ext cx="2310384" cy="365760"/>
          </a:xfrm>
          <a:prstGeom prst="rect">
            <a:avLst/>
          </a:prstGeom>
          <a:noFill/>
          <a:ln/>
        </p:spPr>
        <p:txBody>
          <a:bodyPr wrap="square" rtlCol="0" anchor="ctr"/>
          <a:lstStyle/>
          <a:p>
            <a:pPr indent="0" marL="0">
              <a:buNone/>
            </a:pPr>
            <a:r>
              <a:rPr lang="en-US" sz="1800" dirty="0">
                <a:solidFill>
                  <a:srgbClr val="C08D7C"/>
                </a:solidFill>
                <a:latin typeface="Century Gothic" pitchFamily="34" charset="0"/>
                <a:ea typeface="Century Gothic" pitchFamily="34" charset="-122"/>
                <a:cs typeface="Century Gothic" pitchFamily="34" charset="-120"/>
              </a:rPr>
              <a:t>$1.90M / yr</a:t>
            </a:r>
            <a:endParaRPr lang="en-US" sz="1800" dirty="0"/>
          </a:p>
        </p:txBody>
      </p:sp>
      <p:sp>
        <p:nvSpPr>
          <p:cNvPr id="20" name="Text 18"/>
          <p:cNvSpPr/>
          <p:nvPr/>
        </p:nvSpPr>
        <p:spPr>
          <a:xfrm>
            <a:off x="3416808"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Stated assumptions at stabilization</a:t>
            </a:r>
            <a:endParaRPr lang="en-US" sz="850" dirty="0"/>
          </a:p>
        </p:txBody>
      </p:sp>
      <p:sp>
        <p:nvSpPr>
          <p:cNvPr id="21" name="Text 19"/>
          <p:cNvSpPr/>
          <p:nvPr/>
        </p:nvSpPr>
        <p:spPr>
          <a:xfrm>
            <a:off x="3416808"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22" name="Text 20"/>
          <p:cNvSpPr/>
          <p:nvPr/>
        </p:nvSpPr>
        <p:spPr>
          <a:xfrm>
            <a:off x="4572000"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$714,195</a:t>
            </a:r>
            <a:endParaRPr lang="en-US" sz="900" dirty="0"/>
          </a:p>
        </p:txBody>
      </p:sp>
      <p:sp>
        <p:nvSpPr>
          <p:cNvPr id="23" name="Text 21"/>
          <p:cNvSpPr/>
          <p:nvPr/>
        </p:nvSpPr>
        <p:spPr>
          <a:xfrm>
            <a:off x="3416808"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24" name="Text 22"/>
          <p:cNvSpPr/>
          <p:nvPr/>
        </p:nvSpPr>
        <p:spPr>
          <a:xfrm>
            <a:off x="4572000"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$521,780</a:t>
            </a:r>
            <a:endParaRPr lang="en-US" sz="900" dirty="0"/>
          </a:p>
        </p:txBody>
      </p:sp>
      <p:sp>
        <p:nvSpPr>
          <p:cNvPr id="25" name="Text 23"/>
          <p:cNvSpPr/>
          <p:nvPr/>
        </p:nvSpPr>
        <p:spPr>
          <a:xfrm>
            <a:off x="3416808"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26" name="Text 24"/>
          <p:cNvSpPr/>
          <p:nvPr/>
        </p:nvSpPr>
        <p:spPr>
          <a:xfrm>
            <a:off x="4572000"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$158,130</a:t>
            </a:r>
            <a:endParaRPr lang="en-US" sz="900" dirty="0"/>
          </a:p>
        </p:txBody>
      </p:sp>
      <p:sp>
        <p:nvSpPr>
          <p:cNvPr id="27" name="Text 25"/>
          <p:cNvSpPr/>
          <p:nvPr/>
        </p:nvSpPr>
        <p:spPr>
          <a:xfrm>
            <a:off x="3416808"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28" name="Text 26"/>
          <p:cNvSpPr/>
          <p:nvPr/>
        </p:nvSpPr>
        <p:spPr>
          <a:xfrm>
            <a:off x="4572000"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2.21x</a:t>
            </a:r>
            <a:endParaRPr lang="en-US" sz="900" dirty="0"/>
          </a:p>
        </p:txBody>
      </p:sp>
      <p:sp>
        <p:nvSpPr>
          <p:cNvPr id="29" name="Shape 27"/>
          <p:cNvSpPr/>
          <p:nvPr/>
        </p:nvSpPr>
        <p:spPr>
          <a:xfrm>
            <a:off x="6038088" y="1691640"/>
            <a:ext cx="2602992" cy="2468880"/>
          </a:xfrm>
          <a:prstGeom prst="roundRect">
            <a:avLst>
              <a:gd name="adj" fmla="val 2222"/>
            </a:avLst>
          </a:prstGeom>
          <a:solidFill>
            <a:srgbClr val="16241C"/>
          </a:solidFill>
          <a:ln w="12700">
            <a:solidFill>
              <a:srgbClr val="2E4237"/>
            </a:solidFill>
            <a:prstDash val="solid"/>
          </a:ln>
        </p:spPr>
      </p:sp>
      <p:sp>
        <p:nvSpPr>
          <p:cNvPr id="30" name="Text 28"/>
          <p:cNvSpPr/>
          <p:nvPr/>
        </p:nvSpPr>
        <p:spPr>
          <a:xfrm>
            <a:off x="6184392"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UPSIDE</a:t>
            </a:r>
            <a:endParaRPr lang="en-US" sz="850" dirty="0"/>
          </a:p>
        </p:txBody>
      </p:sp>
      <p:sp>
        <p:nvSpPr>
          <p:cNvPr id="31" name="Text 29"/>
          <p:cNvSpPr/>
          <p:nvPr/>
        </p:nvSpPr>
        <p:spPr>
          <a:xfrm>
            <a:off x="6184392"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$3.65M / yr</a:t>
            </a:r>
            <a:endParaRPr lang="en-US" sz="1800" dirty="0"/>
          </a:p>
        </p:txBody>
      </p:sp>
      <p:sp>
        <p:nvSpPr>
          <p:cNvPr id="32" name="Text 30"/>
          <p:cNvSpPr/>
          <p:nvPr/>
        </p:nvSpPr>
        <p:spPr>
          <a:xfrm>
            <a:off x="6184392"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Waitlist demand, 128% of base volume</a:t>
            </a:r>
            <a:endParaRPr lang="en-US" sz="850" dirty="0"/>
          </a:p>
        </p:txBody>
      </p:sp>
      <p:sp>
        <p:nvSpPr>
          <p:cNvPr id="33" name="Text 31"/>
          <p:cNvSpPr/>
          <p:nvPr/>
        </p:nvSpPr>
        <p:spPr>
          <a:xfrm>
            <a:off x="6184392"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34" name="Text 32"/>
          <p:cNvSpPr/>
          <p:nvPr/>
        </p:nvSpPr>
        <p:spPr>
          <a:xfrm>
            <a:off x="7339584"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$914,169</a:t>
            </a:r>
            <a:endParaRPr lang="en-US" sz="900" dirty="0"/>
          </a:p>
        </p:txBody>
      </p:sp>
      <p:sp>
        <p:nvSpPr>
          <p:cNvPr id="35" name="Text 33"/>
          <p:cNvSpPr/>
          <p:nvPr/>
        </p:nvSpPr>
        <p:spPr>
          <a:xfrm>
            <a:off x="6184392"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36" name="Text 34"/>
          <p:cNvSpPr/>
          <p:nvPr/>
        </p:nvSpPr>
        <p:spPr>
          <a:xfrm>
            <a:off x="7339584"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$667,878</a:t>
            </a:r>
            <a:endParaRPr lang="en-US" sz="900" dirty="0"/>
          </a:p>
        </p:txBody>
      </p:sp>
      <p:sp>
        <p:nvSpPr>
          <p:cNvPr id="37" name="Text 35"/>
          <p:cNvSpPr/>
          <p:nvPr/>
        </p:nvSpPr>
        <p:spPr>
          <a:xfrm>
            <a:off x="6184392"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38" name="Text 36"/>
          <p:cNvSpPr/>
          <p:nvPr/>
        </p:nvSpPr>
        <p:spPr>
          <a:xfrm>
            <a:off x="7339584"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$304,228</a:t>
            </a:r>
            <a:endParaRPr lang="en-US" sz="900" dirty="0"/>
          </a:p>
        </p:txBody>
      </p:sp>
      <p:sp>
        <p:nvSpPr>
          <p:cNvPr id="39" name="Text 37"/>
          <p:cNvSpPr/>
          <p:nvPr/>
        </p:nvSpPr>
        <p:spPr>
          <a:xfrm>
            <a:off x="6184392"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40" name="Text 38"/>
          <p:cNvSpPr/>
          <p:nvPr/>
        </p:nvSpPr>
        <p:spPr>
          <a:xfrm>
            <a:off x="7339584"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4.25x</a:t>
            </a:r>
            <a:endParaRPr lang="en-US" sz="900" dirty="0"/>
          </a:p>
        </p:txBody>
      </p:sp>
      <p:sp>
        <p:nvSpPr>
          <p:cNvPr id="41" name="Text 3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42" name="Text 4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ASK</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Total project cost, Surgical case.</a:t>
            </a:r>
            <a:endParaRPr lang="en-US" sz="2600" dirty="0"/>
          </a:p>
        </p:txBody>
      </p:sp>
      <p:sp>
        <p:nvSpPr>
          <p:cNvPr id="4" name="Shape 2"/>
          <p:cNvSpPr/>
          <p:nvPr/>
        </p:nvSpPr>
        <p:spPr>
          <a:xfrm>
            <a:off x="502920" y="1417320"/>
            <a:ext cx="8138160" cy="2423160"/>
          </a:xfrm>
          <a:prstGeom prst="roundRect">
            <a:avLst>
              <a:gd name="adj" fmla="val 2264"/>
            </a:avLst>
          </a:prstGeom>
          <a:solidFill>
            <a:srgbClr val="241C1A"/>
          </a:solidFill>
          <a:ln w="15875">
            <a:solidFill>
              <a:srgbClr val="C08D7C"/>
            </a:solidFill>
            <a:prstDash val="solid"/>
          </a:ln>
        </p:spPr>
      </p:sp>
      <p:sp>
        <p:nvSpPr>
          <p:cNvPr id="5" name="Text 3"/>
          <p:cNvSpPr/>
          <p:nvPr/>
        </p:nvSpPr>
        <p:spPr>
          <a:xfrm>
            <a:off x="777240" y="1600200"/>
            <a:ext cx="7589520" cy="914400"/>
          </a:xfrm>
          <a:prstGeom prst="rect">
            <a:avLst/>
          </a:prstGeom>
          <a:noFill/>
          <a:ln/>
        </p:spPr>
        <p:txBody>
          <a:bodyPr wrap="square" rtlCol="0" anchor="ctr"/>
          <a:lstStyle/>
          <a:p>
            <a:pPr indent="0" marL="0">
              <a:buNone/>
            </a:pPr>
            <a:r>
              <a:rPr lang="en-US" sz="5200" dirty="0">
                <a:solidFill>
                  <a:srgbClr val="C08D7C"/>
                </a:solidFill>
                <a:latin typeface="Century Gothic" pitchFamily="34" charset="0"/>
                <a:ea typeface="Century Gothic" pitchFamily="34" charset="-122"/>
                <a:cs typeface="Century Gothic" pitchFamily="34" charset="-120"/>
              </a:rPr>
              <a:t>$5.55M</a:t>
            </a:r>
            <a:endParaRPr lang="en-US" sz="5200" dirty="0"/>
          </a:p>
        </p:txBody>
      </p:sp>
      <p:sp>
        <p:nvSpPr>
          <p:cNvPr id="6" name="Text 4"/>
          <p:cNvSpPr/>
          <p:nvPr/>
        </p:nvSpPr>
        <p:spPr>
          <a:xfrm>
            <a:off x="795528" y="2578608"/>
            <a:ext cx="7552944" cy="320040"/>
          </a:xfrm>
          <a:prstGeom prst="rect">
            <a:avLst/>
          </a:prstGeom>
          <a:noFill/>
          <a:ln/>
        </p:spPr>
        <p:txBody>
          <a:bodyPr wrap="square" rtlCol="0" anchor="ctr"/>
          <a:lstStyle/>
          <a:p>
            <a:pPr indent="0" marL="0">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sp>
        <p:nvSpPr>
          <p:cNvPr id="7" name="Text 5"/>
          <p:cNvSpPr/>
          <p:nvPr/>
        </p:nvSpPr>
        <p:spPr>
          <a:xfrm>
            <a:off x="795528"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SBA 7(A) LOAN</a:t>
            </a:r>
            <a:endParaRPr lang="en-US" sz="700" dirty="0"/>
          </a:p>
        </p:txBody>
      </p:sp>
      <p:sp>
        <p:nvSpPr>
          <p:cNvPr id="8" name="Text 6"/>
          <p:cNvSpPr/>
          <p:nvPr/>
        </p:nvSpPr>
        <p:spPr>
          <a:xfrm>
            <a:off x="795528"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$4,995,000</a:t>
            </a:r>
            <a:endParaRPr lang="en-US" sz="1400" dirty="0"/>
          </a:p>
        </p:txBody>
      </p:sp>
      <p:sp>
        <p:nvSpPr>
          <p:cNvPr id="9" name="Text 7"/>
          <p:cNvSpPr/>
          <p:nvPr/>
        </p:nvSpPr>
        <p:spPr>
          <a:xfrm>
            <a:off x="2683764"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EQUITY INJECTION · 10% FLOOR</a:t>
            </a:r>
            <a:endParaRPr lang="en-US" sz="700" dirty="0"/>
          </a:p>
        </p:txBody>
      </p:sp>
      <p:sp>
        <p:nvSpPr>
          <p:cNvPr id="10" name="Text 8"/>
          <p:cNvSpPr/>
          <p:nvPr/>
        </p:nvSpPr>
        <p:spPr>
          <a:xfrm>
            <a:off x="2683764"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$555,000</a:t>
            </a:r>
            <a:endParaRPr lang="en-US" sz="1400" dirty="0"/>
          </a:p>
        </p:txBody>
      </p:sp>
      <p:sp>
        <p:nvSpPr>
          <p:cNvPr id="11" name="Text 9"/>
          <p:cNvSpPr/>
          <p:nvPr/>
        </p:nvSpPr>
        <p:spPr>
          <a:xfrm>
            <a:off x="4572000"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EQUITY AT 20% PLANNING</a:t>
            </a:r>
            <a:endParaRPr lang="en-US" sz="700" dirty="0"/>
          </a:p>
        </p:txBody>
      </p:sp>
      <p:sp>
        <p:nvSpPr>
          <p:cNvPr id="12" name="Text 10"/>
          <p:cNvSpPr/>
          <p:nvPr/>
        </p:nvSpPr>
        <p:spPr>
          <a:xfrm>
            <a:off x="4572000"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$1,110,000</a:t>
            </a:r>
            <a:endParaRPr lang="en-US" sz="1400" dirty="0"/>
          </a:p>
        </p:txBody>
      </p:sp>
      <p:sp>
        <p:nvSpPr>
          <p:cNvPr id="13" name="Text 11"/>
          <p:cNvSpPr/>
          <p:nvPr/>
        </p:nvSpPr>
        <p:spPr>
          <a:xfrm>
            <a:off x="6460236"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FOOTPRINT</a:t>
            </a:r>
            <a:endParaRPr lang="en-US" sz="700" dirty="0"/>
          </a:p>
        </p:txBody>
      </p:sp>
      <p:sp>
        <p:nvSpPr>
          <p:cNvPr id="14" name="Text 12"/>
          <p:cNvSpPr/>
          <p:nvPr/>
        </p:nvSpPr>
        <p:spPr>
          <a:xfrm>
            <a:off x="6460236"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6,700 SF</a:t>
            </a:r>
            <a:endParaRPr lang="en-US" sz="1400" dirty="0"/>
          </a:p>
        </p:txBody>
      </p:sp>
      <p:sp>
        <p:nvSpPr>
          <p:cNvPr id="15" name="Text 13"/>
          <p:cNvSpPr/>
          <p:nvPr/>
        </p:nvSpPr>
        <p:spPr>
          <a:xfrm>
            <a:off x="502920" y="4041648"/>
            <a:ext cx="8138160" cy="365760"/>
          </a:xfrm>
          <a:prstGeom prst="rect">
            <a:avLst/>
          </a:prstGeom>
          <a:noFill/>
          <a:ln/>
        </p:spPr>
        <p:txBody>
          <a:bodyPr wrap="square" rtlCol="0" anchor="ctr"/>
          <a:lstStyle/>
          <a:p>
            <a:pPr indent="0" marL="0">
              <a:lnSpc>
                <a:spcPct val="115000"/>
              </a:lnSpc>
              <a:buNone/>
            </a:pPr>
            <a:r>
              <a:rPr lang="en-US" sz="900" dirty="0">
                <a:solidFill>
                  <a:srgbClr val="6E6A62"/>
                </a:solidFill>
                <a:latin typeface="Calibri" pitchFamily="34" charset="0"/>
                <a:ea typeface="Calibri" pitchFamily="34" charset="-122"/>
                <a:cs typeface="Calibri" pitchFamily="34" charset="-120"/>
              </a:rPr>
              <a:t>Both the 10% SOP floor and the 20% planning figure are shown because lenders routinely require more than the floor from a business with no operating history.</a:t>
            </a:r>
            <a:endParaRPr lang="en-US" sz="9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Where the $5.55M goes.</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working capital and debt service reserve is sized against the modeled cash trough of $1,112,191 at month 13, not to a round number.</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4937760"/>
                <a:gridCol w="1600200"/>
                <a:gridCol w="1600200"/>
              </a:tblGrid>
              <a:tr h="18288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Use of funds</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Amount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 of project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Buildout and tenant improvements (5,800 SF clinic and club @ $250/SF)</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$1,450,000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suite buildout (900 SF @ $320/SF, OR-grade HVAC and finishes)</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$288,000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gas, emergency power, life-safety branch for the suite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 areas: 2 saunas, 2 plunges, steam, drainage, ventilation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$465,000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and aesthetic equipment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capital equipment (balance leased)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technology: HBOT, Ammortal, Aescape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$370,000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FF&amp;E, lounge, millwork, retail</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Pre-opening: licensing, legal, insurance, hiring, transfer agreement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Accreditation: Quad A survey, policies, QA/PI program, staff training</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Brand, launch, founding member campaign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Working capital and debt service reserve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$1,207,000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 project cost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$5,550,000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SBA PACKAGE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Structured to the actual rule.</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023360" cy="914400"/>
        </p:xfrm>
        <a:graphic>
          <a:graphicData uri="http://schemas.openxmlformats.org/drawingml/2006/table">
            <a:tbl>
              <a:tblPr/>
              <a:tblGrid>
                <a:gridCol w="2514600"/>
                <a:gridCol w="1508760"/>
              </a:tblGrid>
              <a:tr h="20574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Loan structure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Total project cost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$5,550,000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SBA 7(a) loan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$4,995,000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Equity injection (10% SOP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$555,000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Equity injection (20% planning)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Assumed rate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9.5% (Prime + 2.75%)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 years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Interest-only period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 months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during interest-only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$39,544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once amortizing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$71,558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Working capital and reserve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$1,207,000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4800600" y="1371600"/>
          <a:ext cx="3977640" cy="914400"/>
        </p:xfrm>
        <a:graphic>
          <a:graphicData uri="http://schemas.openxmlformats.org/drawingml/2006/table">
            <a:tbl>
              <a:tblPr/>
              <a:tblGrid>
                <a:gridCol w="777240"/>
                <a:gridCol w="1234440"/>
                <a:gridCol w="1188720"/>
                <a:gridCol w="77724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Year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Debt service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-$1,283,956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$355,896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-3.61x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$1,247,666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$666,612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1.87x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$1,846,958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$858,696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2.15x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$1,897,560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$858,701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2.21x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2"/>
          <p:cNvSpPr/>
          <p:nvPr/>
        </p:nvSpPr>
        <p:spPr>
          <a:xfrm>
            <a:off x="4800600" y="2788920"/>
            <a:ext cx="3977640" cy="274320"/>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Rate sensitivity: 2.21x at 9.5%   ·   2.13x at 10.5%   ·   2.05x at 11.5%</a:t>
            </a:r>
            <a:endParaRPr lang="en-US" sz="900" dirty="0"/>
          </a:p>
        </p:txBody>
      </p:sp>
      <p:sp>
        <p:nvSpPr>
          <p:cNvPr id="7" name="Text 3"/>
          <p:cNvSpPr/>
          <p:nvPr/>
        </p:nvSpPr>
        <p:spPr>
          <a:xfrm>
            <a:off x="502920" y="3794760"/>
            <a:ext cx="8138160" cy="777240"/>
          </a:xfrm>
          <a:prstGeom prst="rect">
            <a:avLst/>
          </a:prstGeom>
          <a:noFill/>
          <a:ln/>
        </p:spPr>
        <p:txBody>
          <a:bodyPr wrap="square" rtlCol="0" anchor="ctr"/>
          <a:lstStyle/>
          <a:p>
            <a:pPr indent="0" marL="0">
              <a:lnSpc>
                <a:spcPct val="120000"/>
              </a:lnSpc>
              <a:buNone/>
            </a:pPr>
            <a:r>
              <a:rPr lang="en-US" sz="800" dirty="0">
                <a:solidFill>
                  <a:srgbClr val="6E6A62"/>
                </a:solidFill>
                <a:latin typeface="Calibri" pitchFamily="34" charset="0"/>
                <a:ea typeface="Calibri" pitchFamily="34" charset="-122"/>
                <a:cs typeface="Calibri" pitchFamily="34" charset="-120"/>
              </a:rPr>
              <a:t>SBA 7(a) caps at a $5,000,000 loan; SBA maximum guarantee exposure is $3,750,000. SOP 50 10 8 requires a minimum 10% equity injection for a startup, and lenders routinely require more of a business with no operating history. An unconditional personal guaranty is required from any owner holding 20% or more. The 1.25x coverage threshold is prevailing lender underwriting convention, not an SBA regulation.</a:t>
            </a:r>
            <a:endParaRPr lang="en-US" sz="800" dirty="0"/>
          </a:p>
        </p:txBody>
      </p:sp>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DISCLOSURES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we are flagging before you ask.</a:t>
            </a:r>
            <a:endParaRPr lang="en-US" sz="2600" dirty="0"/>
          </a:p>
        </p:txBody>
      </p:sp>
      <p:sp>
        <p:nvSpPr>
          <p:cNvPr id="4" name="Text 2"/>
          <p:cNvSpPr/>
          <p:nvPr/>
        </p:nvSpPr>
        <p:spPr>
          <a:xfrm>
            <a:off x="502920" y="1417320"/>
            <a:ext cx="8138160" cy="3108960"/>
          </a:xfrm>
          <a:prstGeom prst="rect">
            <a:avLst/>
          </a:prstGeom>
          <a:noFill/>
          <a:ln/>
        </p:spPr>
        <p:txBody>
          <a:bodyPr wrap="square" rtlCol="0" anchor="ctr"/>
          <a:lstStyle/>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1 operating income is negative. Six of those months are construction and the rest are the opening ramp. Debt service is interest-only for the first 18 months, and the $1,207,000 reserve inside use of funds is sized against a modeled cash trough of $1,112,191 at month 13.</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2 coverage of 1.87x already clears the 1.25x convention, before the business reaches stabilization.</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Rate sensitivity: stabilized coverage runs 2.21x at 9.5%, 2.13x at 10.5%, 2.05x at 11.5%. Coverage holds above 1.25x even 200 basis points above the assumed rate.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The 18-month interest-only period compresses amortization into the remaining 102 months, raising the eventual payment. It buys ramp-year survivability at the cost of stabilized coverage, and both effects are reflected in the figures above.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All forward-looking figures are projections on the stated assumptions and are not guarantees. Market and demographic figures carry their sources; anything unsourced was cut rather than estimated.</a:t>
            </a:r>
            <a:endParaRPr lang="en-US" sz="105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TIMELINE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From signature to stabilization.</a:t>
            </a:r>
            <a:endParaRPr lang="en-US" sz="2600" dirty="0"/>
          </a:p>
        </p:txBody>
      </p:sp>
      <p:sp>
        <p:nvSpPr>
          <p:cNvPr id="4" name="Shape 2"/>
          <p:cNvSpPr/>
          <p:nvPr/>
        </p:nvSpPr>
        <p:spPr>
          <a:xfrm>
            <a:off x="502920" y="1600200"/>
            <a:ext cx="1525219" cy="25603"/>
          </a:xfrm>
          <a:prstGeom prst="rect">
            <a:avLst/>
          </a:prstGeom>
          <a:solidFill>
            <a:srgbClr val="2E4237"/>
          </a:solidFill>
          <a:ln w="12700">
            <a:solidFill>
              <a:srgbClr val="2E4237"/>
            </a:solidFill>
            <a:prstDash val="solid"/>
          </a:ln>
        </p:spPr>
      </p:sp>
      <p:sp>
        <p:nvSpPr>
          <p:cNvPr id="5" name="Shape 3"/>
          <p:cNvSpPr/>
          <p:nvPr/>
        </p:nvSpPr>
        <p:spPr>
          <a:xfrm>
            <a:off x="502920" y="1563624"/>
            <a:ext cx="100584" cy="100584"/>
          </a:xfrm>
          <a:prstGeom prst="ellipse">
            <a:avLst/>
          </a:prstGeom>
          <a:solidFill>
            <a:srgbClr val="C08D7C"/>
          </a:solidFill>
          <a:ln w="12700">
            <a:solidFill>
              <a:srgbClr val="C08D7C"/>
            </a:solidFill>
            <a:prstDash val="solid"/>
          </a:ln>
        </p:spPr>
      </p:sp>
      <p:sp>
        <p:nvSpPr>
          <p:cNvPr id="6" name="Text 4"/>
          <p:cNvSpPr/>
          <p:nvPr/>
        </p:nvSpPr>
        <p:spPr>
          <a:xfrm>
            <a:off x="50292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0–3</a:t>
            </a:r>
            <a:endParaRPr lang="en-US" sz="750" dirty="0"/>
          </a:p>
        </p:txBody>
      </p:sp>
      <p:sp>
        <p:nvSpPr>
          <p:cNvPr id="7" name="Text 5"/>
          <p:cNvSpPr/>
          <p:nvPr/>
        </p:nvSpPr>
        <p:spPr>
          <a:xfrm>
            <a:off x="50292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Close and design</a:t>
            </a:r>
            <a:endParaRPr lang="en-US" sz="1150" dirty="0"/>
          </a:p>
        </p:txBody>
      </p:sp>
      <p:sp>
        <p:nvSpPr>
          <p:cNvPr id="8" name="Text 6"/>
          <p:cNvSpPr/>
          <p:nvPr/>
        </p:nvSpPr>
        <p:spPr>
          <a:xfrm>
            <a:off x="50292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Loan closes, lease executed, architect and contractor engaged, permits filed. Founding member campaign opens.</a:t>
            </a:r>
            <a:endParaRPr lang="en-US" sz="850" dirty="0"/>
          </a:p>
        </p:txBody>
      </p:sp>
      <p:sp>
        <p:nvSpPr>
          <p:cNvPr id="9" name="Shape 7"/>
          <p:cNvSpPr/>
          <p:nvPr/>
        </p:nvSpPr>
        <p:spPr>
          <a:xfrm>
            <a:off x="2156155" y="1600200"/>
            <a:ext cx="1525219" cy="25603"/>
          </a:xfrm>
          <a:prstGeom prst="rect">
            <a:avLst/>
          </a:prstGeom>
          <a:solidFill>
            <a:srgbClr val="2E4237"/>
          </a:solidFill>
          <a:ln w="12700">
            <a:solidFill>
              <a:srgbClr val="2E4237"/>
            </a:solidFill>
            <a:prstDash val="solid"/>
          </a:ln>
        </p:spPr>
      </p:sp>
      <p:sp>
        <p:nvSpPr>
          <p:cNvPr id="10" name="Shape 8"/>
          <p:cNvSpPr/>
          <p:nvPr/>
        </p:nvSpPr>
        <p:spPr>
          <a:xfrm>
            <a:off x="2156155" y="1563624"/>
            <a:ext cx="100584" cy="100584"/>
          </a:xfrm>
          <a:prstGeom prst="ellipse">
            <a:avLst/>
          </a:prstGeom>
          <a:solidFill>
            <a:srgbClr val="C08D7C"/>
          </a:solidFill>
          <a:ln w="12700">
            <a:solidFill>
              <a:srgbClr val="C08D7C"/>
            </a:solidFill>
            <a:prstDash val="solid"/>
          </a:ln>
        </p:spPr>
      </p:sp>
      <p:sp>
        <p:nvSpPr>
          <p:cNvPr id="11" name="Text 9"/>
          <p:cNvSpPr/>
          <p:nvPr/>
        </p:nvSpPr>
        <p:spPr>
          <a:xfrm>
            <a:off x="2156155"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3–6</a:t>
            </a:r>
            <a:endParaRPr lang="en-US" sz="750" dirty="0"/>
          </a:p>
        </p:txBody>
      </p:sp>
      <p:sp>
        <p:nvSpPr>
          <p:cNvPr id="12" name="Text 10"/>
          <p:cNvSpPr/>
          <p:nvPr/>
        </p:nvSpPr>
        <p:spPr>
          <a:xfrm>
            <a:off x="2156155"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Build</a:t>
            </a:r>
            <a:endParaRPr lang="en-US" sz="1150" dirty="0"/>
          </a:p>
        </p:txBody>
      </p:sp>
      <p:sp>
        <p:nvSpPr>
          <p:cNvPr id="13" name="Text 11"/>
          <p:cNvSpPr/>
          <p:nvPr/>
        </p:nvSpPr>
        <p:spPr>
          <a:xfrm>
            <a:off x="2156155"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Buildout, wet-area rough-in, equipment ordered. Medical director and injector recruited and credentialed.</a:t>
            </a:r>
            <a:endParaRPr lang="en-US" sz="850" dirty="0"/>
          </a:p>
        </p:txBody>
      </p:sp>
      <p:sp>
        <p:nvSpPr>
          <p:cNvPr id="14" name="Shape 12"/>
          <p:cNvSpPr/>
          <p:nvPr/>
        </p:nvSpPr>
        <p:spPr>
          <a:xfrm>
            <a:off x="3809390" y="1600200"/>
            <a:ext cx="1525219" cy="25603"/>
          </a:xfrm>
          <a:prstGeom prst="rect">
            <a:avLst/>
          </a:prstGeom>
          <a:solidFill>
            <a:srgbClr val="2E4237"/>
          </a:solidFill>
          <a:ln w="12700">
            <a:solidFill>
              <a:srgbClr val="2E4237"/>
            </a:solidFill>
            <a:prstDash val="solid"/>
          </a:ln>
        </p:spPr>
      </p:sp>
      <p:sp>
        <p:nvSpPr>
          <p:cNvPr id="15" name="Shape 13"/>
          <p:cNvSpPr/>
          <p:nvPr/>
        </p:nvSpPr>
        <p:spPr>
          <a:xfrm>
            <a:off x="3809390" y="1563624"/>
            <a:ext cx="100584" cy="100584"/>
          </a:xfrm>
          <a:prstGeom prst="ellipse">
            <a:avLst/>
          </a:prstGeom>
          <a:solidFill>
            <a:srgbClr val="C08D7C"/>
          </a:solidFill>
          <a:ln w="12700">
            <a:solidFill>
              <a:srgbClr val="C08D7C"/>
            </a:solidFill>
            <a:prstDash val="solid"/>
          </a:ln>
        </p:spPr>
      </p:sp>
      <p:sp>
        <p:nvSpPr>
          <p:cNvPr id="16" name="Text 14"/>
          <p:cNvSpPr/>
          <p:nvPr/>
        </p:nvSpPr>
        <p:spPr>
          <a:xfrm>
            <a:off x="380939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7</a:t>
            </a:r>
            <a:endParaRPr lang="en-US" sz="750" dirty="0"/>
          </a:p>
        </p:txBody>
      </p:sp>
      <p:sp>
        <p:nvSpPr>
          <p:cNvPr id="17" name="Text 15"/>
          <p:cNvSpPr/>
          <p:nvPr/>
        </p:nvSpPr>
        <p:spPr>
          <a:xfrm>
            <a:off x="380939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Open</a:t>
            </a:r>
            <a:endParaRPr lang="en-US" sz="1150" dirty="0"/>
          </a:p>
        </p:txBody>
      </p:sp>
      <p:sp>
        <p:nvSpPr>
          <p:cNvPr id="18" name="Text 16"/>
          <p:cNvSpPr/>
          <p:nvPr/>
        </p:nvSpPr>
        <p:spPr>
          <a:xfrm>
            <a:off x="380939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Doors open to founding members first, public booking the same week. Clinic and club launch together.</a:t>
            </a:r>
            <a:endParaRPr lang="en-US" sz="850" dirty="0"/>
          </a:p>
        </p:txBody>
      </p:sp>
      <p:sp>
        <p:nvSpPr>
          <p:cNvPr id="19" name="Shape 17"/>
          <p:cNvSpPr/>
          <p:nvPr/>
        </p:nvSpPr>
        <p:spPr>
          <a:xfrm>
            <a:off x="5462626" y="1600200"/>
            <a:ext cx="1525219" cy="25603"/>
          </a:xfrm>
          <a:prstGeom prst="rect">
            <a:avLst/>
          </a:prstGeom>
          <a:solidFill>
            <a:srgbClr val="2E4237"/>
          </a:solidFill>
          <a:ln w="12700">
            <a:solidFill>
              <a:srgbClr val="2E4237"/>
            </a:solidFill>
            <a:prstDash val="solid"/>
          </a:ln>
        </p:spPr>
      </p:sp>
      <p:sp>
        <p:nvSpPr>
          <p:cNvPr id="20" name="Shape 18"/>
          <p:cNvSpPr/>
          <p:nvPr/>
        </p:nvSpPr>
        <p:spPr>
          <a:xfrm>
            <a:off x="5462626" y="1563624"/>
            <a:ext cx="100584" cy="100584"/>
          </a:xfrm>
          <a:prstGeom prst="ellipse">
            <a:avLst/>
          </a:prstGeom>
          <a:solidFill>
            <a:srgbClr val="C08D7C"/>
          </a:solidFill>
          <a:ln w="12700">
            <a:solidFill>
              <a:srgbClr val="C08D7C"/>
            </a:solidFill>
            <a:prstDash val="solid"/>
          </a:ln>
        </p:spPr>
      </p:sp>
      <p:sp>
        <p:nvSpPr>
          <p:cNvPr id="21" name="Text 19"/>
          <p:cNvSpPr/>
          <p:nvPr/>
        </p:nvSpPr>
        <p:spPr>
          <a:xfrm>
            <a:off x="5462626"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8–14</a:t>
            </a:r>
            <a:endParaRPr lang="en-US" sz="750" dirty="0"/>
          </a:p>
        </p:txBody>
      </p:sp>
      <p:sp>
        <p:nvSpPr>
          <p:cNvPr id="22" name="Text 20"/>
          <p:cNvSpPr/>
          <p:nvPr/>
        </p:nvSpPr>
        <p:spPr>
          <a:xfrm>
            <a:off x="5462626"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Fill</a:t>
            </a:r>
            <a:endParaRPr lang="en-US" sz="1150" dirty="0"/>
          </a:p>
        </p:txBody>
      </p:sp>
      <p:sp>
        <p:nvSpPr>
          <p:cNvPr id="23" name="Text 21"/>
          <p:cNvSpPr/>
          <p:nvPr/>
        </p:nvSpPr>
        <p:spPr>
          <a:xfrm>
            <a:off x="5462626"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Membership ramp, events programming, referral engine from the open clinic. Operating breakeven lands here.</a:t>
            </a:r>
            <a:endParaRPr lang="en-US" sz="850" dirty="0"/>
          </a:p>
        </p:txBody>
      </p:sp>
      <p:sp>
        <p:nvSpPr>
          <p:cNvPr id="24" name="Shape 22"/>
          <p:cNvSpPr/>
          <p:nvPr/>
        </p:nvSpPr>
        <p:spPr>
          <a:xfrm>
            <a:off x="7115861" y="1600200"/>
            <a:ext cx="1525219" cy="25603"/>
          </a:xfrm>
          <a:prstGeom prst="rect">
            <a:avLst/>
          </a:prstGeom>
          <a:solidFill>
            <a:srgbClr val="2E4237"/>
          </a:solidFill>
          <a:ln w="12700">
            <a:solidFill>
              <a:srgbClr val="2E4237"/>
            </a:solidFill>
            <a:prstDash val="solid"/>
          </a:ln>
        </p:spPr>
      </p:sp>
      <p:sp>
        <p:nvSpPr>
          <p:cNvPr id="25" name="Shape 23"/>
          <p:cNvSpPr/>
          <p:nvPr/>
        </p:nvSpPr>
        <p:spPr>
          <a:xfrm>
            <a:off x="7115861" y="1563624"/>
            <a:ext cx="100584" cy="100584"/>
          </a:xfrm>
          <a:prstGeom prst="ellipse">
            <a:avLst/>
          </a:prstGeom>
          <a:solidFill>
            <a:srgbClr val="C08D7C"/>
          </a:solidFill>
          <a:ln w="12700">
            <a:solidFill>
              <a:srgbClr val="C08D7C"/>
            </a:solidFill>
            <a:prstDash val="solid"/>
          </a:ln>
        </p:spPr>
      </p:sp>
      <p:sp>
        <p:nvSpPr>
          <p:cNvPr id="26" name="Text 24"/>
          <p:cNvSpPr/>
          <p:nvPr/>
        </p:nvSpPr>
        <p:spPr>
          <a:xfrm>
            <a:off x="7115861"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15–36</a:t>
            </a:r>
            <a:endParaRPr lang="en-US" sz="750" dirty="0"/>
          </a:p>
        </p:txBody>
      </p:sp>
      <p:sp>
        <p:nvSpPr>
          <p:cNvPr id="27" name="Text 25"/>
          <p:cNvSpPr/>
          <p:nvPr/>
        </p:nvSpPr>
        <p:spPr>
          <a:xfrm>
            <a:off x="7115861"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Stabilize</a:t>
            </a:r>
            <a:endParaRPr lang="en-US" sz="1150" dirty="0"/>
          </a:p>
        </p:txBody>
      </p:sp>
      <p:sp>
        <p:nvSpPr>
          <p:cNvPr id="28" name="Text 26"/>
          <p:cNvSpPr/>
          <p:nvPr/>
        </p:nvSpPr>
        <p:spPr>
          <a:xfrm>
            <a:off x="7115861"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Amortization begins at month 19. Caps approached on Resident and Longevity. Waitlist opens.</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TEAM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operating team is in place.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Clinical, aesthetic, longevity and hospitality leadership are all seated. No key role is open at opening.</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651760"/>
                <a:gridCol w="3840480"/>
                <a:gridCol w="164592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Seat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Responsibility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Status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Founder &amp; Operator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Operations, brand, capital, compliance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Medical Director (MD/DO)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Clinical oversight, protocols, standing orders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Surgeon (plastic or facial plastic, board certified)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Operative cases, patient selection, surgical QA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Technologist and Circulator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 setup, sterile field, instrument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Aesthetics Injector (NP or PA)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Neuromodulators, filler, energy devices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Clinical Lead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Hormone, peptide, GLP-1 and biomarker programs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Club General Manager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Membership, events, hospitality, retention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Registered Nurses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therapy, regenerative, recovery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RISKS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could go wrong, and what we did about it.</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2743200"/>
                <a:gridCol w="5394960"/>
              </a:tblGrid>
              <a:tr h="27432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Risk</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Mitigation</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Membership fills slower than modeled.</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clinic is open to non-members from day one, so revenue does not depend on the club filling. The low case flexes volume to 72% of base and still services debt.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 redeem more than their fees cover.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Credit banks are sized against measured redemption and the model asserts the ratio stays below 100%. The three-month minimum with 30-day change notice makes repricing operationally possible.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key clinical seat turns over during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club layer, recovery floor and IV lounge run on materially less scarce staffing than the injectable and physician-led lines, so a temporary gap narrows the offering without closing the building. Clinical compensation carries retention terms through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An adverse surgical event, or an accreditation lapse.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sedation ceiling and two-hour recovery cap exclude every general-anesthesia procedure and its acuity. Patient-selection criteria, a written transfer agreement with a nearby acute-care facility, and a standing QA program sit behind that.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surgeon leaves and operative volume stops.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revenue is roughly a third of the total; the club and clinic carry fixed overhead independently. Coverage holds above 1.25x on the wellness business alone, so a vacant OR delays growth rather than threatening debt service.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Rates move against us before close.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Coverage is stress-tested 200 basis points above assumption and disclosed at each level rather than quoted at 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national brand opens nearby.</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defensible asset is the licensed medical practice, not the sauna. A recovery studio cannot add injectables, hormones and physician oversight without becoming a medical practice.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Wet-area construction overruns.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highest-variance line in the buildout. The lean case exists precisely as the fallback scope, and the reserve is sized against the modeled cash trough rather than to a round number.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02920" y="1051560"/>
            <a:ext cx="8138160" cy="2834640"/>
          </a:xfrm>
          <a:prstGeom prst="roundRect">
            <a:avLst>
              <a:gd name="adj" fmla="val 2581"/>
            </a:avLst>
          </a:prstGeom>
          <a:solidFill>
            <a:srgbClr val="241C1A"/>
          </a:solidFill>
          <a:ln w="15875">
            <a:solidFill>
              <a:srgbClr val="C08D7C"/>
            </a:solidFill>
            <a:prstDash val="solid"/>
          </a:ln>
        </p:spPr>
      </p:sp>
      <p:sp>
        <p:nvSpPr>
          <p:cNvPr id="3" name="Text 1"/>
          <p:cNvSpPr/>
          <p:nvPr/>
        </p:nvSpPr>
        <p:spPr>
          <a:xfrm>
            <a:off x="502920" y="1371600"/>
            <a:ext cx="8138160" cy="228600"/>
          </a:xfrm>
          <a:prstGeom prst="rect">
            <a:avLst/>
          </a:prstGeom>
          <a:noFill/>
          <a:ln/>
        </p:spPr>
        <p:txBody>
          <a:bodyPr wrap="square" rtlCol="0" anchor="ctr"/>
          <a:lstStyle/>
          <a:p>
            <a:pPr algn="ctr" indent="0" marL="0">
              <a:buNone/>
            </a:pPr>
            <a:r>
              <a:rPr lang="en-US" sz="900" spc="300" kern="0" dirty="0">
                <a:solidFill>
                  <a:srgbClr val="C08D7C"/>
                </a:solidFill>
                <a:latin typeface="Century Gothic" pitchFamily="34" charset="0"/>
                <a:ea typeface="Century Gothic" pitchFamily="34" charset="-122"/>
                <a:cs typeface="Century Gothic" pitchFamily="34" charset="-120"/>
              </a:rPr>
              <a:t>PLAYA VISTA, CALIFORNIA</a:t>
            </a:r>
            <a:endParaRPr lang="en-US" sz="900" dirty="0"/>
          </a:p>
        </p:txBody>
      </p:sp>
      <p:sp>
        <p:nvSpPr>
          <p:cNvPr id="4" name="Text 2"/>
          <p:cNvSpPr/>
          <p:nvPr/>
        </p:nvSpPr>
        <p:spPr>
          <a:xfrm>
            <a:off x="502920" y="1691640"/>
            <a:ext cx="8138160" cy="914400"/>
          </a:xfrm>
          <a:prstGeom prst="rect">
            <a:avLst/>
          </a:prstGeom>
          <a:noFill/>
          <a:ln/>
        </p:spPr>
        <p:txBody>
          <a:bodyPr wrap="square" rtlCol="0" anchor="ctr"/>
          <a:lstStyle/>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Self-care is already social.</a:t>
            </a:r>
            <a:endParaRPr lang="en-US" sz="2400" dirty="0"/>
          </a:p>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Nobody has built the room for it.</a:t>
            </a:r>
            <a:endParaRPr lang="en-US" sz="2400" dirty="0"/>
          </a:p>
        </p:txBody>
      </p:sp>
      <p:sp>
        <p:nvSpPr>
          <p:cNvPr id="5" name="Text 3"/>
          <p:cNvSpPr/>
          <p:nvPr/>
        </p:nvSpPr>
        <p:spPr>
          <a:xfrm>
            <a:off x="502920" y="2697480"/>
            <a:ext cx="8138160" cy="274320"/>
          </a:xfrm>
          <a:prstGeom prst="rect">
            <a:avLst/>
          </a:prstGeom>
          <a:noFill/>
          <a:ln/>
        </p:spPr>
        <p:txBody>
          <a:bodyPr wrap="square" rtlCol="0" anchor="ctr"/>
          <a:lstStyle/>
          <a:p>
            <a:pPr algn="ctr" indent="0" marL="0">
              <a:buNone/>
            </a:pPr>
            <a:r>
              <a:rPr lang="en-US" sz="1150" dirty="0">
                <a:solidFill>
                  <a:srgbClr val="A8A296"/>
                </a:solidFill>
                <a:latin typeface="Calibri" pitchFamily="34" charset="0"/>
                <a:ea typeface="Calibri" pitchFamily="34" charset="-122"/>
                <a:cs typeface="Calibri" pitchFamily="34" charset="-120"/>
              </a:rPr>
              <a:t>Surgical case  ·  $5.55M project  ·  6,700 SF  ·  2.21x stabilized coverage</a:t>
            </a:r>
            <a:endParaRPr lang="en-US" sz="1150" dirty="0"/>
          </a:p>
        </p:txBody>
      </p:sp>
      <p:sp>
        <p:nvSpPr>
          <p:cNvPr id="6" name="Text 4"/>
          <p:cNvSpPr/>
          <p:nvPr/>
        </p:nvSpPr>
        <p:spPr>
          <a:xfrm>
            <a:off x="502920" y="3017520"/>
            <a:ext cx="8138160" cy="274320"/>
          </a:xfrm>
          <a:prstGeom prst="rect">
            <a:avLst/>
          </a:prstGeom>
          <a:noFill/>
          <a:ln/>
        </p:spPr>
        <p:txBody>
          <a:bodyPr wrap="square" rtlCol="0" anchor="ctr"/>
          <a:lstStyle/>
          <a:p>
            <a:pPr algn="ctr" indent="0" marL="0">
              <a:buNone/>
            </a:pPr>
            <a:r>
              <a:rPr lang="en-US" sz="1050" dirty="0">
                <a:solidFill>
                  <a:srgbClr val="6E6A62"/>
                </a:solidFill>
                <a:latin typeface="Calibri" pitchFamily="34" charset="0"/>
                <a:ea typeface="Calibri" pitchFamily="34" charset="-122"/>
                <a:cs typeface="Calibri" pitchFamily="34" charset="-120"/>
              </a:rPr>
              <a:t>Full model, capacity workbook and buildout detail available under NDA.</a:t>
            </a:r>
            <a:endParaRPr lang="en-US" sz="1050" dirty="0"/>
          </a:p>
        </p:txBody>
      </p:sp>
      <p:sp>
        <p:nvSpPr>
          <p:cNvPr id="7" name="Text 5"/>
          <p:cNvSpPr/>
          <p:nvPr/>
        </p:nvSpPr>
        <p:spPr>
          <a:xfrm>
            <a:off x="502920" y="3364992"/>
            <a:ext cx="8138160" cy="320040"/>
          </a:xfrm>
          <a:prstGeom prst="rect">
            <a:avLst/>
          </a:prstGeom>
          <a:noFill/>
          <a:ln/>
        </p:spPr>
        <p:txBody>
          <a:bodyPr wrap="square" rtlCol="0" anchor="ctr"/>
          <a:lstStyle/>
          <a:p>
            <a:pPr algn="ctr" indent="0" marL="0">
              <a:buNone/>
            </a:pPr>
            <a:r>
              <a:rPr lang="en-US" sz="1400" dirty="0">
                <a:solidFill>
                  <a:srgbClr val="C08D7C"/>
                </a:solidFill>
                <a:latin typeface="Century Gothic" pitchFamily="34" charset="0"/>
                <a:ea typeface="Century Gothic" pitchFamily="34" charset="-122"/>
                <a:cs typeface="Century Gothic" pitchFamily="34" charset="-120"/>
              </a:rPr>
              <a:t>Laura@culvercitysurgical.com</a:t>
            </a:r>
            <a:endParaRPr lang="en-US" sz="1400" dirty="0"/>
          </a:p>
        </p:txBody>
      </p:sp>
      <p:sp>
        <p:nvSpPr>
          <p:cNvPr id="8" name="Text 6"/>
          <p:cNvSpPr/>
          <p:nvPr/>
        </p:nvSpPr>
        <p:spPr>
          <a:xfrm>
            <a:off x="502920" y="4206240"/>
            <a:ext cx="8138160" cy="457200"/>
          </a:xfrm>
          <a:prstGeom prst="rect">
            <a:avLst/>
          </a:prstGeom>
          <a:noFill/>
          <a:ln/>
        </p:spPr>
        <p:txBody>
          <a:bodyPr wrap="square" rtlCol="0" anchor="ctr"/>
          <a:lstStyle/>
          <a:p>
            <a:pPr algn="ctr" indent="0" marL="0">
              <a:buNone/>
            </a:pPr>
            <a:r>
              <a:rPr lang="en-US" sz="750" dirty="0">
                <a:solidFill>
                  <a:srgbClr val="6E6A62"/>
                </a:solidFill>
                <a:latin typeface="Calibri" pitchFamily="34" charset="0"/>
                <a:ea typeface="Calibri" pitchFamily="34" charset="-122"/>
                <a:cs typeface="Calibri" pitchFamily="34" charset="-120"/>
              </a:rPr>
              <a:t>This document is not an offer to sell or a solicitation of an offer to buy any security. Forward-looking figures are projections and not guarantees of future performance.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 Investor and SBA Brief</dc:subject>
  <dc:creator>LK Wellness</dc:creator>
  <cp:lastModifiedBy>LK Wellness</cp:lastModifiedBy>
  <cp:revision>1</cp:revision>
  <dcterms:created xsi:type="dcterms:W3CDTF">2026-08-11T06:28:48Z</dcterms:created>
  <dcterms:modified xsi:type="dcterms:W3CDTF">2026-08-11T06:28:48Z</dcterms:modified>
</cp:coreProperties>
</file>