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  Facial Contouring Surgery  ·  Awake Liposuction &amp; Body Contouring  ·  Fat Grafting &amp; Transfer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Pre-op and PACU (3 monitored bays)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supply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Soiled utility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suite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$214,150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429000"/>
            <a:ext cx="8138160" cy="54864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Only the four operating-room lines consume the OR. Hair restoration, ablative laser and office excisions run under local in the treatment rooms the clinic already has, which is what holds the surgical suite to 900 square feet with no dedicated procedure room.</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$633,380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-$40,310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$463,570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$714,195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696944"/>
            <a:ext cx="8138160" cy="10973"/>
          </a:xfrm>
          <a:prstGeom prst="rect">
            <a:avLst/>
          </a:prstGeom>
          <a:solidFill>
            <a:srgbClr val="2E4237"/>
          </a:solidFill>
          <a:ln w="12700">
            <a:solidFill>
              <a:srgbClr val="2E4237"/>
            </a:solidFill>
            <a:prstDash val="solid"/>
          </a:ln>
        </p:spPr>
      </p:sp>
      <p:sp>
        <p:nvSpPr>
          <p:cNvPr id="7" name="Shape 5"/>
          <p:cNvSpPr/>
          <p:nvPr/>
        </p:nvSpPr>
        <p:spPr>
          <a:xfrm>
            <a:off x="539090" y="2696944"/>
            <a:ext cx="153721" cy="904836"/>
          </a:xfrm>
          <a:prstGeom prst="rect">
            <a:avLst/>
          </a:prstGeom>
          <a:solidFill>
            <a:srgbClr val="2E4237"/>
          </a:solidFill>
          <a:ln w="12700">
            <a:solidFill>
              <a:srgbClr val="2E4237"/>
            </a:solidFill>
            <a:prstDash val="solid"/>
          </a:ln>
        </p:spPr>
      </p:sp>
      <p:sp>
        <p:nvSpPr>
          <p:cNvPr id="8" name="Shape 6"/>
          <p:cNvSpPr/>
          <p:nvPr/>
        </p:nvSpPr>
        <p:spPr>
          <a:xfrm>
            <a:off x="765150" y="2696944"/>
            <a:ext cx="153721" cy="904836"/>
          </a:xfrm>
          <a:prstGeom prst="rect">
            <a:avLst/>
          </a:prstGeom>
          <a:solidFill>
            <a:srgbClr val="2E4237"/>
          </a:solidFill>
          <a:ln w="12700">
            <a:solidFill>
              <a:srgbClr val="2E4237"/>
            </a:solidFill>
            <a:prstDash val="solid"/>
          </a:ln>
        </p:spPr>
      </p:sp>
      <p:sp>
        <p:nvSpPr>
          <p:cNvPr id="9" name="Shape 7"/>
          <p:cNvSpPr/>
          <p:nvPr/>
        </p:nvSpPr>
        <p:spPr>
          <a:xfrm>
            <a:off x="991210" y="2696944"/>
            <a:ext cx="153721" cy="904836"/>
          </a:xfrm>
          <a:prstGeom prst="rect">
            <a:avLst/>
          </a:prstGeom>
          <a:solidFill>
            <a:srgbClr val="2E4237"/>
          </a:solidFill>
          <a:ln w="12700">
            <a:solidFill>
              <a:srgbClr val="2E4237"/>
            </a:solidFill>
            <a:prstDash val="solid"/>
          </a:ln>
        </p:spPr>
      </p:sp>
      <p:sp>
        <p:nvSpPr>
          <p:cNvPr id="10" name="Shape 8"/>
          <p:cNvSpPr/>
          <p:nvPr/>
        </p:nvSpPr>
        <p:spPr>
          <a:xfrm>
            <a:off x="1217270" y="2696944"/>
            <a:ext cx="153721" cy="904836"/>
          </a:xfrm>
          <a:prstGeom prst="rect">
            <a:avLst/>
          </a:prstGeom>
          <a:solidFill>
            <a:srgbClr val="2E4237"/>
          </a:solidFill>
          <a:ln w="12700">
            <a:solidFill>
              <a:srgbClr val="2E4237"/>
            </a:solidFill>
            <a:prstDash val="solid"/>
          </a:ln>
        </p:spPr>
      </p:sp>
      <p:sp>
        <p:nvSpPr>
          <p:cNvPr id="11" name="Shape 9"/>
          <p:cNvSpPr/>
          <p:nvPr/>
        </p:nvSpPr>
        <p:spPr>
          <a:xfrm>
            <a:off x="1443330" y="2696944"/>
            <a:ext cx="153721" cy="904836"/>
          </a:xfrm>
          <a:prstGeom prst="rect">
            <a:avLst/>
          </a:prstGeom>
          <a:solidFill>
            <a:srgbClr val="2E4237"/>
          </a:solidFill>
          <a:ln w="12700">
            <a:solidFill>
              <a:srgbClr val="2E4237"/>
            </a:solidFill>
            <a:prstDash val="solid"/>
          </a:ln>
        </p:spPr>
      </p:sp>
      <p:sp>
        <p:nvSpPr>
          <p:cNvPr id="12" name="Shape 10"/>
          <p:cNvSpPr/>
          <p:nvPr/>
        </p:nvSpPr>
        <p:spPr>
          <a:xfrm>
            <a:off x="1669390" y="2696944"/>
            <a:ext cx="153721" cy="904836"/>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696944"/>
            <a:ext cx="153721" cy="1253264"/>
          </a:xfrm>
          <a:prstGeom prst="rect">
            <a:avLst/>
          </a:prstGeom>
          <a:solidFill>
            <a:srgbClr val="2E4237"/>
          </a:solidFill>
          <a:ln w="12700">
            <a:solidFill>
              <a:srgbClr val="2E4237"/>
            </a:solidFill>
            <a:prstDash val="solid"/>
          </a:ln>
        </p:spPr>
      </p:sp>
      <p:sp>
        <p:nvSpPr>
          <p:cNvPr id="15" name="Shape 13"/>
          <p:cNvSpPr/>
          <p:nvPr/>
        </p:nvSpPr>
        <p:spPr>
          <a:xfrm>
            <a:off x="2121510" y="2696944"/>
            <a:ext cx="153721" cy="993601"/>
          </a:xfrm>
          <a:prstGeom prst="rect">
            <a:avLst/>
          </a:prstGeom>
          <a:solidFill>
            <a:srgbClr val="2E4237"/>
          </a:solidFill>
          <a:ln w="12700">
            <a:solidFill>
              <a:srgbClr val="2E4237"/>
            </a:solidFill>
            <a:prstDash val="solid"/>
          </a:ln>
        </p:spPr>
      </p:sp>
      <p:sp>
        <p:nvSpPr>
          <p:cNvPr id="16" name="Shape 14"/>
          <p:cNvSpPr/>
          <p:nvPr/>
        </p:nvSpPr>
        <p:spPr>
          <a:xfrm>
            <a:off x="2347570" y="2696944"/>
            <a:ext cx="153721" cy="696850"/>
          </a:xfrm>
          <a:prstGeom prst="rect">
            <a:avLst/>
          </a:prstGeom>
          <a:solidFill>
            <a:srgbClr val="2E4237"/>
          </a:solidFill>
          <a:ln w="12700">
            <a:solidFill>
              <a:srgbClr val="2E4237"/>
            </a:solidFill>
            <a:prstDash val="solid"/>
          </a:ln>
        </p:spPr>
      </p:sp>
      <p:sp>
        <p:nvSpPr>
          <p:cNvPr id="17" name="Shape 15"/>
          <p:cNvSpPr/>
          <p:nvPr/>
        </p:nvSpPr>
        <p:spPr>
          <a:xfrm>
            <a:off x="2573630" y="2696944"/>
            <a:ext cx="153721" cy="474282"/>
          </a:xfrm>
          <a:prstGeom prst="rect">
            <a:avLst/>
          </a:prstGeom>
          <a:solidFill>
            <a:srgbClr val="2E4237"/>
          </a:solidFill>
          <a:ln w="12700">
            <a:solidFill>
              <a:srgbClr val="2E4237"/>
            </a:solidFill>
            <a:prstDash val="solid"/>
          </a:ln>
        </p:spPr>
      </p:sp>
      <p:sp>
        <p:nvSpPr>
          <p:cNvPr id="18" name="Shape 16"/>
          <p:cNvSpPr/>
          <p:nvPr/>
        </p:nvSpPr>
        <p:spPr>
          <a:xfrm>
            <a:off x="2799690" y="2696944"/>
            <a:ext cx="153721" cy="251715"/>
          </a:xfrm>
          <a:prstGeom prst="rect">
            <a:avLst/>
          </a:prstGeom>
          <a:solidFill>
            <a:srgbClr val="2E4237"/>
          </a:solidFill>
          <a:ln w="12700">
            <a:solidFill>
              <a:srgbClr val="2E4237"/>
            </a:solidFill>
            <a:prstDash val="solid"/>
          </a:ln>
        </p:spPr>
      </p:sp>
      <p:sp>
        <p:nvSpPr>
          <p:cNvPr id="19" name="Shape 17"/>
          <p:cNvSpPr/>
          <p:nvPr/>
        </p:nvSpPr>
        <p:spPr>
          <a:xfrm>
            <a:off x="3025750" y="2696944"/>
            <a:ext cx="153721" cy="29155"/>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03531"/>
            <a:ext cx="153721" cy="193413"/>
          </a:xfrm>
          <a:prstGeom prst="rect">
            <a:avLst/>
          </a:prstGeom>
          <a:solidFill>
            <a:srgbClr val="C08D7C"/>
          </a:solidFill>
          <a:ln w="12700">
            <a:solidFill>
              <a:srgbClr val="C08D7C"/>
            </a:solidFill>
            <a:prstDash val="solid"/>
          </a:ln>
        </p:spPr>
      </p:sp>
      <p:sp>
        <p:nvSpPr>
          <p:cNvPr id="22" name="Shape 20"/>
          <p:cNvSpPr/>
          <p:nvPr/>
        </p:nvSpPr>
        <p:spPr>
          <a:xfrm>
            <a:off x="3477870" y="2355155"/>
            <a:ext cx="153721" cy="341788"/>
          </a:xfrm>
          <a:prstGeom prst="rect">
            <a:avLst/>
          </a:prstGeom>
          <a:solidFill>
            <a:srgbClr val="C08D7C"/>
          </a:solidFill>
          <a:ln w="12700">
            <a:solidFill>
              <a:srgbClr val="C08D7C"/>
            </a:solidFill>
            <a:prstDash val="solid"/>
          </a:ln>
        </p:spPr>
      </p:sp>
      <p:sp>
        <p:nvSpPr>
          <p:cNvPr id="23" name="Shape 21"/>
          <p:cNvSpPr/>
          <p:nvPr/>
        </p:nvSpPr>
        <p:spPr>
          <a:xfrm>
            <a:off x="3703930" y="2206772"/>
            <a:ext cx="153721" cy="490171"/>
          </a:xfrm>
          <a:prstGeom prst="rect">
            <a:avLst/>
          </a:prstGeom>
          <a:solidFill>
            <a:srgbClr val="C08D7C"/>
          </a:solidFill>
          <a:ln w="12700">
            <a:solidFill>
              <a:srgbClr val="C08D7C"/>
            </a:solidFill>
            <a:prstDash val="solid"/>
          </a:ln>
        </p:spPr>
      </p:sp>
      <p:sp>
        <p:nvSpPr>
          <p:cNvPr id="24" name="Shape 22"/>
          <p:cNvSpPr/>
          <p:nvPr/>
        </p:nvSpPr>
        <p:spPr>
          <a:xfrm>
            <a:off x="3929990" y="2058397"/>
            <a:ext cx="153721" cy="638547"/>
          </a:xfrm>
          <a:prstGeom prst="rect">
            <a:avLst/>
          </a:prstGeom>
          <a:solidFill>
            <a:srgbClr val="C08D7C"/>
          </a:solidFill>
          <a:ln w="12700">
            <a:solidFill>
              <a:srgbClr val="C08D7C"/>
            </a:solidFill>
            <a:prstDash val="solid"/>
          </a:ln>
        </p:spPr>
      </p:sp>
      <p:sp>
        <p:nvSpPr>
          <p:cNvPr id="25" name="Shape 23"/>
          <p:cNvSpPr/>
          <p:nvPr/>
        </p:nvSpPr>
        <p:spPr>
          <a:xfrm>
            <a:off x="4156050" y="1910021"/>
            <a:ext cx="153721" cy="786923"/>
          </a:xfrm>
          <a:prstGeom prst="rect">
            <a:avLst/>
          </a:prstGeom>
          <a:solidFill>
            <a:srgbClr val="C08D7C"/>
          </a:solidFill>
          <a:ln w="12700">
            <a:solidFill>
              <a:srgbClr val="C08D7C"/>
            </a:solidFill>
            <a:prstDash val="solid"/>
          </a:ln>
        </p:spPr>
      </p:sp>
      <p:sp>
        <p:nvSpPr>
          <p:cNvPr id="26" name="Shape 24"/>
          <p:cNvSpPr/>
          <p:nvPr/>
        </p:nvSpPr>
        <p:spPr>
          <a:xfrm>
            <a:off x="4382110" y="1876295"/>
            <a:ext cx="153721" cy="820649"/>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42569"/>
            <a:ext cx="153721" cy="854375"/>
          </a:xfrm>
          <a:prstGeom prst="rect">
            <a:avLst/>
          </a:prstGeom>
          <a:solidFill>
            <a:srgbClr val="C08D7C"/>
          </a:solidFill>
          <a:ln w="12700">
            <a:solidFill>
              <a:srgbClr val="C08D7C"/>
            </a:solidFill>
            <a:prstDash val="solid"/>
          </a:ln>
        </p:spPr>
      </p:sp>
      <p:sp>
        <p:nvSpPr>
          <p:cNvPr id="29" name="Shape 27"/>
          <p:cNvSpPr/>
          <p:nvPr/>
        </p:nvSpPr>
        <p:spPr>
          <a:xfrm>
            <a:off x="4834230" y="1808843"/>
            <a:ext cx="153721" cy="888101"/>
          </a:xfrm>
          <a:prstGeom prst="rect">
            <a:avLst/>
          </a:prstGeom>
          <a:solidFill>
            <a:srgbClr val="C08D7C"/>
          </a:solidFill>
          <a:ln w="12700">
            <a:solidFill>
              <a:srgbClr val="C08D7C"/>
            </a:solidFill>
            <a:prstDash val="solid"/>
          </a:ln>
        </p:spPr>
      </p:sp>
      <p:sp>
        <p:nvSpPr>
          <p:cNvPr id="30" name="Shape 28"/>
          <p:cNvSpPr/>
          <p:nvPr/>
        </p:nvSpPr>
        <p:spPr>
          <a:xfrm>
            <a:off x="5060290" y="1775117"/>
            <a:ext cx="153721" cy="921827"/>
          </a:xfrm>
          <a:prstGeom prst="rect">
            <a:avLst/>
          </a:prstGeom>
          <a:solidFill>
            <a:srgbClr val="C08D7C"/>
          </a:solidFill>
          <a:ln w="12700">
            <a:solidFill>
              <a:srgbClr val="C08D7C"/>
            </a:solidFill>
            <a:prstDash val="solid"/>
          </a:ln>
        </p:spPr>
      </p:sp>
      <p:sp>
        <p:nvSpPr>
          <p:cNvPr id="31" name="Shape 29"/>
          <p:cNvSpPr/>
          <p:nvPr/>
        </p:nvSpPr>
        <p:spPr>
          <a:xfrm>
            <a:off x="5286350" y="1741398"/>
            <a:ext cx="153721" cy="955546"/>
          </a:xfrm>
          <a:prstGeom prst="rect">
            <a:avLst/>
          </a:prstGeom>
          <a:solidFill>
            <a:srgbClr val="C08D7C"/>
          </a:solidFill>
          <a:ln w="12700">
            <a:solidFill>
              <a:srgbClr val="C08D7C"/>
            </a:solidFill>
            <a:prstDash val="solid"/>
          </a:ln>
        </p:spPr>
      </p:sp>
      <p:sp>
        <p:nvSpPr>
          <p:cNvPr id="32" name="Shape 30"/>
          <p:cNvSpPr/>
          <p:nvPr/>
        </p:nvSpPr>
        <p:spPr>
          <a:xfrm>
            <a:off x="5512410" y="1718912"/>
            <a:ext cx="153721" cy="978032"/>
          </a:xfrm>
          <a:prstGeom prst="rect">
            <a:avLst/>
          </a:prstGeom>
          <a:solidFill>
            <a:srgbClr val="C08D7C"/>
          </a:solidFill>
          <a:ln w="12700">
            <a:solidFill>
              <a:srgbClr val="C08D7C"/>
            </a:solidFill>
            <a:prstDash val="solid"/>
          </a:ln>
        </p:spPr>
      </p:sp>
      <p:sp>
        <p:nvSpPr>
          <p:cNvPr id="33" name="Shape 31"/>
          <p:cNvSpPr/>
          <p:nvPr/>
        </p:nvSpPr>
        <p:spPr>
          <a:xfrm>
            <a:off x="5738470" y="1696425"/>
            <a:ext cx="153721" cy="100051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73946"/>
            <a:ext cx="153721" cy="1022998"/>
          </a:xfrm>
          <a:prstGeom prst="rect">
            <a:avLst/>
          </a:prstGeom>
          <a:solidFill>
            <a:srgbClr val="C08D7C"/>
          </a:solidFill>
          <a:ln w="12700">
            <a:solidFill>
              <a:srgbClr val="C08D7C"/>
            </a:solidFill>
            <a:prstDash val="solid"/>
          </a:ln>
        </p:spPr>
      </p:sp>
      <p:sp>
        <p:nvSpPr>
          <p:cNvPr id="36" name="Shape 34"/>
          <p:cNvSpPr/>
          <p:nvPr/>
        </p:nvSpPr>
        <p:spPr>
          <a:xfrm>
            <a:off x="6190590" y="1651460"/>
            <a:ext cx="153721" cy="1045484"/>
          </a:xfrm>
          <a:prstGeom prst="rect">
            <a:avLst/>
          </a:prstGeom>
          <a:solidFill>
            <a:srgbClr val="C08D7C"/>
          </a:solidFill>
          <a:ln w="12700">
            <a:solidFill>
              <a:srgbClr val="C08D7C"/>
            </a:solidFill>
            <a:prstDash val="solid"/>
          </a:ln>
        </p:spPr>
      </p:sp>
      <p:sp>
        <p:nvSpPr>
          <p:cNvPr id="37" name="Shape 35"/>
          <p:cNvSpPr/>
          <p:nvPr/>
        </p:nvSpPr>
        <p:spPr>
          <a:xfrm>
            <a:off x="6416650" y="1640220"/>
            <a:ext cx="153721" cy="1056724"/>
          </a:xfrm>
          <a:prstGeom prst="rect">
            <a:avLst/>
          </a:prstGeom>
          <a:solidFill>
            <a:srgbClr val="C08D7C"/>
          </a:solidFill>
          <a:ln w="12700">
            <a:solidFill>
              <a:srgbClr val="C08D7C"/>
            </a:solidFill>
            <a:prstDash val="solid"/>
          </a:ln>
        </p:spPr>
      </p:sp>
      <p:sp>
        <p:nvSpPr>
          <p:cNvPr id="38" name="Shape 36"/>
          <p:cNvSpPr/>
          <p:nvPr/>
        </p:nvSpPr>
        <p:spPr>
          <a:xfrm>
            <a:off x="6642710" y="1617734"/>
            <a:ext cx="153721" cy="1079210"/>
          </a:xfrm>
          <a:prstGeom prst="rect">
            <a:avLst/>
          </a:prstGeom>
          <a:solidFill>
            <a:srgbClr val="C08D7C"/>
          </a:solidFill>
          <a:ln w="12700">
            <a:solidFill>
              <a:srgbClr val="C08D7C"/>
            </a:solidFill>
            <a:prstDash val="solid"/>
          </a:ln>
        </p:spPr>
      </p:sp>
      <p:sp>
        <p:nvSpPr>
          <p:cNvPr id="39" name="Shape 37"/>
          <p:cNvSpPr/>
          <p:nvPr/>
        </p:nvSpPr>
        <p:spPr>
          <a:xfrm>
            <a:off x="6868770" y="1606494"/>
            <a:ext cx="153721" cy="1090450"/>
          </a:xfrm>
          <a:prstGeom prst="rect">
            <a:avLst/>
          </a:prstGeom>
          <a:solidFill>
            <a:srgbClr val="C08D7C"/>
          </a:solidFill>
          <a:ln w="12700">
            <a:solidFill>
              <a:srgbClr val="C08D7C"/>
            </a:solidFill>
            <a:prstDash val="solid"/>
          </a:ln>
        </p:spPr>
      </p:sp>
      <p:sp>
        <p:nvSpPr>
          <p:cNvPr id="40" name="Shape 38"/>
          <p:cNvSpPr/>
          <p:nvPr/>
        </p:nvSpPr>
        <p:spPr>
          <a:xfrm>
            <a:off x="7094830" y="1595254"/>
            <a:ext cx="153721" cy="110168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4008"/>
            <a:ext cx="153721" cy="1112936"/>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124176"/>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124176"/>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124176"/>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124176"/>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124176"/>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$158,130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$-176,288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-$1,112,191 at month 13, against a $1,207,000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$714,195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-$173,655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$521,780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-$173,000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-$363,650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$158,130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$0.14M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$514,220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$375,682</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$12,032</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0.17x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$1.90M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$714,195</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$521,780</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$158,130</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$3.65M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$914,169</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$667,878</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$304,228</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4.25x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Total project cost, Surgical case.</a:t>
            </a:r>
            <a:endParaRPr lang="en-US" sz="2600" dirty="0"/>
          </a:p>
        </p:txBody>
      </p:sp>
      <p:sp>
        <p:nvSpPr>
          <p:cNvPr id="4" name="Shape 2"/>
          <p:cNvSpPr/>
          <p:nvPr/>
        </p:nvSpPr>
        <p:spPr>
          <a:xfrm>
            <a:off x="502920" y="1371600"/>
            <a:ext cx="8138160" cy="1874520"/>
          </a:xfrm>
          <a:prstGeom prst="roundRect">
            <a:avLst>
              <a:gd name="adj" fmla="val 2927"/>
            </a:avLst>
          </a:prstGeom>
          <a:solidFill>
            <a:srgbClr val="241C1A"/>
          </a:solidFill>
          <a:ln w="15875">
            <a:solidFill>
              <a:srgbClr val="C08D7C"/>
            </a:solidFill>
            <a:prstDash val="solid"/>
          </a:ln>
        </p:spPr>
      </p:sp>
      <p:sp>
        <p:nvSpPr>
          <p:cNvPr id="5" name="Text 3"/>
          <p:cNvSpPr/>
          <p:nvPr/>
        </p:nvSpPr>
        <p:spPr>
          <a:xfrm>
            <a:off x="758952" y="1508760"/>
            <a:ext cx="7626096" cy="777240"/>
          </a:xfrm>
          <a:prstGeom prst="rect">
            <a:avLst/>
          </a:prstGeom>
          <a:noFill/>
          <a:ln/>
        </p:spPr>
        <p:txBody>
          <a:bodyPr wrap="square" rtlCol="0" anchor="ctr"/>
          <a:lstStyle/>
          <a:p>
            <a:pPr indent="0" marL="0">
              <a:buNone/>
            </a:pPr>
            <a:r>
              <a:rPr lang="en-US" sz="4400" dirty="0">
                <a:solidFill>
                  <a:srgbClr val="C08D7C"/>
                </a:solidFill>
                <a:latin typeface="Century Gothic" pitchFamily="34" charset="0"/>
                <a:ea typeface="Century Gothic" pitchFamily="34" charset="-122"/>
                <a:cs typeface="Century Gothic" pitchFamily="34" charset="-120"/>
              </a:rPr>
              <a:t>$5.55M</a:t>
            </a:r>
            <a:endParaRPr lang="en-US" sz="4400" dirty="0"/>
          </a:p>
        </p:txBody>
      </p:sp>
      <p:sp>
        <p:nvSpPr>
          <p:cNvPr id="6" name="Text 4"/>
          <p:cNvSpPr/>
          <p:nvPr/>
        </p:nvSpPr>
        <p:spPr>
          <a:xfrm>
            <a:off x="777240" y="2331720"/>
            <a:ext cx="7589520" cy="320040"/>
          </a:xfrm>
          <a:prstGeom prst="rect">
            <a:avLst/>
          </a:prstGeom>
          <a:noFill/>
          <a:ln/>
        </p:spPr>
        <p:txBody>
          <a:bodyPr wrap="square" rtlCol="0" anchor="ctr"/>
          <a:lstStyle/>
          <a:p>
            <a:pPr indent="0" marL="0">
              <a:buNone/>
            </a:pPr>
            <a:r>
              <a:rPr lang="en-US" sz="110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00" dirty="0"/>
          </a:p>
        </p:txBody>
      </p:sp>
      <p:sp>
        <p:nvSpPr>
          <p:cNvPr id="7" name="Text 5"/>
          <p:cNvSpPr/>
          <p:nvPr/>
        </p:nvSpPr>
        <p:spPr>
          <a:xfrm>
            <a:off x="777240" y="2724912"/>
            <a:ext cx="1805940" cy="182880"/>
          </a:xfrm>
          <a:prstGeom prst="rect">
            <a:avLst/>
          </a:prstGeom>
          <a:noFill/>
          <a:ln/>
        </p:spPr>
        <p:txBody>
          <a:bodyPr wrap="square" rtlCol="0" anchor="ctr"/>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8" name="Text 6"/>
          <p:cNvSpPr/>
          <p:nvPr/>
        </p:nvSpPr>
        <p:spPr>
          <a:xfrm>
            <a:off x="777240" y="2898648"/>
            <a:ext cx="1805940"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$4,995,000</a:t>
            </a:r>
            <a:endParaRPr lang="en-US" sz="1300" dirty="0"/>
          </a:p>
        </p:txBody>
      </p:sp>
      <p:sp>
        <p:nvSpPr>
          <p:cNvPr id="9" name="Text 7"/>
          <p:cNvSpPr/>
          <p:nvPr/>
        </p:nvSpPr>
        <p:spPr>
          <a:xfrm>
            <a:off x="2674620" y="2724912"/>
            <a:ext cx="1805940" cy="182880"/>
          </a:xfrm>
          <a:prstGeom prst="rect">
            <a:avLst/>
          </a:prstGeom>
          <a:noFill/>
          <a:ln/>
        </p:spPr>
        <p:txBody>
          <a:bodyPr wrap="square" rtlCol="0" anchor="ctr"/>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EQUITY INJECTION · 10% FLOOR</a:t>
            </a:r>
            <a:endParaRPr lang="en-US" sz="700" dirty="0"/>
          </a:p>
        </p:txBody>
      </p:sp>
      <p:sp>
        <p:nvSpPr>
          <p:cNvPr id="10" name="Text 8"/>
          <p:cNvSpPr/>
          <p:nvPr/>
        </p:nvSpPr>
        <p:spPr>
          <a:xfrm>
            <a:off x="2674620" y="2898648"/>
            <a:ext cx="1805940"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$555,000</a:t>
            </a:r>
            <a:endParaRPr lang="en-US" sz="1300" dirty="0"/>
          </a:p>
        </p:txBody>
      </p:sp>
      <p:sp>
        <p:nvSpPr>
          <p:cNvPr id="11" name="Text 9"/>
          <p:cNvSpPr/>
          <p:nvPr/>
        </p:nvSpPr>
        <p:spPr>
          <a:xfrm>
            <a:off x="4572000" y="2724912"/>
            <a:ext cx="1805940" cy="182880"/>
          </a:xfrm>
          <a:prstGeom prst="rect">
            <a:avLst/>
          </a:prstGeom>
          <a:noFill/>
          <a:ln/>
        </p:spPr>
        <p:txBody>
          <a:bodyPr wrap="square" rtlCol="0" anchor="ctr"/>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EQUITY AT 20% PLANNING</a:t>
            </a:r>
            <a:endParaRPr lang="en-US" sz="700" dirty="0"/>
          </a:p>
        </p:txBody>
      </p:sp>
      <p:sp>
        <p:nvSpPr>
          <p:cNvPr id="12" name="Text 10"/>
          <p:cNvSpPr/>
          <p:nvPr/>
        </p:nvSpPr>
        <p:spPr>
          <a:xfrm>
            <a:off x="4572000" y="2898648"/>
            <a:ext cx="1805940"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$1,110,000</a:t>
            </a:r>
            <a:endParaRPr lang="en-US" sz="1300" dirty="0"/>
          </a:p>
        </p:txBody>
      </p:sp>
      <p:sp>
        <p:nvSpPr>
          <p:cNvPr id="13" name="Text 11"/>
          <p:cNvSpPr/>
          <p:nvPr/>
        </p:nvSpPr>
        <p:spPr>
          <a:xfrm>
            <a:off x="6469380" y="2724912"/>
            <a:ext cx="1805940" cy="182880"/>
          </a:xfrm>
          <a:prstGeom prst="rect">
            <a:avLst/>
          </a:prstGeom>
          <a:noFill/>
          <a:ln/>
        </p:spPr>
        <p:txBody>
          <a:bodyPr wrap="square" rtlCol="0" anchor="ctr"/>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9380" y="2898648"/>
            <a:ext cx="1805940"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6,700 SF</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3401568"/>
          <a:ext cx="8138160" cy="914400"/>
        </p:xfrm>
        <a:graphic>
          <a:graphicData uri="http://schemas.openxmlformats.org/drawingml/2006/table">
            <a:tbl>
              <a:tblPr/>
              <a:tblGrid>
                <a:gridCol w="4937760"/>
                <a:gridCol w="1600200"/>
                <a:gridCol w="1600200"/>
              </a:tblGrid>
              <a:tr h="1600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Wet areas: 2 saunas, 2 plunges, steam, drainage, ventilation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and aesthetic equipment (purchased)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capital equipment (balance leased)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technology: HBOT, Ammortal, 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FF&amp;E, lounge, millwork,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Brand, launch, founding member campaign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debt service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$1,207,000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00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16"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7"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$4,995,000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injection (10% SOP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injection (20% planning)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$39,544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$71,558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$1,207,000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-$1,283,956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$355,896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$1,247,666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$666,612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1.87x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$1,846,958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$858,696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2.15x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$1,897,560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$858,701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2.21x at 9.5%   ·   2.13x at 10.5%   ·   2.05x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$1,207,000 reserve inside use of funds is sized against a modeled cash trough of $1,112,191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1.87x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2.21x at 9.5%, 2.13x at 10.5%, 2.05x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board certified)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Technologist and Circulator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surgeon leaves and operative volume stops.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revenue is roughly a third of the total; the club and clinic carry fixed overhead independently. Coverage holds above 1.25x on the wellness business alone, so a vacant OR delays growth rather than threatening debt service.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case  ·  $5.55M project  ·  6,700 SF  ·  2.21x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2026-08-11T05:52:27Z</dcterms:created>
  <dcterms:modified xsi:type="dcterms:W3CDTF">2026-08-11T05:52:27Z</dcterms:modified>
</cp:coreProperties>
</file>