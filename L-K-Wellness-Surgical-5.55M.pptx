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480560"/>
            <a:ext cx="9144000" cy="667512"/>
          </a:xfrm>
          <a:prstGeom prst="rect">
            <a:avLst/>
          </a:prstGeom>
          <a:solidFill>
            <a:srgbClr val="16241C"/>
          </a:solidFill>
          <a:ln w="12700">
            <a:solidFill>
              <a:srgbClr val="16241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1371600"/>
            <a:ext cx="8138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spc="300" kern="0" dirty="0">
                <a:solidFill>
                  <a:srgbClr val="EDE6D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L&amp;K WELLNESS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502920" y="2121408"/>
            <a:ext cx="822960" cy="41148"/>
          </a:xfrm>
          <a:prstGeom prst="rect">
            <a:avLst/>
          </a:prstGeom>
          <a:solidFill>
            <a:srgbClr val="C08D7C"/>
          </a:solidFill>
          <a:ln w="12700">
            <a:solidFill>
              <a:srgbClr val="C08D7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2331720"/>
            <a:ext cx="8138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DE6D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licensed clinic inside a private club.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02920" y="2788920"/>
            <a:ext cx="651052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08D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medicine is open to everyone. The room you want to stay in is members only.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02920" y="3429000"/>
            <a:ext cx="8138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Playa Vista, California   ·   6,700 SF   ·   Est. 2026   ·   Surgical case, $5.55M project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02920" y="4645152"/>
            <a:ext cx="8138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A8A296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  ·  INVESTOR AND SBA BRIEF  ·  FOR QUALIFIED RECIPIENTS ONLY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C08D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PROBLEM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DE6D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Wellness on the Westside is fragmented.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1097280"/>
            <a:ext cx="8138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patient optimizing their health today visits a medspa for injectables, a recovery studio for cold plunge, a longevity clinic for labs, and a concierge doctor for hormones. Four intakes, four records, four bills. Not one of them is somewhere you would choose to spend a Saturday morning.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02920" y="2286000"/>
            <a:ext cx="2602992" cy="1554480"/>
          </a:xfrm>
          <a:prstGeom prst="roundRect">
            <a:avLst>
              <a:gd name="adj" fmla="val 3529"/>
            </a:avLst>
          </a:prstGeom>
          <a:solidFill>
            <a:srgbClr val="16241C"/>
          </a:solidFill>
          <a:ln w="12700">
            <a:solidFill>
              <a:srgbClr val="2E423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2414016"/>
            <a:ext cx="23103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08D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4+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49224" y="2852928"/>
            <a:ext cx="2310384" cy="8595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providers a patient coordinates for care that belongs in one building.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270504" y="2286000"/>
            <a:ext cx="2602992" cy="1554480"/>
          </a:xfrm>
          <a:prstGeom prst="roundRect">
            <a:avLst>
              <a:gd name="adj" fmla="val 3529"/>
            </a:avLst>
          </a:prstGeom>
          <a:solidFill>
            <a:srgbClr val="16241C"/>
          </a:solidFill>
          <a:ln w="12700">
            <a:solidFill>
              <a:srgbClr val="2E423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16808" y="2414016"/>
            <a:ext cx="23103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08D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3416808" y="2852928"/>
            <a:ext cx="2310384" cy="8595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Facilities on the Westside combining licensed medical care with a genuine social club.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038088" y="2286000"/>
            <a:ext cx="2602992" cy="1554480"/>
          </a:xfrm>
          <a:prstGeom prst="roundRect">
            <a:avLst>
              <a:gd name="adj" fmla="val 3529"/>
            </a:avLst>
          </a:prstGeom>
          <a:solidFill>
            <a:srgbClr val="16241C"/>
          </a:solidFill>
          <a:ln w="12700">
            <a:solidFill>
              <a:srgbClr val="2E423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184392" y="2414016"/>
            <a:ext cx="23103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08D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10,488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184392" y="2852928"/>
            <a:ext cx="2310384" cy="8595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medical spas as of 2023, up from 8,899 the year before. The category is commoditizing on treatment alone.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02920" y="4754880"/>
            <a:ext cx="7680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6E6A6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L&amp;K WELLNESS  ·  PLAYA VISTA, CA  ·  SURGICAL CASE  ·  CONFIDENTIAL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8183880" y="475488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E6A6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C08D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INSIGHT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DE6D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Two proven models. Neither one is complete.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3986784" cy="1371600"/>
          </a:xfrm>
          <a:prstGeom prst="roundRect">
            <a:avLst>
              <a:gd name="adj" fmla="val 4000"/>
            </a:avLst>
          </a:prstGeom>
          <a:solidFill>
            <a:srgbClr val="16241C"/>
          </a:solidFill>
          <a:ln w="12700">
            <a:solidFill>
              <a:srgbClr val="2E423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9224" y="1591056"/>
            <a:ext cx="369417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08D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Remedy Place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9224" y="2029968"/>
            <a:ext cx="3694176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booking works. Anyone can book a remedy; members get credits, member pricing and guest passes. What they lack is a real ladder of affiliation.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654296" y="1463040"/>
            <a:ext cx="3986784" cy="1371600"/>
          </a:xfrm>
          <a:prstGeom prst="roundRect">
            <a:avLst>
              <a:gd name="adj" fmla="val 4000"/>
            </a:avLst>
          </a:prstGeom>
          <a:solidFill>
            <a:srgbClr val="16241C"/>
          </a:solidFill>
          <a:ln w="12700">
            <a:solidFill>
              <a:srgbClr val="2E42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00600" y="1591056"/>
            <a:ext cx="369417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08D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Soho House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800600" y="2029968"/>
            <a:ext cx="3694176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ladder works. Soho Friends is a published annual tier buying discounts and event invitations but no club access. What they lack is medicine.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02920" y="3017520"/>
            <a:ext cx="8138160" cy="1417320"/>
          </a:xfrm>
          <a:prstGeom prst="roundRect">
            <a:avLst>
              <a:gd name="adj" fmla="val 3871"/>
            </a:avLst>
          </a:prstGeom>
          <a:solidFill>
            <a:srgbClr val="241C1A"/>
          </a:solidFill>
          <a:ln w="12700">
            <a:solidFill>
              <a:srgbClr val="C08D7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04088" y="3154680"/>
            <a:ext cx="773582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260" kern="0" dirty="0">
                <a:solidFill>
                  <a:srgbClr val="C08D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GAP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704088" y="3383280"/>
            <a:ext cx="773582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EDE6D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Nobody has put a licensed medical clinic inside a social club and left the medicine open to everyone.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704088" y="3803904"/>
            <a:ext cx="773582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Gating clinical care behind a membership is bad business and a bad look. Gating the room where people actually want to spend time is precisely what a club is. L&amp;K separates the two, and that separation is the entire model.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502920" y="4754880"/>
            <a:ext cx="7680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6E6A6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L&amp;K WELLNESS  ·  PLAYA VISTA, CA  ·  SURGICAL CASE  ·  CONFIDENTIAL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8183880" y="475488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E6A6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C08D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MODEL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DE6D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One building. Two layers. Different doors.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1508760" y="1325880"/>
            <a:ext cx="6126480" cy="1325880"/>
          </a:xfrm>
          <a:prstGeom prst="roundRect">
            <a:avLst>
              <a:gd name="adj" fmla="val 4138"/>
            </a:avLst>
          </a:prstGeom>
          <a:solidFill>
            <a:srgbClr val="241C1A"/>
          </a:solidFill>
          <a:ln w="15875">
            <a:solidFill>
              <a:srgbClr val="C08D7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691640" y="1444752"/>
            <a:ext cx="5760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240" kern="0" dirty="0">
                <a:solidFill>
                  <a:srgbClr val="C08D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MEMBERS ONLY  ·  CAPPED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691640" y="1627632"/>
            <a:ext cx="5760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DE6D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Club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691640" y="1956816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Contrast suite  ·  Sauna and cold plunge ritual  ·  The Lounge  ·  Member events  ·  Guest passes  ·  Priority booking  ·  Private buyouts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02920" y="2697480"/>
            <a:ext cx="8138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200" kern="0" dirty="0">
                <a:solidFill>
                  <a:srgbClr val="6E6A6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Membership sits on top. It never sits in front.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02920" y="2999232"/>
            <a:ext cx="8138160" cy="1463040"/>
          </a:xfrm>
          <a:prstGeom prst="roundRect">
            <a:avLst>
              <a:gd name="adj" fmla="val 3750"/>
            </a:avLst>
          </a:prstGeom>
          <a:solidFill>
            <a:srgbClr val="16241C"/>
          </a:solidFill>
          <a:ln w="12700">
            <a:solidFill>
              <a:srgbClr val="2E42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04088" y="3127248"/>
            <a:ext cx="7735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240" kern="0" dirty="0">
                <a:solidFill>
                  <a:srgbClr val="6E6A6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OPEN TO EVERYONE  ·  NO MEMBERSHIP REQUIRED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704088" y="3310128"/>
            <a:ext cx="77358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DE6D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Clinic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04088" y="3639312"/>
            <a:ext cx="7735824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Aescape Robotic Massage  ·  Ammortal Chamber  ·  Red Light Therapy  ·  Hyperbaric Oxygen  ·  PRP Injections  ·  Compression / NeuFit  ·  Hormone / Peptide / GLP  ·  IV Therapy (NAD+ / Drips)  ·  Botox &amp; Fillers  ·  Laser Platform  ·  Advanced Biometrics  ·  Morpheus8 RF Microneedling  ·  DNA Analysis  ·  Emsculpt  ·  DUTCH Testing  ·  CoolSculpting  ·  DEXA Scan  ·  Blepharoplasty (facility fee)  ·  Facial Contouring Surgery (facility fee)  ·  Awake Liposuction &amp; Body Contouring (facility fee)  ·  Fat Grafting &amp; Transfer (facility fee)  ·  Hair Restoration Surgery  ·  Office Surgical Procedures  ·  Ablative Laser &amp; Skin Tightening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502920" y="4754880"/>
            <a:ext cx="7680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6E6A6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L&amp;K WELLNESS  ·  PLAYA VISTA, CA  ·  SURGICAL CASE  ·  CONFIDENTIAL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8183880" y="475488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E6A6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C08D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SURGERY SUITE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DE6D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One accredited operating room, inside the clinic.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1097280"/>
            <a:ext cx="8138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900 SF office-based surgery suite planned to the published iOR Partners specification, accredited by Quad A. It sits in the clinic layer, so anyone can book it — surgery is never a membership benefit. L&amp;K bills a facility fee; the operating surgeon is a principal who bills their professional fee directly.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02920" y="1645920"/>
            <a:ext cx="8138160" cy="841248"/>
          </a:xfrm>
          <a:prstGeom prst="roundRect">
            <a:avLst>
              <a:gd name="adj" fmla="val 6522"/>
            </a:avLst>
          </a:prstGeom>
          <a:solidFill>
            <a:srgbClr val="241C1A"/>
          </a:solidFill>
          <a:ln w="15875">
            <a:solidFill>
              <a:srgbClr val="C08D7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04088" y="1737360"/>
            <a:ext cx="77358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DE6D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Moderate sedation. Under two hours of recovery. Nothing above that line.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04088" y="2011680"/>
            <a:ext cx="77358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design decision, not a limitation. It is why there is no anesthesiologist on payroll, no anesthesia machine in the budget, and only three PACU bays. California requires accreditation only when protective reflexes may be lost; moderate sedation preserves them, so this suite sits below the trigger. We accredit anyway.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02920" y="2578608"/>
            <a:ext cx="3986784" cy="1901952"/>
          </a:xfrm>
          <a:prstGeom prst="roundRect">
            <a:avLst>
              <a:gd name="adj" fmla="val 2885"/>
            </a:avLst>
          </a:prstGeom>
          <a:solidFill>
            <a:srgbClr val="16241C"/>
          </a:solidFill>
          <a:ln w="12700">
            <a:solidFill>
              <a:srgbClr val="2E423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9224" y="2670048"/>
            <a:ext cx="369417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spc="200" kern="0" dirty="0">
                <a:solidFill>
                  <a:srgbClr val="C08D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 THE OPERATING ROOM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649224" y="2852928"/>
            <a:ext cx="3694176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70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Blepharoplasty, upper, lower and combined</a:t>
            </a:r>
            <a:endParaRPr lang="en-US" sz="7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70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 lift</a:t>
            </a:r>
            <a:endParaRPr lang="en-US" sz="7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70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Otoplasty</a:t>
            </a:r>
            <a:endParaRPr lang="en-US" sz="7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70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 augmentation and implant</a:t>
            </a:r>
            <a:endParaRPr lang="en-US" sz="7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70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Buccal fat removal</a:t>
            </a:r>
            <a:endParaRPr lang="en-US" sz="7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70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Facial fat grafting and transfer</a:t>
            </a:r>
            <a:endParaRPr lang="en-US" sz="7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70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Liposuction, single or limited area, awake tumescent</a:t>
            </a:r>
            <a:endParaRPr lang="en-US" sz="7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70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Submental neck contouring</a:t>
            </a:r>
            <a:endParaRPr lang="en-US" sz="7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70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Limited body-contouring revision</a:t>
            </a:r>
            <a:endParaRPr lang="en-US" sz="7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70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Scar revision, facial and body</a:t>
            </a:r>
            <a:endParaRPr lang="en-US" sz="7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70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Nasal valve procedures sold as elective self-pay</a:t>
            </a:r>
            <a:endParaRPr lang="en-US" sz="700" dirty="0"/>
          </a:p>
        </p:txBody>
      </p:sp>
      <p:sp>
        <p:nvSpPr>
          <p:cNvPr id="11" name="Shape 9"/>
          <p:cNvSpPr/>
          <p:nvPr/>
        </p:nvSpPr>
        <p:spPr>
          <a:xfrm>
            <a:off x="4654296" y="2578608"/>
            <a:ext cx="3986784" cy="1901952"/>
          </a:xfrm>
          <a:prstGeom prst="roundRect">
            <a:avLst>
              <a:gd name="adj" fmla="val 2885"/>
            </a:avLst>
          </a:prstGeom>
          <a:solidFill>
            <a:srgbClr val="16241C"/>
          </a:solidFill>
          <a:ln w="12700">
            <a:solidFill>
              <a:srgbClr val="2E423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00600" y="2670048"/>
            <a:ext cx="369417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spc="200" kern="0" dirty="0">
                <a:solidFill>
                  <a:srgbClr val="C08D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 THE TREATMENT ROOMS, UNDER LOCAL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4800600" y="2852928"/>
            <a:ext cx="3694176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70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Lipoma removal</a:t>
            </a:r>
            <a:endParaRPr lang="en-US" sz="7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70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Cyst removal</a:t>
            </a:r>
            <a:endParaRPr lang="en-US" sz="7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70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Benign lesion removal</a:t>
            </a:r>
            <a:endParaRPr lang="en-US" sz="7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70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Ablative laser resurfacing</a:t>
            </a:r>
            <a:endParaRPr lang="en-US" sz="7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70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Skin tightening</a:t>
            </a:r>
            <a:endParaRPr lang="en-US" sz="7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70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Hair restoration surgery and transplant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502920" y="4754880"/>
            <a:ext cx="7680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6E6A6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L&amp;K WELLNESS  ·  PLAYA VISTA, CA  ·  SURGICAL CASE  ·  CONFIDENTIAL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8183880" y="475488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E6A6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C08D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MEMBERSHIP ARCHITECTURE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DE6D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ladder, not a gate.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1924812" cy="3063240"/>
          </a:xfrm>
          <a:prstGeom prst="roundRect">
            <a:avLst>
              <a:gd name="adj" fmla="val 2850"/>
            </a:avLst>
          </a:prstGeom>
          <a:solidFill>
            <a:srgbClr val="16241C"/>
          </a:solidFill>
          <a:ln w="12700">
            <a:solidFill>
              <a:srgbClr val="2E423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30936" y="1481328"/>
            <a:ext cx="16687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DE6D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Day Pass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630936" y="1737360"/>
            <a:ext cx="16687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08D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$75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630936" y="2048256"/>
            <a:ext cx="16687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spc="140" kern="0" dirty="0">
                <a:solidFill>
                  <a:srgbClr val="6E6A6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PER VISIT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630936" y="2286000"/>
            <a:ext cx="1668780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80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circuit visit</a:t>
            </a:r>
            <a:endParaRPr lang="en-US" sz="8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80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Procedures at rack rate</a:t>
            </a:r>
            <a:endParaRPr lang="en-US" sz="8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80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events or lounge privileges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630936" y="4114800"/>
            <a:ext cx="16687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DE6D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275 visits/mo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2574036" y="1371600"/>
            <a:ext cx="1924812" cy="3063240"/>
          </a:xfrm>
          <a:prstGeom prst="roundRect">
            <a:avLst>
              <a:gd name="adj" fmla="val 2850"/>
            </a:avLst>
          </a:prstGeom>
          <a:solidFill>
            <a:srgbClr val="16241C"/>
          </a:solidFill>
          <a:ln w="12700">
            <a:solidFill>
              <a:srgbClr val="2E423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702052" y="1481328"/>
            <a:ext cx="16687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DE6D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Friends of L&amp;K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702052" y="1737360"/>
            <a:ext cx="16687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08D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$300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2702052" y="2048256"/>
            <a:ext cx="16687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spc="140" kern="0" dirty="0">
                <a:solidFill>
                  <a:srgbClr val="6E6A6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PER YEAR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2702052" y="2286000"/>
            <a:ext cx="1668780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80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 pricing on all procedures</a:t>
            </a:r>
            <a:endParaRPr lang="en-US" sz="8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80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booking window</a:t>
            </a:r>
            <a:endParaRPr lang="en-US" sz="8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80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Invitations to open events</a:t>
            </a:r>
            <a:endParaRPr lang="en-US" sz="8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80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club or circuit access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2702052" y="4114800"/>
            <a:ext cx="16687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DE6D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900 members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4645152" y="1371600"/>
            <a:ext cx="1924812" cy="3063240"/>
          </a:xfrm>
          <a:prstGeom prst="roundRect">
            <a:avLst>
              <a:gd name="adj" fmla="val 2850"/>
            </a:avLst>
          </a:prstGeom>
          <a:solidFill>
            <a:srgbClr val="16241C"/>
          </a:solidFill>
          <a:ln w="12700">
            <a:solidFill>
              <a:srgbClr val="2E423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73168" y="1481328"/>
            <a:ext cx="16687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DE6D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Resident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4773168" y="1737360"/>
            <a:ext cx="16687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08D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$450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4773168" y="2048256"/>
            <a:ext cx="16687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spc="140" kern="0" dirty="0">
                <a:solidFill>
                  <a:srgbClr val="6E6A6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PER MONTH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4773168" y="2286000"/>
            <a:ext cx="1668780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80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Rolling monthly credit bank</a:t>
            </a:r>
            <a:endParaRPr lang="en-US" sz="8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80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Unlimited recovery circuit</a:t>
            </a:r>
            <a:endParaRPr lang="en-US" sz="8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80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 pricing on all procedures</a:t>
            </a:r>
            <a:endParaRPr lang="en-US" sz="8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80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guest pass per month</a:t>
            </a:r>
            <a:endParaRPr lang="en-US" sz="8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80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 events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4773168" y="4114800"/>
            <a:ext cx="16687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DE6D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350 members · capped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6716268" y="1371600"/>
            <a:ext cx="1924812" cy="3063240"/>
          </a:xfrm>
          <a:prstGeom prst="roundRect">
            <a:avLst>
              <a:gd name="adj" fmla="val 2850"/>
            </a:avLst>
          </a:prstGeom>
          <a:solidFill>
            <a:srgbClr val="241C1A"/>
          </a:solidFill>
          <a:ln w="12700">
            <a:solidFill>
              <a:srgbClr val="C08D7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44284" y="1481328"/>
            <a:ext cx="16687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DE6D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Longevity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6844284" y="1737360"/>
            <a:ext cx="16687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08D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$1,250</a:t>
            </a:r>
            <a:endParaRPr lang="en-US" sz="1900" dirty="0"/>
          </a:p>
        </p:txBody>
      </p:sp>
      <p:sp>
        <p:nvSpPr>
          <p:cNvPr id="25" name="Text 23"/>
          <p:cNvSpPr/>
          <p:nvPr/>
        </p:nvSpPr>
        <p:spPr>
          <a:xfrm>
            <a:off x="6844284" y="2048256"/>
            <a:ext cx="16687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spc="140" kern="0" dirty="0">
                <a:solidFill>
                  <a:srgbClr val="6E6A6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PER MONTH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6844284" y="2286000"/>
            <a:ext cx="1668780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80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in Resident</a:t>
            </a:r>
            <a:endParaRPr lang="en-US" sz="8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80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Quarterly physician consult</a:t>
            </a:r>
            <a:endParaRPr lang="en-US" sz="8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80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biomarker panel, DEXA and DUTCH</a:t>
            </a:r>
            <a:endParaRPr lang="en-US" sz="8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80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Hormone and peptide program included</a:t>
            </a:r>
            <a:endParaRPr lang="en-US" sz="8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80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guest passes per month</a:t>
            </a:r>
            <a:endParaRPr lang="en-US" sz="8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80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buyout privileges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6844284" y="4114800"/>
            <a:ext cx="16687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DE6D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40 members · capped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502920" y="4498848"/>
            <a:ext cx="8138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Three-month minimum then month-to-month. Credits roll over while active and expire on cancellation. Freezes on seven days notice. Tier changes after the initial commitment.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502920" y="4754880"/>
            <a:ext cx="7680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6E6A6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L&amp;K WELLNESS  ·  PLAYA VISTA, CA  ·  SURGICAL CASE  ·  CONFIDENTIAL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8183880" y="475488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E6A6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C08D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BEFORE DOORS OPEN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DE6D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Founding Members de-risk the ramp.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1097280"/>
            <a:ext cx="8138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single strongest item in this brief for both an investor and a credit committee: revenue contracted before the business opens.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02920" y="2194560"/>
            <a:ext cx="2602992" cy="1463040"/>
          </a:xfrm>
          <a:prstGeom prst="roundRect">
            <a:avLst>
              <a:gd name="adj" fmla="val 3750"/>
            </a:avLst>
          </a:prstGeom>
          <a:solidFill>
            <a:srgbClr val="16241C"/>
          </a:solidFill>
          <a:ln w="12700">
            <a:solidFill>
              <a:srgbClr val="2E423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2322576"/>
            <a:ext cx="23103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08D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150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49224" y="2761488"/>
            <a:ext cx="2310384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Founding memberships, hard capped and sold during construction.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270504" y="2194560"/>
            <a:ext cx="2602992" cy="1463040"/>
          </a:xfrm>
          <a:prstGeom prst="roundRect">
            <a:avLst>
              <a:gd name="adj" fmla="val 3750"/>
            </a:avLst>
          </a:prstGeom>
          <a:solidFill>
            <a:srgbClr val="241C1A"/>
          </a:solidFill>
          <a:ln w="12700">
            <a:solidFill>
              <a:srgbClr val="C08D7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16808" y="2322576"/>
            <a:ext cx="23103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08D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$3,600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3416808" y="2761488"/>
            <a:ext cx="2310384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Prepaid for the first year, a 33% discount against list.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038088" y="2194560"/>
            <a:ext cx="2602992" cy="1463040"/>
          </a:xfrm>
          <a:prstGeom prst="roundRect">
            <a:avLst>
              <a:gd name="adj" fmla="val 3750"/>
            </a:avLst>
          </a:prstGeom>
          <a:solidFill>
            <a:srgbClr val="241C1A"/>
          </a:solidFill>
          <a:ln w="12700">
            <a:solidFill>
              <a:srgbClr val="C08D7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184392" y="2322576"/>
            <a:ext cx="23103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08D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$540,000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184392" y="2761488"/>
            <a:ext cx="2310384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Collected before opening, offsetting the construction-period burn.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02920" y="3840480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converts the opening ramp from a projection into a partially pre-sold book. It is also the cheapest possible market test: if the founding cohort does not sell, that is a signal worth having before the buildout is committed rather than after.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502920" y="4754880"/>
            <a:ext cx="7680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6E6A6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L&amp;K WELLNESS  ·  PLAYA VISTA, CA  ·  SURGICAL CASE  ·  CONFIDENTIAL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8183880" y="475488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E6A6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7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C08D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FACILITY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DE6D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6,700 SF in Playa Vista.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1097280"/>
            <a:ext cx="8138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in the ample case, plus one accredited office-based surgery suite.</a:t>
            </a:r>
            <a:endParaRPr lang="en-US" sz="11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572768"/>
          <a:ext cx="8138160" cy="914400"/>
        </p:xfrm>
        <a:graphic>
          <a:graphicData uri="http://schemas.openxmlformats.org/drawingml/2006/table">
            <a:tbl>
              <a:tblPr/>
              <a:tblGrid>
                <a:gridCol w="6309360"/>
                <a:gridCol w="1828800"/>
              </a:tblGrid>
              <a:tr h="1691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spc="140" kern="0" dirty="0">
                          <a:solidFill>
                            <a:srgbClr val="C08D7C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Space</a:t>
                      </a:r>
                      <a:endParaRPr lang="en-US" sz="8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spc="140" kern="0" dirty="0">
                          <a:solidFill>
                            <a:srgbClr val="C08D7C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SF</a:t>
                      </a:r>
                      <a:endParaRPr lang="en-US" sz="8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Arrival, concierge, retail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Lounge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Contrast suite (2 saunas, 2 plunges)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Recovery floor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IV and regenerative lounge (8 chairs)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Treatment rooms (3)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Diagnostics and consult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Operating room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Pre-op and PACU (3 monitored bays)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Sterile processing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Sterile supply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Soiled utility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Surgical suite circulation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Locker, shower, changing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Staff, MEP, storage, circulation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C08D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A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C08D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A22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02920" y="4754880"/>
            <a:ext cx="7680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6E6A6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L&amp;K WELLNESS  ·  PLAYA VISTA, CA  ·  SURGICAL CASE  ·  CONFIDENTIAL</a:t>
            </a:r>
            <a:endParaRPr lang="en-US" sz="700" dirty="0"/>
          </a:p>
        </p:txBody>
      </p:sp>
      <p:sp>
        <p:nvSpPr>
          <p:cNvPr id="7" name="Text 4"/>
          <p:cNvSpPr/>
          <p:nvPr/>
        </p:nvSpPr>
        <p:spPr>
          <a:xfrm>
            <a:off x="8183880" y="475488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E6A6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8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C08D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FACILITY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DE6D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Stations and equipment.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1097280"/>
            <a:ext cx="8138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sits in the 6,700 square feet, and how it is paid for.</a:t>
            </a:r>
            <a:endParaRPr lang="en-US" sz="11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45920"/>
          <a:ext cx="393192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914400"/>
              </a:tblGrid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spc="140" kern="0" dirty="0">
                          <a:solidFill>
                            <a:srgbClr val="C08D7C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Stations</a:t>
                      </a:r>
                      <a:endParaRPr lang="en-US" sz="8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spc="140" kern="0" dirty="0">
                          <a:solidFill>
                            <a:srgbClr val="C08D7C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</a:t>
                      </a:r>
                      <a:endParaRPr lang="en-US" sz="8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Treatment rooms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IV / regenerative chairs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Saunas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Cold plunges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Aescape robotic massage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Ammortal chambers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Hyperbaric chambers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Diagnostic / consult rooms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Recovery stations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754880" y="1645920"/>
            <a:ext cx="3520440" cy="2011680"/>
          </a:xfrm>
          <a:prstGeom prst="roundRect">
            <a:avLst>
              <a:gd name="adj" fmla="val 2727"/>
            </a:avLst>
          </a:prstGeom>
          <a:solidFill>
            <a:srgbClr val="16241C"/>
          </a:solidFill>
          <a:ln w="12700">
            <a:solidFill>
              <a:srgbClr val="2E4237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901184" y="1773936"/>
            <a:ext cx="32461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spc="200" kern="0" dirty="0">
                <a:solidFill>
                  <a:srgbClr val="C08D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EQUIPMENT STRATEGY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4901184" y="1993392"/>
            <a:ext cx="32461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Purchased where payback justifies it, surgical equipment part leased. Wet areas drive cost — plunges, saunas and steam carry a materially higher per-SF buildout than a dry medspa, which is why the lean case trims the contrast suite before it trims treatment rooms.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502920" y="4754880"/>
            <a:ext cx="7680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6E6A6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L&amp;K WELLNESS  ·  PLAYA VISTA, CA  ·  SURGICAL CASE  ·  CONFIDENTIAL</a:t>
            </a:r>
            <a:endParaRPr lang="en-US" sz="700" dirty="0"/>
          </a:p>
        </p:txBody>
      </p:sp>
      <p:sp>
        <p:nvSpPr>
          <p:cNvPr id="10" name="Text 7"/>
          <p:cNvSpPr/>
          <p:nvPr/>
        </p:nvSpPr>
        <p:spPr>
          <a:xfrm>
            <a:off x="8183880" y="475488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E6A6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9</a:t>
            </a:r>
            <a:endParaRPr lang="en-US" sz="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C08D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CAPACITY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DE6D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building can serve the memberships being sold.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1097280"/>
            <a:ext cx="8138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bottom-up from station hours, not assumed. The circuit bottleneck is the cold plunge, not the sauna; the clinical bottleneck is treatment rooms.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02920" y="2240280"/>
            <a:ext cx="2602992" cy="1554480"/>
          </a:xfrm>
          <a:prstGeom prst="roundRect">
            <a:avLst>
              <a:gd name="adj" fmla="val 3529"/>
            </a:avLst>
          </a:prstGeom>
          <a:solidFill>
            <a:srgbClr val="241C1A"/>
          </a:solidFill>
          <a:ln w="12700">
            <a:solidFill>
              <a:srgbClr val="C08D7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2368296"/>
            <a:ext cx="23103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08D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73%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49224" y="2807208"/>
            <a:ext cx="2310384" cy="8595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 circuit utilization. 2,345 modeled visits against 3,192 practical capacity, leaving 847 visits of headroom.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270504" y="2240280"/>
            <a:ext cx="2602992" cy="1554480"/>
          </a:xfrm>
          <a:prstGeom prst="roundRect">
            <a:avLst>
              <a:gd name="adj" fmla="val 3529"/>
            </a:avLst>
          </a:prstGeom>
          <a:solidFill>
            <a:srgbClr val="241C1A"/>
          </a:solidFill>
          <a:ln w="12700">
            <a:solidFill>
              <a:srgbClr val="C08D7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16808" y="2368296"/>
            <a:ext cx="23103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08D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59%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3416808" y="2807208"/>
            <a:ext cx="2310384" cy="8595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Treatment room utilization. 300 procedures against 507 practical capacity, leaving 207 slots of headroom.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038088" y="2240280"/>
            <a:ext cx="2602992" cy="1554480"/>
          </a:xfrm>
          <a:prstGeom prst="roundRect">
            <a:avLst>
              <a:gd name="adj" fmla="val 3529"/>
            </a:avLst>
          </a:prstGeom>
          <a:solidFill>
            <a:srgbClr val="241C1A"/>
          </a:solidFill>
          <a:ln w="12700">
            <a:solidFill>
              <a:srgbClr val="C08D7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184392" y="2368296"/>
            <a:ext cx="23103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08D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61%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184392" y="2807208"/>
            <a:ext cx="2310384" cy="8595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room utilization. 22 cases needing 38.5 hours against 63 practical hours across nine block days, leaving 24.5 hours of headroom.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02920" y="3977640"/>
            <a:ext cx="8138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E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capacity applies a utilization ceiling to theoretical station hours, because demand concentrates at peak times and nothing runs flat out. Headroom is the growth the facility can absorb without further capital.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02920" y="4754880"/>
            <a:ext cx="7680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6E6A6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L&amp;K WELLNESS  ·  PLAYA VISTA, CA  ·  SURGICAL CASE  ·  CONFIDENTIAL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8183880" y="475488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E6A6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</a:t>
            </a:r>
            <a:endParaRPr lang="en-US" sz="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C08D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MARKET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DE6D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large, fast, cash-pay category.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1097280"/>
            <a:ext cx="8138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figure carries its source. Anything we could not source was cut rather than estimated.</a:t>
            </a:r>
            <a:endParaRPr lang="en-US" sz="11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00200"/>
          <a:ext cx="8138160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1371600"/>
                <a:gridCol w="256032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spc="140" kern="0" dirty="0">
                          <a:solidFill>
                            <a:srgbClr val="C08D7C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Figure</a:t>
                      </a:r>
                      <a:endParaRPr lang="en-US" sz="8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spc="140" kern="0" dirty="0">
                          <a:solidFill>
                            <a:srgbClr val="C08D7C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Value</a:t>
                      </a:r>
                      <a:endParaRPr lang="en-US" sz="8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spc="140" kern="0" dirty="0">
                          <a:solidFill>
                            <a:srgbClr val="C08D7C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Source</a:t>
                      </a:r>
                      <a:endParaRPr lang="en-US" sz="8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Global wellness economy, 2024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$6.8T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Global Wellness Institute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Global medical spa market, 2026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$27.8B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Grand View Research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 medical spas, 2023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10,488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Grand View Research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 consumers calling wellness a top or important priority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McKinsey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 concierge medicine market by 2034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$19.4B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Cited in Patientfy longevity market map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 adults currently taking a GLP-1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in 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KFF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Longevity retreats market, 2026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$11.1B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Research and Markets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02920" y="4754880"/>
            <a:ext cx="7680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6E6A6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L&amp;K WELLNESS  ·  PLAYA VISTA, CA  ·  SURGICAL CASE  ·  CONFIDENTIAL</a:t>
            </a:r>
            <a:endParaRPr lang="en-US" sz="700" dirty="0"/>
          </a:p>
        </p:txBody>
      </p:sp>
      <p:sp>
        <p:nvSpPr>
          <p:cNvPr id="7" name="Text 4"/>
          <p:cNvSpPr/>
          <p:nvPr/>
        </p:nvSpPr>
        <p:spPr>
          <a:xfrm>
            <a:off x="8183880" y="475488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E6A6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11</a:t>
            </a:r>
            <a:endParaRPr lang="en-US" sz="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C08D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CATCHMENT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DE6D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Playa Vista is the right box on the map.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2602992" cy="1828800"/>
          </a:xfrm>
          <a:prstGeom prst="roundRect">
            <a:avLst>
              <a:gd name="adj" fmla="val 3000"/>
            </a:avLst>
          </a:prstGeom>
          <a:solidFill>
            <a:srgbClr val="16241C"/>
          </a:solidFill>
          <a:ln w="12700">
            <a:solidFill>
              <a:srgbClr val="2E423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9224" y="1591056"/>
            <a:ext cx="23103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08D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$129,942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9224" y="2029968"/>
            <a:ext cx="2310384" cy="11338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Playa Vista median household income. Against a Los Angeles County median well below it. This is a cash-pay catchment.  (US Census Bureau, via Point2Homes)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270504" y="1463040"/>
            <a:ext cx="2602992" cy="1828800"/>
          </a:xfrm>
          <a:prstGeom prst="roundRect">
            <a:avLst>
              <a:gd name="adj" fmla="val 3000"/>
            </a:avLst>
          </a:prstGeom>
          <a:solidFill>
            <a:srgbClr val="16241C"/>
          </a:solidFill>
          <a:ln w="12700">
            <a:solidFill>
              <a:srgbClr val="2E42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16808" y="1591056"/>
            <a:ext cx="23103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08D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500+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3416808" y="2029968"/>
            <a:ext cx="2310384" cy="11338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 companies in Silicon Beach. The Westside tech corridor that Playa Vista sits at the center of.  (Wikipedia, Silicon Beach)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038088" y="1463040"/>
            <a:ext cx="2602992" cy="1828800"/>
          </a:xfrm>
          <a:prstGeom prst="roundRect">
            <a:avLst>
              <a:gd name="adj" fmla="val 3000"/>
            </a:avLst>
          </a:prstGeom>
          <a:solidFill>
            <a:srgbClr val="16241C"/>
          </a:solidFill>
          <a:ln w="12700">
            <a:solidFill>
              <a:srgbClr val="2E423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184392" y="1591056"/>
            <a:ext cx="23103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08D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~5,100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6184392" y="2029968"/>
            <a:ext cx="2310384" cy="11338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Employed at The Campus at Playa Vista. Up from roughly 2,000 in 2015, a 150% increase. A dense, high-income daytime population inside walking distance.  (Los Angeles Business Journal)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02920" y="3520440"/>
            <a:ext cx="8138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260" kern="0" dirty="0">
                <a:solidFill>
                  <a:srgbClr val="C08D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INSIDE A REALISTIC DRIVE TIME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502920" y="3749040"/>
            <a:ext cx="8138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Playa Vista   ·   Marina del Rey   ·   Culver City   ·   Venice   ·   Santa Monica   ·   Playa del Rey   ·   El Segundo   ·   Westchester   ·   Mar Vista   ·   Manhattan Beach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" y="4754880"/>
            <a:ext cx="7680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6E6A6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L&amp;K WELLNESS  ·  PLAYA VISTA, CA  ·  SURGICAL CASE  ·  CONFIDENTIAL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8183880" y="475488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E6A6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12</a:t>
            </a:r>
            <a:endParaRPr lang="en-US" sz="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C08D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UNIT ECONOMICS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DE6D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Seventeen wellness lines, every one cash-pay.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1097280"/>
            <a:ext cx="8138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insurance contracts, no payer mix, no receivables aging. Price is the midpoint of a stated band.</a:t>
            </a:r>
            <a:endParaRPr lang="en-US" sz="11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91640"/>
          <a:ext cx="8138160" cy="914400"/>
        </p:xfrm>
        <a:graphic>
          <a:graphicData uri="http://schemas.openxmlformats.org/drawingml/2006/table">
            <a:tbl>
              <a:tblPr/>
              <a:tblGrid>
                <a:gridCol w="2331720"/>
                <a:gridCol w="1234440"/>
                <a:gridCol w="868680"/>
                <a:gridCol w="777240"/>
                <a:gridCol w="1097280"/>
                <a:gridCol w="1371600"/>
              </a:tblGrid>
              <a:tr h="1325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spc="140" kern="0" dirty="0">
                          <a:solidFill>
                            <a:srgbClr val="C08D7C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Service</a:t>
                      </a:r>
                      <a:endParaRPr lang="en-US" sz="7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spc="140" kern="0" dirty="0">
                          <a:solidFill>
                            <a:srgbClr val="C08D7C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Category</a:t>
                      </a:r>
                      <a:endParaRPr lang="en-US" sz="7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spc="140" kern="0" dirty="0">
                          <a:solidFill>
                            <a:srgbClr val="C08D7C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Price</a:t>
                      </a:r>
                      <a:endParaRPr lang="en-US" sz="7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spc="140" kern="0" dirty="0">
                          <a:solidFill>
                            <a:srgbClr val="C08D7C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Margin</a:t>
                      </a:r>
                      <a:endParaRPr lang="en-US" sz="7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spc="140" kern="0" dirty="0">
                          <a:solidFill>
                            <a:srgbClr val="C08D7C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Sessions/mo</a:t>
                      </a:r>
                      <a:endParaRPr lang="en-US" sz="7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spc="140" kern="0" dirty="0">
                          <a:solidFill>
                            <a:srgbClr val="C08D7C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Gross/mo</a:t>
                      </a:r>
                      <a:endParaRPr lang="en-US" sz="7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1325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Aescape Robotic Massage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Recovery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$14,000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1325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Ammortal Chamber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Recovery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$120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$14,400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1325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 Light Therapy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Recovery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$6,000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1325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Hyperbaric Oxygen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Recovery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$20,000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1325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PRP Injections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Regenerative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$1,150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$57,500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1325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Compression / NeuFit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Recovery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$113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$9,040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1325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Hormone / Peptide / GLP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Regenerative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$24,000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1325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IV Therapy (NAD+ / Drips)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Regenerative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$675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$81,000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1325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Botox &amp; Fillers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Aesthetics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$58,000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1325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Laser Platform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Aesthetics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$850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$25,500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1325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Advanced Biometrics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Diagnostics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$4,500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1325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Morpheus8 RF Microneedling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Aesthetics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$1,168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$35,040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1325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DNA Analysis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Diagnostics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$6,000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1325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Emsculpt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Aesthetics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$975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$29,250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1325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DUTCH Testing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Diagnostics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$10,500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1325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CoolSculpting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Aesthetics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$950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$19,000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1325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DEXA Scan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Diagnostics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$275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$5,500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1325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C08D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Wellness delivery at rack value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A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A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A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C08D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A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C08D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1,055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A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C08D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$419,230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A22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02920" y="4754880"/>
            <a:ext cx="7680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6E6A6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L&amp;K WELLNESS  ·  PLAYA VISTA, CA  ·  SURGICAL CASE  ·  CONFIDENTIAL</a:t>
            </a:r>
            <a:endParaRPr lang="en-US" sz="700" dirty="0"/>
          </a:p>
        </p:txBody>
      </p:sp>
      <p:sp>
        <p:nvSpPr>
          <p:cNvPr id="7" name="Text 4"/>
          <p:cNvSpPr/>
          <p:nvPr/>
        </p:nvSpPr>
        <p:spPr>
          <a:xfrm>
            <a:off x="8183880" y="475488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E6A6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13</a:t>
            </a:r>
            <a:endParaRPr lang="en-US" sz="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C08D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UNIT ECONOMICS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DE6D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Seven surgical lines, also cash-pay.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1097280"/>
            <a:ext cx="8138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Elective self-pay only. No payer contracts on the surgical side either, which is the direct result of holding the menu to the sedation ceiling.</a:t>
            </a:r>
            <a:endParaRPr lang="en-US" sz="11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91640"/>
          <a:ext cx="8138160" cy="914400"/>
        </p:xfrm>
        <a:graphic>
          <a:graphicData uri="http://schemas.openxmlformats.org/drawingml/2006/table">
            <a:tbl>
              <a:tblPr/>
              <a:tblGrid>
                <a:gridCol w="2331720"/>
                <a:gridCol w="1234440"/>
                <a:gridCol w="868680"/>
                <a:gridCol w="777240"/>
                <a:gridCol w="1097280"/>
                <a:gridCol w="1371600"/>
              </a:tblGrid>
              <a:tr h="1325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spc="140" kern="0" dirty="0">
                          <a:solidFill>
                            <a:srgbClr val="C08D7C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Service</a:t>
                      </a:r>
                      <a:endParaRPr lang="en-US" sz="7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spc="140" kern="0" dirty="0">
                          <a:solidFill>
                            <a:srgbClr val="C08D7C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Category</a:t>
                      </a:r>
                      <a:endParaRPr lang="en-US" sz="7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spc="140" kern="0" dirty="0">
                          <a:solidFill>
                            <a:srgbClr val="C08D7C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Price</a:t>
                      </a:r>
                      <a:endParaRPr lang="en-US" sz="7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spc="140" kern="0" dirty="0">
                          <a:solidFill>
                            <a:srgbClr val="C08D7C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Margin</a:t>
                      </a:r>
                      <a:endParaRPr lang="en-US" sz="7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spc="140" kern="0" dirty="0">
                          <a:solidFill>
                            <a:srgbClr val="C08D7C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Sessions/mo</a:t>
                      </a:r>
                      <a:endParaRPr lang="en-US" sz="7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spc="140" kern="0" dirty="0">
                          <a:solidFill>
                            <a:srgbClr val="C08D7C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Gross/mo</a:t>
                      </a:r>
                      <a:endParaRPr lang="en-US" sz="7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1325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Blepharoplasty (facility fee)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Surgery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$2,800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$19,600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1325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Facial Contouring Surgery (facility fee)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Surgery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$2,800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$14,000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1325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Awake Liposuction &amp; Body Contouring (facility fee)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Surgery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$3,800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$22,800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1325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 Grafting &amp; Transfer (facility fee)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Surgery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$2,800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$11,200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1325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Hair Restoration Surgery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Surgery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$10,000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$30,000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1325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Office Surgical Procedures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Surgery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$2,200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$26,400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1325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Ablative Laser &amp; Skin Tightening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Surgery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$4,250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$21,250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1325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C08D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Surgical delivery at rack value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A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A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A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C08D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A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C08D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A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C08D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$145,250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A22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02920" y="3310128"/>
            <a:ext cx="81381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850" b="1" dirty="0">
                <a:solidFill>
                  <a:srgbClr val="C08D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 operating-room lines are FACILITY FEES. </a:t>
            </a:r>
            <a:pPr indent="0" marL="0">
              <a:lnSpc>
                <a:spcPct val="118000"/>
              </a:lnSpc>
              <a:buNone/>
            </a:pPr>
            <a:r>
              <a:rPr lang="en-US" sz="850" dirty="0">
                <a:solidFill>
                  <a:srgbClr val="6E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are what L&amp;K collects for the room, clinical staff, supplies, sedation monitoring and recovery. The surgeon is a principal who bills the patient directly for their professional fee, which never appears on these books — so the all-in price a patient pays is materially higher than the figures above. That is also why OR margins exceed the treatment-room lines: with no surgeon share to pay, facility cost of goods is disposables, implants, drugs and linens only. Across 38.5 OR hours a month the schedule works out to about $1,756 per operating-room hour. Hair restoration, ablative laser and office excisions bill the full fee, because the clinic’s own clinicians perform them in treatment rooms it already has.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02920" y="4754880"/>
            <a:ext cx="7680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6E6A6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L&amp;K WELLNESS  ·  PLAYA VISTA, CA  ·  SURGICAL CASE  ·  CONFIDENTIAL</a:t>
            </a:r>
            <a:endParaRPr lang="en-US" sz="700" dirty="0"/>
          </a:p>
        </p:txBody>
      </p:sp>
      <p:sp>
        <p:nvSpPr>
          <p:cNvPr id="8" name="Text 5"/>
          <p:cNvSpPr/>
          <p:nvPr/>
        </p:nvSpPr>
        <p:spPr>
          <a:xfrm>
            <a:off x="8183880" y="475488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E6A6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14</a:t>
            </a:r>
            <a:endParaRPr lang="en-US" sz="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C08D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REVENUE MODEL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DE6D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Membership revenue is not additive.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1097280"/>
            <a:ext cx="8138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easy mistake is to stack membership fees on top of full a la carte revenue. Members draw down a credit bank against services that would otherwise be paid at rack rate, so redemption is netted out first.</a:t>
            </a:r>
            <a:endParaRPr lang="en-US" sz="11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5486400"/>
                <a:gridCol w="265176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spc="140" kern="0" dirty="0">
                          <a:solidFill>
                            <a:srgbClr val="C08D7C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Build</a:t>
                      </a:r>
                      <a:endParaRPr lang="en-US" sz="8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spc="140" kern="0" dirty="0">
                          <a:solidFill>
                            <a:srgbClr val="C08D7C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Monthly</a:t>
                      </a:r>
                      <a:endParaRPr lang="en-US" sz="8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Service delivery at rack value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$564,480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A8A2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 member credit redemption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A8A2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-$129,500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A8A2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 member and Friends discount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A8A2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-$34,798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C08D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la carte revenue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A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08D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$400,182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A2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plus membership fees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$230,000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plus day pass and access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$20,625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C08D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REVENUE PER MONTH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A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08D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$650,807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A22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02920" y="4114800"/>
            <a:ext cx="8138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Residents and Longevity members pay $207,500 a month and redeem $129,500 of service at retail. Redemption ratio 62.4%. If that exceeded 100% the credit bank would be underpriced; the model asserts it cannot.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02920" y="4754880"/>
            <a:ext cx="7680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6E6A6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L&amp;K WELLNESS  ·  PLAYA VISTA, CA  ·  SURGICAL CASE  ·  CONFIDENTIAL</a:t>
            </a:r>
            <a:endParaRPr lang="en-US" sz="700" dirty="0"/>
          </a:p>
        </p:txBody>
      </p:sp>
      <p:sp>
        <p:nvSpPr>
          <p:cNvPr id="8" name="Text 5"/>
          <p:cNvSpPr/>
          <p:nvPr/>
        </p:nvSpPr>
        <p:spPr>
          <a:xfrm>
            <a:off x="8183880" y="475488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E6A6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15</a:t>
            </a:r>
            <a:endParaRPr lang="en-US" sz="7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C08D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RAMP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DE6D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Breakeven at month 13.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1097280"/>
            <a:ext cx="8138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 one through six are construction and founding presales. Debt service is interest-only through construction and the ramp, then amortizes.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8138160" cy="2377440"/>
          </a:xfrm>
          <a:prstGeom prst="rect">
            <a:avLst/>
          </a:prstGeom>
          <a:solidFill>
            <a:srgbClr val="000000"/>
          </a:solidFill>
          <a:ln w="9525">
            <a:solidFill>
              <a:srgbClr val="2E423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2569319"/>
            <a:ext cx="8138160" cy="10973"/>
          </a:xfrm>
          <a:prstGeom prst="rect">
            <a:avLst/>
          </a:prstGeom>
          <a:solidFill>
            <a:srgbClr val="2E4237"/>
          </a:solidFill>
          <a:ln w="12700">
            <a:solidFill>
              <a:srgbClr val="2E423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39090" y="2569319"/>
            <a:ext cx="153721" cy="973870"/>
          </a:xfrm>
          <a:prstGeom prst="rect">
            <a:avLst/>
          </a:prstGeom>
          <a:solidFill>
            <a:srgbClr val="2E4237"/>
          </a:solidFill>
          <a:ln w="12700">
            <a:solidFill>
              <a:srgbClr val="2E423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65150" y="2569319"/>
            <a:ext cx="153721" cy="973870"/>
          </a:xfrm>
          <a:prstGeom prst="rect">
            <a:avLst/>
          </a:prstGeom>
          <a:solidFill>
            <a:srgbClr val="2E4237"/>
          </a:solidFill>
          <a:ln w="12700">
            <a:solidFill>
              <a:srgbClr val="2E423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91210" y="2569319"/>
            <a:ext cx="153721" cy="973870"/>
          </a:xfrm>
          <a:prstGeom prst="rect">
            <a:avLst/>
          </a:prstGeom>
          <a:solidFill>
            <a:srgbClr val="2E4237"/>
          </a:solidFill>
          <a:ln w="12700">
            <a:solidFill>
              <a:srgbClr val="2E423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217270" y="2569319"/>
            <a:ext cx="153721" cy="973870"/>
          </a:xfrm>
          <a:prstGeom prst="rect">
            <a:avLst/>
          </a:prstGeom>
          <a:solidFill>
            <a:srgbClr val="2E4237"/>
          </a:solidFill>
          <a:ln w="12700">
            <a:solidFill>
              <a:srgbClr val="2E423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443330" y="2569319"/>
            <a:ext cx="153721" cy="973870"/>
          </a:xfrm>
          <a:prstGeom prst="rect">
            <a:avLst/>
          </a:prstGeom>
          <a:solidFill>
            <a:srgbClr val="2E4237"/>
          </a:solidFill>
          <a:ln w="12700">
            <a:solidFill>
              <a:srgbClr val="2E423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69390" y="2569319"/>
            <a:ext cx="153721" cy="973870"/>
          </a:xfrm>
          <a:prstGeom prst="rect">
            <a:avLst/>
          </a:prstGeom>
          <a:solidFill>
            <a:srgbClr val="2E4237"/>
          </a:solidFill>
          <a:ln w="12700">
            <a:solidFill>
              <a:srgbClr val="2E423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443330" y="3977640"/>
            <a:ext cx="6781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E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M6</a:t>
            </a:r>
            <a:endParaRPr lang="en-US" sz="700" dirty="0"/>
          </a:p>
        </p:txBody>
      </p:sp>
      <p:sp>
        <p:nvSpPr>
          <p:cNvPr id="14" name="Shape 12"/>
          <p:cNvSpPr/>
          <p:nvPr/>
        </p:nvSpPr>
        <p:spPr>
          <a:xfrm>
            <a:off x="1895450" y="2569319"/>
            <a:ext cx="153721" cy="1380889"/>
          </a:xfrm>
          <a:prstGeom prst="rect">
            <a:avLst/>
          </a:prstGeom>
          <a:solidFill>
            <a:srgbClr val="2E4237"/>
          </a:solidFill>
          <a:ln w="12700">
            <a:solidFill>
              <a:srgbClr val="2E423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121510" y="2569319"/>
            <a:ext cx="153721" cy="1116355"/>
          </a:xfrm>
          <a:prstGeom prst="rect">
            <a:avLst/>
          </a:prstGeom>
          <a:solidFill>
            <a:srgbClr val="2E4237"/>
          </a:solidFill>
          <a:ln w="12700">
            <a:solidFill>
              <a:srgbClr val="2E423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347570" y="2569319"/>
            <a:ext cx="153721" cy="814032"/>
          </a:xfrm>
          <a:prstGeom prst="rect">
            <a:avLst/>
          </a:prstGeom>
          <a:solidFill>
            <a:srgbClr val="2E4237"/>
          </a:solidFill>
          <a:ln w="12700">
            <a:solidFill>
              <a:srgbClr val="2E423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573630" y="2569319"/>
            <a:ext cx="153721" cy="587293"/>
          </a:xfrm>
          <a:prstGeom prst="rect">
            <a:avLst/>
          </a:prstGeom>
          <a:solidFill>
            <a:srgbClr val="2E4237"/>
          </a:solidFill>
          <a:ln w="12700">
            <a:solidFill>
              <a:srgbClr val="2E423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799690" y="2569319"/>
            <a:ext cx="153721" cy="360547"/>
          </a:xfrm>
          <a:prstGeom prst="rect">
            <a:avLst/>
          </a:prstGeom>
          <a:solidFill>
            <a:srgbClr val="2E4237"/>
          </a:solidFill>
          <a:ln w="12700">
            <a:solidFill>
              <a:srgbClr val="2E423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025750" y="2569319"/>
            <a:ext cx="153721" cy="133809"/>
          </a:xfrm>
          <a:prstGeom prst="rect">
            <a:avLst/>
          </a:prstGeom>
          <a:solidFill>
            <a:srgbClr val="2E4237"/>
          </a:solidFill>
          <a:ln w="12700">
            <a:solidFill>
              <a:srgbClr val="2E423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799690" y="3977640"/>
            <a:ext cx="6781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E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M12</a:t>
            </a:r>
            <a:endParaRPr lang="en-US" sz="700" dirty="0"/>
          </a:p>
        </p:txBody>
      </p:sp>
      <p:sp>
        <p:nvSpPr>
          <p:cNvPr id="21" name="Shape 19"/>
          <p:cNvSpPr/>
          <p:nvPr/>
        </p:nvSpPr>
        <p:spPr>
          <a:xfrm>
            <a:off x="3251810" y="2476381"/>
            <a:ext cx="153721" cy="92938"/>
          </a:xfrm>
          <a:prstGeom prst="rect">
            <a:avLst/>
          </a:prstGeom>
          <a:solidFill>
            <a:srgbClr val="C08D7C"/>
          </a:solidFill>
          <a:ln w="12700">
            <a:solidFill>
              <a:srgbClr val="C08D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77870" y="2325219"/>
            <a:ext cx="153721" cy="244099"/>
          </a:xfrm>
          <a:prstGeom prst="rect">
            <a:avLst/>
          </a:prstGeom>
          <a:solidFill>
            <a:srgbClr val="C08D7C"/>
          </a:solidFill>
          <a:ln w="12700">
            <a:solidFill>
              <a:srgbClr val="C08D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703930" y="2174058"/>
            <a:ext cx="153721" cy="395261"/>
          </a:xfrm>
          <a:prstGeom prst="rect">
            <a:avLst/>
          </a:prstGeom>
          <a:solidFill>
            <a:srgbClr val="C08D7C"/>
          </a:solidFill>
          <a:ln w="12700">
            <a:solidFill>
              <a:srgbClr val="C08D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929990" y="2022896"/>
            <a:ext cx="153721" cy="546422"/>
          </a:xfrm>
          <a:prstGeom prst="rect">
            <a:avLst/>
          </a:prstGeom>
          <a:solidFill>
            <a:srgbClr val="C08D7C"/>
          </a:solidFill>
          <a:ln w="12700">
            <a:solidFill>
              <a:srgbClr val="C08D7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156050" y="1871735"/>
            <a:ext cx="153721" cy="697584"/>
          </a:xfrm>
          <a:prstGeom prst="rect">
            <a:avLst/>
          </a:prstGeom>
          <a:solidFill>
            <a:srgbClr val="C08D7C"/>
          </a:solidFill>
          <a:ln w="12700">
            <a:solidFill>
              <a:srgbClr val="C08D7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382110" y="1841840"/>
            <a:ext cx="153721" cy="727478"/>
          </a:xfrm>
          <a:prstGeom prst="rect">
            <a:avLst/>
          </a:prstGeom>
          <a:solidFill>
            <a:srgbClr val="C08D7C"/>
          </a:solidFill>
          <a:ln w="12700">
            <a:solidFill>
              <a:srgbClr val="C08D7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156050" y="3977640"/>
            <a:ext cx="6781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E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M18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4608170" y="1811938"/>
            <a:ext cx="153721" cy="757380"/>
          </a:xfrm>
          <a:prstGeom prst="rect">
            <a:avLst/>
          </a:prstGeom>
          <a:solidFill>
            <a:srgbClr val="C08D7C"/>
          </a:solidFill>
          <a:ln w="12700">
            <a:solidFill>
              <a:srgbClr val="C08D7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834230" y="1782044"/>
            <a:ext cx="153721" cy="787275"/>
          </a:xfrm>
          <a:prstGeom prst="rect">
            <a:avLst/>
          </a:prstGeom>
          <a:solidFill>
            <a:srgbClr val="C08D7C"/>
          </a:solidFill>
          <a:ln w="12700">
            <a:solidFill>
              <a:srgbClr val="C08D7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060290" y="1752150"/>
            <a:ext cx="153721" cy="817169"/>
          </a:xfrm>
          <a:prstGeom prst="rect">
            <a:avLst/>
          </a:prstGeom>
          <a:solidFill>
            <a:srgbClr val="C08D7C"/>
          </a:solidFill>
          <a:ln w="12700">
            <a:solidFill>
              <a:srgbClr val="C08D7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286350" y="1722247"/>
            <a:ext cx="153721" cy="847071"/>
          </a:xfrm>
          <a:prstGeom prst="rect">
            <a:avLst/>
          </a:prstGeom>
          <a:solidFill>
            <a:srgbClr val="C08D7C"/>
          </a:solidFill>
          <a:ln w="12700">
            <a:solidFill>
              <a:srgbClr val="C08D7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512410" y="1702321"/>
            <a:ext cx="153721" cy="866998"/>
          </a:xfrm>
          <a:prstGeom prst="rect">
            <a:avLst/>
          </a:prstGeom>
          <a:solidFill>
            <a:srgbClr val="C08D7C"/>
          </a:solidFill>
          <a:ln w="12700">
            <a:solidFill>
              <a:srgbClr val="C08D7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738470" y="1682386"/>
            <a:ext cx="153721" cy="886933"/>
          </a:xfrm>
          <a:prstGeom prst="rect">
            <a:avLst/>
          </a:prstGeom>
          <a:solidFill>
            <a:srgbClr val="C08D7C"/>
          </a:solidFill>
          <a:ln w="12700">
            <a:solidFill>
              <a:srgbClr val="C08D7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512410" y="3977640"/>
            <a:ext cx="6781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E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M24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5964530" y="1662459"/>
            <a:ext cx="153721" cy="906860"/>
          </a:xfrm>
          <a:prstGeom prst="rect">
            <a:avLst/>
          </a:prstGeom>
          <a:solidFill>
            <a:srgbClr val="C08D7C"/>
          </a:solidFill>
          <a:ln w="12700">
            <a:solidFill>
              <a:srgbClr val="C08D7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190590" y="1642524"/>
            <a:ext cx="153721" cy="926795"/>
          </a:xfrm>
          <a:prstGeom prst="rect">
            <a:avLst/>
          </a:prstGeom>
          <a:solidFill>
            <a:srgbClr val="C08D7C"/>
          </a:solidFill>
          <a:ln w="12700">
            <a:solidFill>
              <a:srgbClr val="C08D7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416650" y="1632564"/>
            <a:ext cx="153721" cy="936754"/>
          </a:xfrm>
          <a:prstGeom prst="rect">
            <a:avLst/>
          </a:prstGeom>
          <a:solidFill>
            <a:srgbClr val="C08D7C"/>
          </a:solidFill>
          <a:ln w="12700">
            <a:solidFill>
              <a:srgbClr val="C08D7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642710" y="1612630"/>
            <a:ext cx="153721" cy="956689"/>
          </a:xfrm>
          <a:prstGeom prst="rect">
            <a:avLst/>
          </a:prstGeom>
          <a:solidFill>
            <a:srgbClr val="C08D7C"/>
          </a:solidFill>
          <a:ln w="12700">
            <a:solidFill>
              <a:srgbClr val="C08D7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868770" y="1602662"/>
            <a:ext cx="153721" cy="966656"/>
          </a:xfrm>
          <a:prstGeom prst="rect">
            <a:avLst/>
          </a:prstGeom>
          <a:solidFill>
            <a:srgbClr val="C08D7C"/>
          </a:solidFill>
          <a:ln w="12700">
            <a:solidFill>
              <a:srgbClr val="C08D7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094830" y="1592703"/>
            <a:ext cx="153721" cy="976616"/>
          </a:xfrm>
          <a:prstGeom prst="rect">
            <a:avLst/>
          </a:prstGeom>
          <a:solidFill>
            <a:srgbClr val="C08D7C"/>
          </a:solidFill>
          <a:ln w="12700">
            <a:solidFill>
              <a:srgbClr val="C08D7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68770" y="3977640"/>
            <a:ext cx="6781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E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M30</a:t>
            </a:r>
            <a:endParaRPr lang="en-US" sz="700" dirty="0"/>
          </a:p>
        </p:txBody>
      </p:sp>
      <p:sp>
        <p:nvSpPr>
          <p:cNvPr id="42" name="Shape 40"/>
          <p:cNvSpPr/>
          <p:nvPr/>
        </p:nvSpPr>
        <p:spPr>
          <a:xfrm>
            <a:off x="7320890" y="1582735"/>
            <a:ext cx="153721" cy="986583"/>
          </a:xfrm>
          <a:prstGeom prst="rect">
            <a:avLst/>
          </a:prstGeom>
          <a:solidFill>
            <a:srgbClr val="C08D7C"/>
          </a:solidFill>
          <a:ln w="12700">
            <a:solidFill>
              <a:srgbClr val="C08D7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546950" y="1572768"/>
            <a:ext cx="153721" cy="996551"/>
          </a:xfrm>
          <a:prstGeom prst="rect">
            <a:avLst/>
          </a:prstGeom>
          <a:solidFill>
            <a:srgbClr val="C08D7C"/>
          </a:solidFill>
          <a:ln w="12700">
            <a:solidFill>
              <a:srgbClr val="C08D7C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7773010" y="1572768"/>
            <a:ext cx="153721" cy="996551"/>
          </a:xfrm>
          <a:prstGeom prst="rect">
            <a:avLst/>
          </a:prstGeom>
          <a:solidFill>
            <a:srgbClr val="C08D7C"/>
          </a:solidFill>
          <a:ln w="12700">
            <a:solidFill>
              <a:srgbClr val="C08D7C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999070" y="1572768"/>
            <a:ext cx="153721" cy="996551"/>
          </a:xfrm>
          <a:prstGeom prst="rect">
            <a:avLst/>
          </a:prstGeom>
          <a:solidFill>
            <a:srgbClr val="C08D7C"/>
          </a:solidFill>
          <a:ln w="12700">
            <a:solidFill>
              <a:srgbClr val="C08D7C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225130" y="1572768"/>
            <a:ext cx="153721" cy="996551"/>
          </a:xfrm>
          <a:prstGeom prst="rect">
            <a:avLst/>
          </a:prstGeom>
          <a:solidFill>
            <a:srgbClr val="C08D7C"/>
          </a:solidFill>
          <a:ln w="12700">
            <a:solidFill>
              <a:srgbClr val="C08D7C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451190" y="1572768"/>
            <a:ext cx="153721" cy="996551"/>
          </a:xfrm>
          <a:prstGeom prst="rect">
            <a:avLst/>
          </a:prstGeom>
          <a:solidFill>
            <a:srgbClr val="C08D7C"/>
          </a:solidFill>
          <a:ln w="12700">
            <a:solidFill>
              <a:srgbClr val="C08D7C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8225130" y="3977640"/>
            <a:ext cx="6781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E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M36</a:t>
            </a:r>
            <a:endParaRPr lang="en-US" sz="700" dirty="0"/>
          </a:p>
        </p:txBody>
      </p:sp>
      <p:sp>
        <p:nvSpPr>
          <p:cNvPr id="49" name="Text 47"/>
          <p:cNvSpPr/>
          <p:nvPr/>
        </p:nvSpPr>
        <p:spPr>
          <a:xfrm>
            <a:off x="576072" y="1618488"/>
            <a:ext cx="14630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E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$127,376 / mo</a:t>
            </a:r>
            <a:endParaRPr lang="en-US" sz="700" dirty="0"/>
          </a:p>
        </p:txBody>
      </p:sp>
      <p:sp>
        <p:nvSpPr>
          <p:cNvPr id="50" name="Text 48"/>
          <p:cNvSpPr/>
          <p:nvPr/>
        </p:nvSpPr>
        <p:spPr>
          <a:xfrm>
            <a:off x="576072" y="3749040"/>
            <a:ext cx="14630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E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$-176,501 / mo</a:t>
            </a:r>
            <a:endParaRPr lang="en-US" sz="700" dirty="0"/>
          </a:p>
        </p:txBody>
      </p:sp>
      <p:sp>
        <p:nvSpPr>
          <p:cNvPr id="51" name="Text 49"/>
          <p:cNvSpPr/>
          <p:nvPr/>
        </p:nvSpPr>
        <p:spPr>
          <a:xfrm>
            <a:off x="502920" y="4206240"/>
            <a:ext cx="8138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 trough -$1,160,257 at month 14, against a $1,395,000 working capital and debt service reserve funded inside use of funds.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502920" y="4754880"/>
            <a:ext cx="7680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6E6A6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L&amp;K WELLNESS  ·  PLAYA VISTA, CA  ·  SURGICAL CASE  ·  CONFIDENTIAL</a:t>
            </a:r>
            <a:endParaRPr lang="en-US" sz="700" dirty="0"/>
          </a:p>
        </p:txBody>
      </p:sp>
      <p:sp>
        <p:nvSpPr>
          <p:cNvPr id="53" name="Text 51"/>
          <p:cNvSpPr/>
          <p:nvPr/>
        </p:nvSpPr>
        <p:spPr>
          <a:xfrm>
            <a:off x="8183880" y="475488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E6A6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16</a:t>
            </a:r>
            <a:endParaRPr lang="en-US" sz="7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C08D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STABILIZED P&amp;L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DE6D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Monthly, at stabilization. Projected.</a:t>
            </a:r>
            <a:endParaRPr lang="en-US" sz="26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07008"/>
          <a:ext cx="8138160" cy="914400"/>
        </p:xfrm>
        <a:graphic>
          <a:graphicData uri="http://schemas.openxmlformats.org/drawingml/2006/table">
            <a:tbl>
              <a:tblPr/>
              <a:tblGrid>
                <a:gridCol w="4480560"/>
                <a:gridCol w="1828800"/>
                <a:gridCol w="1828800"/>
              </a:tblGrid>
              <a:tr h="1554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spc="140" kern="0" dirty="0">
                          <a:solidFill>
                            <a:srgbClr val="C08D7C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Line</a:t>
                      </a:r>
                      <a:endParaRPr lang="en-US" sz="8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16459" marR="16459" marT="16459" marB="16459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spc="140" kern="0" dirty="0">
                          <a:solidFill>
                            <a:srgbClr val="C08D7C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Monthly</a:t>
                      </a:r>
                      <a:endParaRPr lang="en-US" sz="8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16459" marR="16459" marT="16459" marB="16459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spc="140" kern="0" dirty="0">
                          <a:solidFill>
                            <a:srgbClr val="C08D7C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% of revenue</a:t>
                      </a:r>
                      <a:endParaRPr lang="en-US" sz="8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16459" marR="16459" marT="16459" marB="16459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1554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revenue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459" marR="16459" marT="16459" marB="16459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$650,807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459" marR="16459" marT="16459" marB="16459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459" marR="16459" marT="16459" marB="16459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1554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A8A2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 of services delivered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459" marR="16459" marT="16459" marB="16459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A8A2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-$149,021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459" marR="16459" marT="16459" marB="16459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A8A2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459" marR="16459" marT="16459" marB="16459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1554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A8A2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Circuit consumables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459" marR="16459" marT="16459" marB="16459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A8A2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-$18,760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459" marR="16459" marT="16459" marB="16459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A8A2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459" marR="16459" marT="16459" marB="16459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1554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C08D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after COGS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459" marR="16459" marT="16459" marB="16459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A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C08D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$483,026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459" marR="16459" marT="16459" marB="16459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A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C08D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459" marR="16459" marT="16459" marB="16459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A22"/>
                    </a:solidFill>
                  </a:tcPr>
                </a:tc>
              </a:tr>
              <a:tr h="1554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A8A2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 (6,700 SF NNN)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459" marR="16459" marT="16459" marB="16459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A8A2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-$36,850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459" marR="16459" marT="16459" marB="16459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A8A2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459" marR="16459" marT="16459" marB="16459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1554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A8A2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Clinical and club staff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459" marR="16459" marT="16459" marB="16459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A8A2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-$165,000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459" marR="16459" marT="16459" marB="16459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A8A2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459" marR="16459" marT="16459" marB="16459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1554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A8A2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 and management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459" marR="16459" marT="16459" marB="16459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A8A2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-$30,000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459" marR="16459" marT="16459" marB="16459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A8A2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459" marR="16459" marT="16459" marB="16459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1554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A8A2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Marketing and member acquisition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459" marR="16459" marT="16459" marB="16459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A8A2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-$32,000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459" marR="16459" marT="16459" marB="16459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A8A2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459" marR="16459" marT="16459" marB="16459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1554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A8A2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Malpractice and liability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459" marR="16459" marT="16459" marB="16459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A8A2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-$26,000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459" marR="16459" marT="16459" marB="16459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A8A2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459" marR="16459" marT="16459" marB="16459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1554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A8A2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Equipment leases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459" marR="16459" marT="16459" marB="16459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A8A2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-$37,300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459" marR="16459" marT="16459" marB="16459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A8A2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459" marR="16459" marT="16459" marB="16459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1554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A8A2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Utilities, software, member platform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459" marR="16459" marT="16459" marB="16459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A8A2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-$18,500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459" marR="16459" marT="16459" marB="16459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A8A2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459" marR="16459" marT="16459" marB="16459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1554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A8A2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Licensing, compliance and accreditation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459" marR="16459" marT="16459" marB="16459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A8A2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-$10,000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459" marR="16459" marT="16459" marB="16459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A8A2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459" marR="16459" marT="16459" marB="16459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1554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A8A2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fixed overhead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459" marR="16459" marT="16459" marB="16459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A8A2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-$355,650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459" marR="16459" marT="16459" marB="16459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A8A2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459" marR="16459" marT="16459" marB="16459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1554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C08D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OPERATING INCOME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459" marR="16459" marT="16459" marB="16459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A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C08D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$127,376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459" marR="16459" marT="16459" marB="16459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A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C08D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459" marR="16459" marT="16459" marB="16459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A22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4754880"/>
            <a:ext cx="7680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6E6A6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L&amp;K WELLNESS  ·  PLAYA VISTA, CA  ·  SURGICAL CASE  ·  CONFIDENTIAL</a:t>
            </a:r>
            <a:endParaRPr lang="en-US" sz="700" dirty="0"/>
          </a:p>
        </p:txBody>
      </p:sp>
      <p:sp>
        <p:nvSpPr>
          <p:cNvPr id="6" name="Text 3"/>
          <p:cNvSpPr/>
          <p:nvPr/>
        </p:nvSpPr>
        <p:spPr>
          <a:xfrm>
            <a:off x="8183880" y="475488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E6A6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17</a:t>
            </a:r>
            <a:endParaRPr lang="en-US" sz="7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C08D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SENSITIVITY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DE6D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If we are wrong, how wrong can we afford to be?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1097280"/>
            <a:ext cx="8138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flexed against the base case with fixed overhead held constant, which is the conservative treatment.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02920" y="1691640"/>
            <a:ext cx="2602992" cy="2468880"/>
          </a:xfrm>
          <a:prstGeom prst="roundRect">
            <a:avLst>
              <a:gd name="adj" fmla="val 2222"/>
            </a:avLst>
          </a:prstGeom>
          <a:solidFill>
            <a:srgbClr val="16241C"/>
          </a:solidFill>
          <a:ln w="12700">
            <a:solidFill>
              <a:srgbClr val="2E423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810512"/>
            <a:ext cx="231038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240" kern="0" dirty="0">
                <a:solidFill>
                  <a:srgbClr val="6E6A6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LOW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649224" y="2011680"/>
            <a:ext cx="23103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DE6D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$-0.09M / yr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49224" y="2395728"/>
            <a:ext cx="23103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6E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 member ramp, 72% of base volume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49224" y="2880360"/>
            <a:ext cx="1270711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/ mo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804416" y="2880360"/>
            <a:ext cx="11551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EDE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$468,581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49224" y="3172968"/>
            <a:ext cx="1270711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after COGS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804416" y="3172968"/>
            <a:ext cx="11551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EDE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$347,779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49224" y="3465576"/>
            <a:ext cx="1270711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/ mo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804416" y="3465576"/>
            <a:ext cx="11551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EDE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$-7,871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49224" y="3758184"/>
            <a:ext cx="1270711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DSCR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804416" y="3758184"/>
            <a:ext cx="11551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EDE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-0.11x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270504" y="1691640"/>
            <a:ext cx="2602992" cy="2468880"/>
          </a:xfrm>
          <a:prstGeom prst="roundRect">
            <a:avLst>
              <a:gd name="adj" fmla="val 2222"/>
            </a:avLst>
          </a:prstGeom>
          <a:solidFill>
            <a:srgbClr val="241C1A"/>
          </a:solidFill>
          <a:ln w="19050">
            <a:solidFill>
              <a:srgbClr val="C08D7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416808" y="1810512"/>
            <a:ext cx="231038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240" kern="0" dirty="0">
                <a:solidFill>
                  <a:srgbClr val="C08D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BASE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3416808" y="2011680"/>
            <a:ext cx="23103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08D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$1.53M / yr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3416808" y="2395728"/>
            <a:ext cx="23103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6E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Stated assumptions at stabilization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3416808" y="2880360"/>
            <a:ext cx="1270711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/ mo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572000" y="2880360"/>
            <a:ext cx="11551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EDE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$650,807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416808" y="3172968"/>
            <a:ext cx="1270711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after COGS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72000" y="3172968"/>
            <a:ext cx="11551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EDE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$483,026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416808" y="3465576"/>
            <a:ext cx="1270711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/ mo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572000" y="3465576"/>
            <a:ext cx="11551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EDE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$127,376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416808" y="3758184"/>
            <a:ext cx="1270711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DSCR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572000" y="3758184"/>
            <a:ext cx="11551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EDE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1.78x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6038088" y="1691640"/>
            <a:ext cx="2602992" cy="2468880"/>
          </a:xfrm>
          <a:prstGeom prst="roundRect">
            <a:avLst>
              <a:gd name="adj" fmla="val 2222"/>
            </a:avLst>
          </a:prstGeom>
          <a:solidFill>
            <a:srgbClr val="16241C"/>
          </a:solidFill>
          <a:ln w="12700">
            <a:solidFill>
              <a:srgbClr val="2E423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184392" y="1810512"/>
            <a:ext cx="231038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240" kern="0" dirty="0">
                <a:solidFill>
                  <a:srgbClr val="6E6A6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UPSIDE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6184392" y="2011680"/>
            <a:ext cx="23103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DE6D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$3.15M / yr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6184392" y="2395728"/>
            <a:ext cx="23103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6E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Waitlist demand, 128% of base volume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6184392" y="2880360"/>
            <a:ext cx="1270711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/ mo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7339584" y="2880360"/>
            <a:ext cx="11551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EDE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$833,032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6184392" y="3172968"/>
            <a:ext cx="1270711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after COGS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339584" y="3172968"/>
            <a:ext cx="11551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EDE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$618,273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6184392" y="3465576"/>
            <a:ext cx="1270711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/ mo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7339584" y="3465576"/>
            <a:ext cx="11551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EDE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$262,623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184392" y="3758184"/>
            <a:ext cx="1270711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DSCR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7339584" y="3758184"/>
            <a:ext cx="11551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EDE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3.67x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02920" y="4754880"/>
            <a:ext cx="7680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6E6A6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L&amp;K WELLNESS  ·  PLAYA VISTA, CA  ·  SURGICAL CASE  ·  CONFIDENTIAL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8183880" y="475488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E6A6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18</a:t>
            </a:r>
            <a:endParaRPr lang="en-US" sz="7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C08D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ASK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DE6D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Total project cost, Surgical case.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8138160" cy="2423160"/>
          </a:xfrm>
          <a:prstGeom prst="roundRect">
            <a:avLst>
              <a:gd name="adj" fmla="val 2264"/>
            </a:avLst>
          </a:prstGeom>
          <a:solidFill>
            <a:srgbClr val="241C1A"/>
          </a:solidFill>
          <a:ln w="15875">
            <a:solidFill>
              <a:srgbClr val="C08D7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60020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dirty="0">
                <a:solidFill>
                  <a:srgbClr val="C08D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$5.55M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795528" y="2578608"/>
            <a:ext cx="755294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in the ample case, plus one accredited office-based surgery suite.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795528" y="3054096"/>
            <a:ext cx="1778508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00" spc="140" kern="0" dirty="0">
                <a:solidFill>
                  <a:srgbClr val="6E6A6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SBA 7(A) LOAN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795528" y="3364992"/>
            <a:ext cx="17785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DE6D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$4,995,000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683764" y="3054096"/>
            <a:ext cx="1778508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00" spc="140" kern="0" dirty="0">
                <a:solidFill>
                  <a:srgbClr val="6E6A6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EQUITY INJECTION · 10% FLOOR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2683764" y="3364992"/>
            <a:ext cx="17785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DE6D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$555,000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72000" y="3054096"/>
            <a:ext cx="1778508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00" spc="140" kern="0" dirty="0">
                <a:solidFill>
                  <a:srgbClr val="6E6A6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EQUITY AT 20% PLANNING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4572000" y="3364992"/>
            <a:ext cx="17785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DE6D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$1,110,000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460236" y="3054096"/>
            <a:ext cx="1778508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00" spc="140" kern="0" dirty="0">
                <a:solidFill>
                  <a:srgbClr val="6E6A6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FOOTPRINT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60236" y="3364992"/>
            <a:ext cx="17785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DE6D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6,700 SF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02920" y="4041648"/>
            <a:ext cx="8138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E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the 10% SOP floor and the 20% planning figure are shown because lenders routinely require more than the floor from a business with no operating history.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02920" y="4754880"/>
            <a:ext cx="7680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6E6A6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L&amp;K WELLNESS  ·  PLAYA VISTA, CA  ·  SURGICAL CASE  ·  CONFIDENTIAL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8183880" y="475488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E6A6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19</a:t>
            </a:r>
            <a:endParaRPr lang="en-US" sz="7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C08D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USE OF FUNDS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DE6D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Where the $5.55M goes.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1097280"/>
            <a:ext cx="8138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working capital and debt service reserve is sized against the modeled cash trough of $1,160,257 at month 14, not to a round number.</a:t>
            </a:r>
            <a:endParaRPr lang="en-US" sz="115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91640"/>
          <a:ext cx="8138160" cy="914400"/>
        </p:xfrm>
        <a:graphic>
          <a:graphicData uri="http://schemas.openxmlformats.org/drawingml/2006/table">
            <a:tbl>
              <a:tblPr/>
              <a:tblGrid>
                <a:gridCol w="4937760"/>
                <a:gridCol w="1600200"/>
                <a:gridCol w="160020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spc="140" kern="0" dirty="0">
                          <a:solidFill>
                            <a:srgbClr val="C08D7C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Use of funds</a:t>
                      </a:r>
                      <a:endParaRPr lang="en-US" sz="8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spc="140" kern="0" dirty="0">
                          <a:solidFill>
                            <a:srgbClr val="C08D7C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Amount</a:t>
                      </a:r>
                      <a:endParaRPr lang="en-US" sz="8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spc="140" kern="0" dirty="0">
                          <a:solidFill>
                            <a:srgbClr val="C08D7C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% of project</a:t>
                      </a:r>
                      <a:endParaRPr lang="en-US" sz="8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Buildout and tenant improvements (5,800 SF clinic and club @ $250/SF)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$1,450,000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Surgical suite buildout (900 SF @ $320/SF, OR-grade HVAC and finishes)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$288,000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Medical gas, emergency power, life-safety branch for the suite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$100,000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Wet areas: 2 saunas, 2 plunges, steam, drainage, ventilation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$465,000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Medical and aesthetic equipment (purchased)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$450,000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Surgical capital equipment (balance leased)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$200,000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Recovery technology: HBOT purchased, Ammortal deposit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$182,000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FF&amp;E, lounge, millwork, retail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$400,000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Pre-opening: licensing, legal, insurance, hiring, transfer agreement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$310,000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Accreditation: Quad A survey, policies, QA/PI program, staff training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$110,000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Brand, launch, founding member campaign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$200,000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Working capital and debt service reserve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$1,395,000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C08D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project cost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A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C08D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$5,550,000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A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C08D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A22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02920" y="4754880"/>
            <a:ext cx="7680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6E6A6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L&amp;K WELLNESS  ·  PLAYA VISTA, CA  ·  SURGICAL CASE  ·  CONFIDENTIAL</a:t>
            </a:r>
            <a:endParaRPr lang="en-US" sz="700" dirty="0"/>
          </a:p>
        </p:txBody>
      </p:sp>
      <p:sp>
        <p:nvSpPr>
          <p:cNvPr id="7" name="Text 4"/>
          <p:cNvSpPr/>
          <p:nvPr/>
        </p:nvSpPr>
        <p:spPr>
          <a:xfrm>
            <a:off x="8183880" y="475488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E6A6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20</a:t>
            </a:r>
            <a:endParaRPr lang="en-US" sz="7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C08D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SBA PACKAGE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DE6D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Structured to the actual rule.</a:t>
            </a:r>
            <a:endParaRPr lang="en-US" sz="26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71600"/>
          <a:ext cx="4023360" cy="914400"/>
        </p:xfrm>
        <a:graphic>
          <a:graphicData uri="http://schemas.openxmlformats.org/drawingml/2006/table">
            <a:tbl>
              <a:tblPr/>
              <a:tblGrid>
                <a:gridCol w="2514600"/>
                <a:gridCol w="1508760"/>
              </a:tblGrid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spc="140" kern="0" dirty="0">
                          <a:solidFill>
                            <a:srgbClr val="C08D7C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Loan structure</a:t>
                      </a:r>
                      <a:endParaRPr lang="en-US" sz="8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spc="140" kern="0" dirty="0">
                          <a:solidFill>
                            <a:srgbClr val="C08D7C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Value</a:t>
                      </a:r>
                      <a:endParaRPr lang="en-US" sz="8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project cost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$5,550,000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SBA 7(a) loan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$4,995,000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Equity injection (10% SOP floor)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$555,000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Equity injection (20% planning)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$1,110,000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Assumed rate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9.5% (Prime + 2.75%)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years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Interest-only period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 months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Payment during interest-only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$39,544 /mo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Payment once amortizing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$71,558 /mo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Working capital and reserve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$1,395,000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00600" y="1371600"/>
          <a:ext cx="3977640" cy="914400"/>
        </p:xfrm>
        <a:graphic>
          <a:graphicData uri="http://schemas.openxmlformats.org/drawingml/2006/table">
            <a:tbl>
              <a:tblPr/>
              <a:tblGrid>
                <a:gridCol w="777240"/>
                <a:gridCol w="1234440"/>
                <a:gridCol w="1188720"/>
                <a:gridCol w="777240"/>
              </a:tblGrid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spc="140" kern="0" dirty="0">
                          <a:solidFill>
                            <a:srgbClr val="C08D7C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Year</a:t>
                      </a:r>
                      <a:endParaRPr lang="en-US" sz="8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spc="140" kern="0" dirty="0">
                          <a:solidFill>
                            <a:srgbClr val="C08D7C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Operating</a:t>
                      </a:r>
                      <a:endParaRPr lang="en-US" sz="8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spc="140" kern="0" dirty="0">
                          <a:solidFill>
                            <a:srgbClr val="C08D7C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Debt service</a:t>
                      </a:r>
                      <a:endParaRPr lang="en-US" sz="8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spc="140" kern="0" dirty="0">
                          <a:solidFill>
                            <a:srgbClr val="C08D7C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DSCR</a:t>
                      </a:r>
                      <a:endParaRPr lang="en-US" sz="8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 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-$1,308,352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$355,896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-3.68x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 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$979,922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$666,612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08D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1.47x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A22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 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$1,487,751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$858,696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08D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1.73x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A22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C08D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Stabilized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A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08D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$1,528,512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A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08D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$858,701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A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08D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1.78x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A22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4800600" y="2788920"/>
            <a:ext cx="3977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sensitivity: 1.78x at 9.5%   ·   1.72x at 10.5%   ·   1.66x at 11.5%</a:t>
            </a:r>
            <a:endParaRPr lang="en-US" sz="900" dirty="0"/>
          </a:p>
        </p:txBody>
      </p:sp>
      <p:sp>
        <p:nvSpPr>
          <p:cNvPr id="7" name="Text 3"/>
          <p:cNvSpPr/>
          <p:nvPr/>
        </p:nvSpPr>
        <p:spPr>
          <a:xfrm>
            <a:off x="502920" y="3794760"/>
            <a:ext cx="81381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6E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SBA 7(a) caps at a $5,000,000 loan; SBA maximum guarantee exposure is $3,750,000. SOP 50 10 8 requires a minimum 10% equity injection for a startup, and lenders routinely require more of a business with no operating history. An unconditional personal guaranty is required from any owner holding 20% or more. The 1.25x coverage threshold is prevailing lender underwriting convention, not an SBA regulation.</a:t>
            </a:r>
            <a:endParaRPr lang="en-US" sz="800" dirty="0"/>
          </a:p>
        </p:txBody>
      </p:sp>
      <p:sp>
        <p:nvSpPr>
          <p:cNvPr id="8" name="Text 4"/>
          <p:cNvSpPr/>
          <p:nvPr/>
        </p:nvSpPr>
        <p:spPr>
          <a:xfrm>
            <a:off x="502920" y="4754880"/>
            <a:ext cx="7680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6E6A6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L&amp;K WELLNESS  ·  PLAYA VISTA, CA  ·  SURGICAL CASE  ·  CONFIDENTIAL</a:t>
            </a:r>
            <a:endParaRPr lang="en-US" sz="700" dirty="0"/>
          </a:p>
        </p:txBody>
      </p:sp>
      <p:sp>
        <p:nvSpPr>
          <p:cNvPr id="9" name="Text 5"/>
          <p:cNvSpPr/>
          <p:nvPr/>
        </p:nvSpPr>
        <p:spPr>
          <a:xfrm>
            <a:off x="8183880" y="475488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E6A6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21</a:t>
            </a:r>
            <a:endParaRPr lang="en-US" sz="7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C08D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DISCLOSURES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DE6D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What we are flagging before you ask.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1417320"/>
            <a:ext cx="813816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05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1 operating income is negative. Six of those months are construction and the rest are the opening ramp. Debt service is interest-only for the first 18 months, and the $1,395,000 reserve inside use of funds is sized against a modeled cash trough of $1,160,257 at month 14.</a:t>
            </a:r>
            <a:endParaRPr lang="en-US" sz="105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05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2 coverage of 1.47x already clears the 1.25x convention, before the business reaches stabilization.</a:t>
            </a:r>
            <a:endParaRPr lang="en-US" sz="105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05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sensitivity: stabilized coverage runs 1.78x at 9.5%, 1.72x at 10.5%, 1.66x at 11.5%. Coverage holds above 1.25x even 200 basis points above the assumed rate.</a:t>
            </a:r>
            <a:endParaRPr lang="en-US" sz="105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05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18-month interest-only period compresses amortization into the remaining 102 months, raising the eventual payment. It buys ramp-year survivability at the cost of stabilized coverage, and both effects are reflected in the figures above.</a:t>
            </a:r>
            <a:endParaRPr lang="en-US" sz="105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05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forward-looking figures are projections on the stated assumptions and are not guarantees. Market and demographic figures carry their sources; anything unsourced was cut rather than estimated.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02920" y="4754880"/>
            <a:ext cx="7680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6E6A6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L&amp;K WELLNESS  ·  PLAYA VISTA, CA  ·  SURGICAL CASE  ·  CONFIDENTIAL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8183880" y="475488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E6A6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22</a:t>
            </a:r>
            <a:endParaRPr lang="en-US" sz="7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C08D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TIMELINE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DE6D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From signature to stabilization.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600200"/>
            <a:ext cx="1525219" cy="25603"/>
          </a:xfrm>
          <a:prstGeom prst="rect">
            <a:avLst/>
          </a:prstGeom>
          <a:solidFill>
            <a:srgbClr val="2E4237"/>
          </a:solidFill>
          <a:ln w="12700">
            <a:solidFill>
              <a:srgbClr val="2E423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563624"/>
            <a:ext cx="100584" cy="100584"/>
          </a:xfrm>
          <a:prstGeom prst="ellipse">
            <a:avLst/>
          </a:prstGeom>
          <a:solidFill>
            <a:srgbClr val="C08D7C"/>
          </a:solidFill>
          <a:ln w="12700">
            <a:solidFill>
              <a:srgbClr val="C08D7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755648"/>
            <a:ext cx="1525219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spc="160" kern="0" dirty="0">
                <a:solidFill>
                  <a:srgbClr val="C08D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MONTH 0–3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502920" y="1938528"/>
            <a:ext cx="152521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DE6D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Close and design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502920" y="2212848"/>
            <a:ext cx="1525219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Loan closes, lease executed, architect and contractor engaged, permits filed. Founding member campaign opens.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156155" y="1600200"/>
            <a:ext cx="1525219" cy="25603"/>
          </a:xfrm>
          <a:prstGeom prst="rect">
            <a:avLst/>
          </a:prstGeom>
          <a:solidFill>
            <a:srgbClr val="2E4237"/>
          </a:solidFill>
          <a:ln w="12700">
            <a:solidFill>
              <a:srgbClr val="2E423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156155" y="1563624"/>
            <a:ext cx="100584" cy="100584"/>
          </a:xfrm>
          <a:prstGeom prst="ellipse">
            <a:avLst/>
          </a:prstGeom>
          <a:solidFill>
            <a:srgbClr val="C08D7C"/>
          </a:solidFill>
          <a:ln w="12700">
            <a:solidFill>
              <a:srgbClr val="C08D7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156155" y="1755648"/>
            <a:ext cx="1525219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spc="160" kern="0" dirty="0">
                <a:solidFill>
                  <a:srgbClr val="C08D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MONTH 3–6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2156155" y="1938528"/>
            <a:ext cx="152521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DE6D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Build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2156155" y="2212848"/>
            <a:ext cx="1525219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Buildout, wet-area rough-in, equipment ordered. Medical director and injector recruited and credentialed.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3809390" y="1600200"/>
            <a:ext cx="1525219" cy="25603"/>
          </a:xfrm>
          <a:prstGeom prst="rect">
            <a:avLst/>
          </a:prstGeom>
          <a:solidFill>
            <a:srgbClr val="2E4237"/>
          </a:solidFill>
          <a:ln w="12700">
            <a:solidFill>
              <a:srgbClr val="2E423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809390" y="1563624"/>
            <a:ext cx="100584" cy="100584"/>
          </a:xfrm>
          <a:prstGeom prst="ellipse">
            <a:avLst/>
          </a:prstGeom>
          <a:solidFill>
            <a:srgbClr val="C08D7C"/>
          </a:solidFill>
          <a:ln w="12700">
            <a:solidFill>
              <a:srgbClr val="C08D7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09390" y="1755648"/>
            <a:ext cx="1525219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spc="160" kern="0" dirty="0">
                <a:solidFill>
                  <a:srgbClr val="C08D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MONTH 7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3809390" y="1938528"/>
            <a:ext cx="152521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DE6D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Open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809390" y="2212848"/>
            <a:ext cx="1525219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Doors open to founding members first, public booking the same week. Clinic and club launch together.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462626" y="1600200"/>
            <a:ext cx="1525219" cy="25603"/>
          </a:xfrm>
          <a:prstGeom prst="rect">
            <a:avLst/>
          </a:prstGeom>
          <a:solidFill>
            <a:srgbClr val="2E4237"/>
          </a:solidFill>
          <a:ln w="12700">
            <a:solidFill>
              <a:srgbClr val="2E423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62626" y="1563624"/>
            <a:ext cx="100584" cy="100584"/>
          </a:xfrm>
          <a:prstGeom prst="ellipse">
            <a:avLst/>
          </a:prstGeom>
          <a:solidFill>
            <a:srgbClr val="C08D7C"/>
          </a:solidFill>
          <a:ln w="12700">
            <a:solidFill>
              <a:srgbClr val="C08D7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62626" y="1755648"/>
            <a:ext cx="1525219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spc="160" kern="0" dirty="0">
                <a:solidFill>
                  <a:srgbClr val="C08D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MONTH 8–14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5462626" y="1938528"/>
            <a:ext cx="152521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DE6D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Fill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462626" y="2212848"/>
            <a:ext cx="1525219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Membership ramp, events programming, referral engine from the open clinic. Operating breakeven lands here.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7115861" y="1600200"/>
            <a:ext cx="1525219" cy="25603"/>
          </a:xfrm>
          <a:prstGeom prst="rect">
            <a:avLst/>
          </a:prstGeom>
          <a:solidFill>
            <a:srgbClr val="2E4237"/>
          </a:solidFill>
          <a:ln w="12700">
            <a:solidFill>
              <a:srgbClr val="2E4237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115861" y="1563624"/>
            <a:ext cx="100584" cy="100584"/>
          </a:xfrm>
          <a:prstGeom prst="ellipse">
            <a:avLst/>
          </a:prstGeom>
          <a:solidFill>
            <a:srgbClr val="C08D7C"/>
          </a:solidFill>
          <a:ln w="12700">
            <a:solidFill>
              <a:srgbClr val="C08D7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115861" y="1755648"/>
            <a:ext cx="1525219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spc="160" kern="0" dirty="0">
                <a:solidFill>
                  <a:srgbClr val="C08D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MONTH 15–36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7115861" y="1938528"/>
            <a:ext cx="152521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DE6D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Stabilize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7115861" y="2212848"/>
            <a:ext cx="1525219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Amortization begins at month 19. Caps approached on Resident and Longevity. Waitlist opens.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502920" y="4754880"/>
            <a:ext cx="7680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6E6A6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L&amp;K WELLNESS  ·  PLAYA VISTA, CA  ·  SURGICAL CASE  ·  CONFIDENTIAL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8183880" y="475488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E6A6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23</a:t>
            </a:r>
            <a:endParaRPr lang="en-US" sz="7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C08D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TEAM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DE6D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operating team is in place.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1097280"/>
            <a:ext cx="8138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Clinical, aesthetic, longevity and hospitality leadership are all seated. No key role is open at opening.</a:t>
            </a:r>
            <a:endParaRPr lang="en-US" sz="115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3840480"/>
                <a:gridCol w="164592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spc="140" kern="0" dirty="0">
                          <a:solidFill>
                            <a:srgbClr val="C08D7C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Seat</a:t>
                      </a:r>
                      <a:endParaRPr lang="en-US" sz="8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spc="140" kern="0" dirty="0">
                          <a:solidFill>
                            <a:srgbClr val="C08D7C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Responsibility</a:t>
                      </a:r>
                      <a:endParaRPr lang="en-US" sz="8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spc="140" kern="0" dirty="0">
                          <a:solidFill>
                            <a:srgbClr val="C08D7C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Status</a:t>
                      </a:r>
                      <a:endParaRPr lang="en-US" sz="8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Founder &amp; Operator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Operations, brand, capital, compliance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A8A2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place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Medical Director (MD/DO)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Clinical oversight, protocols, standing orders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A8A2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place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Surgeon (plastic or facial plastic) · Principal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Operative cases, patient selection, surgical QA. Bills professional fees directly, not facility payroll.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A8A2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place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Surgical Tech, Circulator and Monitoring RN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 setup, sterile field, sedation monitoring, PACU, instrument processing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A8A2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place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Aesthetics Injector (NP or PA)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Neuromodulators, filler, energy devices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A8A2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place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Longevity Clinical Lead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Hormone, peptide, GLP-1 and biomarker programs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A8A2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place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Club General Manager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Membership, events, hospitality, retention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A8A2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place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Registered Nurses (2)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IV therapy, regenerative, recovery floor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A8A2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place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02920" y="4754880"/>
            <a:ext cx="7680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6E6A6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L&amp;K WELLNESS  ·  PLAYA VISTA, CA  ·  SURGICAL CASE  ·  CONFIDENTIAL</a:t>
            </a:r>
            <a:endParaRPr lang="en-US" sz="700" dirty="0"/>
          </a:p>
        </p:txBody>
      </p:sp>
      <p:sp>
        <p:nvSpPr>
          <p:cNvPr id="7" name="Text 4"/>
          <p:cNvSpPr/>
          <p:nvPr/>
        </p:nvSpPr>
        <p:spPr>
          <a:xfrm>
            <a:off x="8183880" y="475488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E6A6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24</a:t>
            </a:r>
            <a:endParaRPr lang="en-US" sz="7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C08D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RISKS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DE6D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What could go wrong, and what we did about it.</a:t>
            </a:r>
            <a:endParaRPr lang="en-US" sz="26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70432"/>
          <a:ext cx="813816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539496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spc="140" kern="0" dirty="0">
                          <a:solidFill>
                            <a:srgbClr val="C08D7C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Risk</a:t>
                      </a:r>
                      <a:endParaRPr lang="en-US" sz="7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20117" marR="20117" marT="20117" marB="20117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spc="140" kern="0" dirty="0">
                          <a:solidFill>
                            <a:srgbClr val="C08D7C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Mitigation</a:t>
                      </a:r>
                      <a:endParaRPr lang="en-US" sz="7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20117" marR="20117" marT="20117" marB="20117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Membership fills slower than modeled.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0117" marR="20117" marT="20117" marB="20117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clinic is open to non-members from day one, so revenue does not depend on the club filling. The low case flexes volume to 72% of base and still services debt.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0117" marR="20117" marT="20117" marB="20117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Members redeem more than their fees cover.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0117" marR="20117" marT="20117" marB="20117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Credit banks are sized against measured redemption and the model asserts the ratio stays below 100%. The three-month minimum with 30-day change notice makes repricing operationally possible.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0117" marR="20117" marT="20117" marB="20117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key clinical seat turns over during the ramp.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0117" marR="20117" marT="20117" marB="20117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club layer, recovery floor and IV lounge run on materially less scarce staffing than the injectable and physician-led lines, so a temporary gap narrows the offering without closing the building. Clinical compensation carries retention terms through the ramp.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0117" marR="20117" marT="20117" marB="20117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 adverse surgical event, or an accreditation lapse.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0117" marR="20117" marT="20117" marB="20117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sedation ceiling and two-hour recovery cap exclude every general-anesthesia procedure and its acuity. Patient-selection criteria, a written transfer agreement with a nearby acute-care facility, and a standing QA program sit behind that.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0117" marR="20117" marT="20117" marB="20117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Operating room utilization comes in below plan.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0117" marR="20117" marT="20117" marB="20117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facility bills for the room, not for a particular surgeon, so this is not one person’s key-person exposure — further credentialed principals can be added without changing the model. Facility fees are roughly a tenth of revenue and the OR runs at 61% of practical capacity, so coverage holds above 1.25x on the wellness business alone.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0117" marR="20117" marT="20117" marB="20117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Rates move against us before close.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0117" marR="20117" marT="20117" marB="20117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Coverage is stress-tested 200 basis points above assumption and disclosed at each level rather than quoted at one.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0117" marR="20117" marT="20117" marB="20117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national brand opens nearby.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0117" marR="20117" marT="20117" marB="20117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defensible asset is the licensed medical practice, not the sauna. A recovery studio cannot add injectables, hormones and physician oversight without becoming a medical practice.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0117" marR="20117" marT="20117" marB="20117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Wet-area construction overruns.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0117" marR="20117" marT="20117" marB="20117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highest-variance line in the buildout. The lean case exists precisely as the fallback scope, and the reserve is sized against the modeled cash trough rather than to a round number.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0117" marR="20117" marT="20117" marB="20117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4754880"/>
            <a:ext cx="7680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6E6A6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L&amp;K WELLNESS  ·  PLAYA VISTA, CA  ·  SURGICAL CASE  ·  CONFIDENTIAL</a:t>
            </a:r>
            <a:endParaRPr lang="en-US" sz="700" dirty="0"/>
          </a:p>
        </p:txBody>
      </p:sp>
      <p:sp>
        <p:nvSpPr>
          <p:cNvPr id="6" name="Text 3"/>
          <p:cNvSpPr/>
          <p:nvPr/>
        </p:nvSpPr>
        <p:spPr>
          <a:xfrm>
            <a:off x="8183880" y="475488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E6A6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25</a:t>
            </a:r>
            <a:endParaRPr lang="en-US" sz="7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1051560"/>
            <a:ext cx="8138160" cy="2834640"/>
          </a:xfrm>
          <a:prstGeom prst="roundRect">
            <a:avLst>
              <a:gd name="adj" fmla="val 2581"/>
            </a:avLst>
          </a:prstGeom>
          <a:solidFill>
            <a:srgbClr val="241C1A"/>
          </a:solidFill>
          <a:ln w="15875">
            <a:solidFill>
              <a:srgbClr val="C08D7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371600"/>
            <a:ext cx="8138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300" kern="0" dirty="0">
                <a:solidFill>
                  <a:srgbClr val="C08D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PLAYA VISTA, CALIFORNIA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02920" y="1691640"/>
            <a:ext cx="81381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400" dirty="0">
                <a:solidFill>
                  <a:srgbClr val="EDE6D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Self-care is already social.</a:t>
            </a:r>
            <a:endParaRPr lang="en-US" sz="24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2400" dirty="0">
                <a:solidFill>
                  <a:srgbClr val="EDE6D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Nobody has built the room for it.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02920" y="2697480"/>
            <a:ext cx="8138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Surgical case  ·  $5.55M project  ·  6,700 SF  ·  1.78x stabilized coverage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502920" y="3017520"/>
            <a:ext cx="8138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model, capacity workbook and buildout detail available under NDA.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02920" y="3364992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08D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Laura@culvercitysurgical.com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02920" y="4206240"/>
            <a:ext cx="8138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E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document is not an offer to sell or a solicitation of an offer to buy any security. Forward-looking figures are projections and not guarantees of future performance.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LK Wellness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L and K Wellness — Investor and SBA Brief</dc:subject>
  <dc:creator>LK Wellness</dc:creator>
  <cp:lastModifiedBy>LK Wellness</cp:lastModifiedBy>
  <cp:revision>1</cp:revision>
  <dcterms:created xsi:type="dcterms:W3CDTF">2026-08-12T09:35:55Z</dcterms:created>
  <dcterms:modified xsi:type="dcterms:W3CDTF">2026-08-12T09:35:55Z</dcterms:modified>
</cp:coreProperties>
</file>