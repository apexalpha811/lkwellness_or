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16241C"/>
          </a:solidFill>
          <a:ln w="12700">
            <a:solidFill>
              <a:srgbClr val="16241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3716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spc="300" kern="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02920" y="2121408"/>
            <a:ext cx="822960" cy="41148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33172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licensed clinic inside a private club.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2788920"/>
            <a:ext cx="65105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08D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medicine is open to everyone. The room you want to stay in is members only.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34290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Vista, California   ·   6,700 SF   ·   Est. 2026   ·   Surgical case, $5.55M project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4645152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8A29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  ·  INVESTOR AND SBA BRIEF  ·  FOR QUALIFIED RECIPIENTS ONLY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Wellness on the Westside is fragmented.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optimizing their health today visits a medspa for injectables, a recovery studio for cold plunge, a longevity clinic for labs, and a concierge doctor for hormones. Four intakes, four records, four bills. Not one of them is somewhere you would choose to spend a Saturday morning.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41401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4+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9224" y="285292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providers a patient coordinates for care that belongs in one building.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70504" y="228600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6808" y="241401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16808" y="285292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on the Westside combining licensed medical care with a genuine social club.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8088" y="228600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84392" y="241401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10,488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184392" y="285292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medical spas as of 2023, up from 8,899 the year before. The category is commoditizing on treatment alone.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 proven models. Neither one is complete.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86784" cy="1371600"/>
          </a:xfrm>
          <a:prstGeom prst="roundRect">
            <a:avLst>
              <a:gd name="adj" fmla="val 400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591056"/>
            <a:ext cx="36941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Remedy Place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9224" y="2029968"/>
            <a:ext cx="369417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booking works. Anyone can book a remedy; members get credits, member pricing and guest passes. What they lack is a real ladder of affiliation.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54296" y="1463040"/>
            <a:ext cx="3986784" cy="1371600"/>
          </a:xfrm>
          <a:prstGeom prst="roundRect">
            <a:avLst>
              <a:gd name="adj" fmla="val 400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591056"/>
            <a:ext cx="36941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Soho House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800600" y="2029968"/>
            <a:ext cx="369417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works. Soho Friends is a published annual tier buying discounts and event invitations but no club access. What they lack is medicine.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30175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3154680"/>
            <a:ext cx="77358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GAP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04088" y="3383280"/>
            <a:ext cx="77358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Nobody has put a licensed medical clinic inside a social club and left the medicine open to everyone.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4088" y="3803904"/>
            <a:ext cx="7735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Gating clinical care behind a membership is bad business and a bad look. Gating the room where people actually want to spend time is precisely what a club is. L&amp;K separates the two, and that separation is the entire model.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building. Two layers. Different doors.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508760" y="1325880"/>
            <a:ext cx="6126480" cy="1325880"/>
          </a:xfrm>
          <a:prstGeom prst="roundRect">
            <a:avLst>
              <a:gd name="adj" fmla="val 4138"/>
            </a:avLst>
          </a:prstGeom>
          <a:solidFill>
            <a:srgbClr val="241C1A"/>
          </a:solidFill>
          <a:ln w="15875">
            <a:solidFill>
              <a:srgbClr val="C08D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91640" y="1444752"/>
            <a:ext cx="5760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4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MEMBERS ONLY  ·  CAPPED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691640" y="1627632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Club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91640" y="195681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suite  ·  Sauna and cold plunge ritual  ·  The Lounge  ·  Member events  ·  Guest passes  ·  Priority booking  ·  Private buyouts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Membership sits on top. It never sits in front.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8138160" cy="1463040"/>
          </a:xfrm>
          <a:prstGeom prst="roundRect">
            <a:avLst>
              <a:gd name="adj" fmla="val 375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3127248"/>
            <a:ext cx="7735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 TO EVERYONE  ·  NO MEMBERSHIP REQUIRED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04088" y="3310128"/>
            <a:ext cx="7735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Clinic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3639312"/>
            <a:ext cx="77358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Aescape Robotic Massage  ·  Ammortal Chamber  ·  Red Light Therapy  ·  Hyperbaric Oxygen  ·  PRP Injections  ·  Compression / NeuFit  ·  Hormone / Peptide / GLP  ·  IV Therapy (NAD+ / Drips)  ·  Botox &amp; Fillers  ·  Laser Platform  ·  Advanced Biometrics  ·  Morpheus8 RF Microneedling  ·  DNA Analysis  ·  Emsculpt  ·  DUTCH Testing  ·  CoolSculpting  ·  DEXA Scan  ·  Blepharoplasty (facility fee)  ·  Facial Contouring Surgery (facility fee)  ·  Awake Liposuction &amp; Body Contouring (facility fee)  ·  Fat Grafting &amp; Transfer (facility fee)  ·  Hair Restoration Surgery  ·  Office Surgical Procedures  ·  Ablative Laser &amp; Skin Tightening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SURGERY SUITE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accredited operating room, inside the clinic.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900 SF office-based surgery suite planned to the published iOR Partners specification, accredited by Quad A. It sits in the clinic layer, so anyone can book it — surgery is never a membership benefit. L&amp;K bills a facility fee; the operating surgeon is a principal who bills their professional fee directly.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8138160" cy="841248"/>
          </a:xfrm>
          <a:prstGeom prst="roundRect">
            <a:avLst>
              <a:gd name="adj" fmla="val 6522"/>
            </a:avLst>
          </a:prstGeom>
          <a:solidFill>
            <a:srgbClr val="241C1A"/>
          </a:solidFill>
          <a:ln w="15875">
            <a:solidFill>
              <a:srgbClr val="C08D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737360"/>
            <a:ext cx="7735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Moderate sedation. Under two hours of recovery. Nothing above that line.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2011680"/>
            <a:ext cx="77358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decision, not a limitation. It is why there is no anesthesiologist on payroll, no anesthesia machine in the budget, and only three PACU bays. California requires accreditation only when protective reflexes may be lost; moderate sedation preserves them, so this suite sits below the trigger. We accredit anyway.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2578608"/>
            <a:ext cx="3986784" cy="1901952"/>
          </a:xfrm>
          <a:prstGeom prst="roundRect">
            <a:avLst>
              <a:gd name="adj" fmla="val 2885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670048"/>
            <a:ext cx="36941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THE OPERATING ROOM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49224" y="2852928"/>
            <a:ext cx="369417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Blepharoplasty, upper, lower and combined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 lift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Otoplasty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 augmentation and implant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Buccal fat removal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 fat grafting and transfer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Liposuction, single or limited area, awake tumescent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Submental neck contouring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body-contouring revision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 revision, facial and body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Nasal valve procedures sold as elective self-pay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4654296" y="2578608"/>
            <a:ext cx="3986784" cy="1901952"/>
          </a:xfrm>
          <a:prstGeom prst="roundRect">
            <a:avLst>
              <a:gd name="adj" fmla="val 2885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670048"/>
            <a:ext cx="36941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THE TREATMENT ROOMS, UNDER LOCAL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800600" y="2852928"/>
            <a:ext cx="369417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Lipoma removal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 removal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lesion removal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Ablative laser resurfacing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tightening</a:t>
            </a:r>
            <a:endParaRPr lang="en-US" sz="7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7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 restoration surgery and transplant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MEMBERSHIP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ladder, not a gate.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924812" cy="3063240"/>
          </a:xfrm>
          <a:prstGeom prst="roundRect">
            <a:avLst>
              <a:gd name="adj" fmla="val 285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481328"/>
            <a:ext cx="16687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Day Pass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30936" y="1737360"/>
            <a:ext cx="1668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$75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30936" y="2048256"/>
            <a:ext cx="16687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VISIT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30936" y="2286000"/>
            <a:ext cx="16687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circuit visit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 at rack rate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events or lounge privileges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30936" y="4114800"/>
            <a:ext cx="16687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275 visits/mo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74036" y="1371600"/>
            <a:ext cx="1924812" cy="3063240"/>
          </a:xfrm>
          <a:prstGeom prst="roundRect">
            <a:avLst>
              <a:gd name="adj" fmla="val 285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02052" y="1481328"/>
            <a:ext cx="16687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Friends of L&amp;K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702052" y="1737360"/>
            <a:ext cx="1668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$300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2702052" y="2048256"/>
            <a:ext cx="16687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YEAR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702052" y="2286000"/>
            <a:ext cx="16687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pricing on all procedures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booking window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Invitations to open events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club or circuit access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02052" y="4114800"/>
            <a:ext cx="16687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900 members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45152" y="1371600"/>
            <a:ext cx="1924812" cy="3063240"/>
          </a:xfrm>
          <a:prstGeom prst="roundRect">
            <a:avLst>
              <a:gd name="adj" fmla="val 285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1481328"/>
            <a:ext cx="16687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Resident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773168" y="1737360"/>
            <a:ext cx="1668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$450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773168" y="2048256"/>
            <a:ext cx="16687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MONTH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73168" y="2286000"/>
            <a:ext cx="16687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monthly credit bank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recovery circuit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pricing on all procedures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guest pass per month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events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73168" y="4114800"/>
            <a:ext cx="16687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350 members · capped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716268" y="1371600"/>
            <a:ext cx="1924812" cy="3063240"/>
          </a:xfrm>
          <a:prstGeom prst="roundRect">
            <a:avLst>
              <a:gd name="adj" fmla="val 2850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44284" y="1481328"/>
            <a:ext cx="16687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Longevity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44284" y="1737360"/>
            <a:ext cx="1668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$1,250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6844284" y="2048256"/>
            <a:ext cx="16687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MONTH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44284" y="2286000"/>
            <a:ext cx="16687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Resident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physician consult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biomarker panel, DEXA and DUTCH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Hormone and peptide program included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guest passes per month</a:t>
            </a:r>
            <a:endParaRPr lang="en-US" sz="8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8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buyout privileges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44284" y="4114800"/>
            <a:ext cx="16687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members · capped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2920" y="4498848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minimum then month-to-month. Credits roll over while active and expire on cancellation. Freezes on seven days notice. Tier changes after the initial commitment.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 DOORS OPEN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Founding Members de-risk the ramp.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strongest item in this brief for both an investor and a credit committee: revenue contracted before the business opens.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194560"/>
            <a:ext cx="2602992" cy="1463040"/>
          </a:xfrm>
          <a:prstGeom prst="roundRect">
            <a:avLst>
              <a:gd name="adj" fmla="val 375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32257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9224" y="2761488"/>
            <a:ext cx="23103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memberships, hard capped and sold during construction.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70504" y="2194560"/>
            <a:ext cx="2602992" cy="1463040"/>
          </a:xfrm>
          <a:prstGeom prst="roundRect">
            <a:avLst>
              <a:gd name="adj" fmla="val 3750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6808" y="232257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$3,600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16808" y="2761488"/>
            <a:ext cx="23103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for the first year, a 33% discount against list.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8088" y="2194560"/>
            <a:ext cx="2602992" cy="1463040"/>
          </a:xfrm>
          <a:prstGeom prst="roundRect">
            <a:avLst>
              <a:gd name="adj" fmla="val 3750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84392" y="232257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$540,000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184392" y="2761488"/>
            <a:ext cx="23103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before opening, offsetting the construction-period burn.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8404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converts the opening ramp from a projection into a partially pre-sold book. It is also the cheapest possible market test: if the founding cohort does not sell, that is a signal worth having before the buildout is committed rather than after.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FACILITY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6,700 SF in Playa Vista.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the ample case, plus one accredited office-based surgery suite.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72768"/>
          <a:ext cx="8138160" cy="914400"/>
        </p:xfrm>
        <a:graphic>
          <a:graphicData uri="http://schemas.openxmlformats.org/drawingml/2006/table">
            <a:tbl>
              <a:tblPr/>
              <a:tblGrid>
                <a:gridCol w="6309360"/>
                <a:gridCol w="1828800"/>
              </a:tblGrid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Space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SF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Arrival, concierge, retail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Lounge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 suite (2 saunas, 2 plunges)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floor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and regenerative lounge (8 chairs)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 rooms (3)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 and consult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 and PACU (3 monitored bays)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Sterile processing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Sterile supply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Soiled utility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suite circulation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Locker, shower, changing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Staff, MEP, storage, circulation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FACILITY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Stations and equipment.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sits in the 6,700 square feet, and how it is paid for.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39319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Stations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 rooms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/ regenerative chairs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Saunas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plunges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robotic massage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Ammortal chambers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Hyperbaric chambers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/ consult rooms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stations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754880" y="164592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01184" y="1773936"/>
            <a:ext cx="3246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EQUIPMENT STRATEGY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4901184" y="1993392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Purchased where payback justifies it, surgical equipment part leased. Wet areas drive cost — plunges, saunas and steam carry a materially higher per-SF buildout than a dry medspa, which is why the lean case trims the contrast suite before it trims treatment rooms.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building can serve the memberships being sold.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bottom-up from station hours, not assumed. The circuit bottleneck is the cold plunge, not the sauna; the clinical bottleneck is treatment rooms.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24028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36829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73%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9224" y="280720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circuit utilization. 2,345 modeled visits against 3,192 practical capacity, leaving 847 visits of headroom.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70504" y="224028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6808" y="236829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59%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16808" y="280720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room utilization. 300 procedures against 507 practical capacity, leaving 207 slots of headroom.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8088" y="2240280"/>
            <a:ext cx="2602992" cy="1554480"/>
          </a:xfrm>
          <a:prstGeom prst="roundRect">
            <a:avLst>
              <a:gd name="adj" fmla="val 3529"/>
            </a:avLst>
          </a:prstGeom>
          <a:solidFill>
            <a:srgbClr val="241C1A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84392" y="236829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61%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184392" y="2807208"/>
            <a:ext cx="23103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room utilization. 22 cases needing 38.5 hours against 63 practical hours across nine block days, leaving 24.5 hours of headroom.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capacity applies a utilization ceiling to theoretical station hours, because demand concentrates at peak times and nothing runs flat out. Headroom is the growth the facility can absorb without further capital.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MARKET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large, fast, cash-pay category.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carries its source. Anything we could not source was cut rather than estimated.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81381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560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Figure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Value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Source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wellness economy,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$6.8T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Wellness Institute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medical spa market,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$27.8B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View Research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medical spas, 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View Research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consumers calling wellness a top or important priority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McKinsey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concierge medicine market by 2034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$19.4B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in Patientfy longevity market map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adults currently taking a GLP-1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in 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Longevity retreats market,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$11.1B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and Markets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CATCHMENT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Playa Vista is the right box on the map.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02992" cy="1828800"/>
          </a:xfrm>
          <a:prstGeom prst="roundRect">
            <a:avLst>
              <a:gd name="adj" fmla="val 300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59105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$129,942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9224" y="2029968"/>
            <a:ext cx="2310384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median household income. Against a Los Angeles County median well below it. This is a cash-pay catchment.  (US Census Bureau, via Point2Homes)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70504" y="1463040"/>
            <a:ext cx="2602992" cy="1828800"/>
          </a:xfrm>
          <a:prstGeom prst="roundRect">
            <a:avLst>
              <a:gd name="adj" fmla="val 300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6808" y="159105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500+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16808" y="2029968"/>
            <a:ext cx="2310384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companies in Silicon Beach. The Westside tech corridor that Playa Vista sits at the center of.  (Wikipedia, Silicon Beach)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38088" y="1463040"/>
            <a:ext cx="2602992" cy="1828800"/>
          </a:xfrm>
          <a:prstGeom prst="roundRect">
            <a:avLst>
              <a:gd name="adj" fmla="val 3000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84392" y="1591056"/>
            <a:ext cx="23103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~5,100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84392" y="2029968"/>
            <a:ext cx="2310384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 at The Campus at Playa Vista. Up from roughly 2,000 in 2015, a 150% increase. A dense, high-income daytime population inside walking distance.  (Los Angeles Business Journal)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352044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INSIDE A REALISTIC DRIVE TIME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37490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  ·   Marina del Rey   ·   Culver City   ·   Venice   ·   Santa Monica   ·   Playa del Rey   ·   El Segundo   ·   Westchester   ·   Mar Vista   ·   Manhattan Beach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UNIT ECONOMICS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Seventeen wellness lines, every one cash-pay.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insurance contracts, no payer mix, no receivables aging. Price is the midpoint of a stated band.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81381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234440"/>
                <a:gridCol w="868680"/>
                <a:gridCol w="777240"/>
                <a:gridCol w="1097280"/>
                <a:gridCol w="1371600"/>
              </a:tblGrid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Category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Price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Margin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Sessions/mo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Gross/mo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Robotic Massage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Ammortal Chamber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$14,400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Light Therapy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Hyperbaric Oxygen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PRP Injections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$57,500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/ NeuFit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/ Peptide / GLP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Therapy (NAD+ / Drips)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Botox &amp; Fillers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Laser Platform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$25,500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Biometrics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Morpheus8 RF Microneedling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$35,040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DNA Analysis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Emsculpt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 Testing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$10,500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CoolSculpting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DEXA Scan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Wellness delivery at rack 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$419,230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UNIT ECONOMICS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Seven surgical lines, also cash-pay.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Elective self-pay only. No payer contracts on the surgical side either, which is the direct result of holding the menu to the sedation ceiling.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81381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234440"/>
                <a:gridCol w="868680"/>
                <a:gridCol w="777240"/>
                <a:gridCol w="1097280"/>
                <a:gridCol w="1371600"/>
              </a:tblGrid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Category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Price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Margin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Sessions/mo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Gross/mo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Blepharoplasty (facility fee)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$2,800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$19,600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Facial Contouring Surgery (facility fee)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$2,800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Awake Liposuction &amp; Body Contouring (facility fee)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$3,800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$22,800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 Grafting &amp; Transfer (facility fee)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$2,800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Hair Restoration 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Surgical Procedures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$26,400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Ablative Laser &amp; Skin Tightening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325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delivery at rack 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$145,250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" marR="13716" marT="13716" marB="1371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3310128"/>
            <a:ext cx="8138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C08D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operating-room lines are FACILITY FEES.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what L&amp;K collects for the room, clinical staff, supplies, sedation monitoring and recovery. The surgeon is a principal who bills the patient directly for their professional fee, which never appears on these books — so the all-in price a patient pays is materially higher than the figures above. That is also why OR margins exceed the treatment-room lines: with no surgeon share to pay, facility cost of goods is disposables, implants, drugs and linens only. Across 38.5 OR hours a month the schedule works out to about $1,756 per operating-room hour. Hair restoration, ablative laser and office excisions bill the full fee, because the clinic’s own clinicians perform them in treatment rooms it already has.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REVENUE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Membership revenue is not additive.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mistake is to stack membership fees on top of full a la carte revenue. Members draw down a credit bank against services that would otherwise be paid at rack rate, so redemption is netted out first.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Build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delivery at rack 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$564,480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member credit redemption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-$129,500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member and Friends discount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-$34,798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 carte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$400,182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 membership fees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 day pass and access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REVENUE PER MONTH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$650,807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and Longevity members pay $207,500 a month and redeem $129,500 of service at retail. Redemption ratio 62.4%. If that exceeded 100% the credit bank would be underpriced; the model asserts it cannot.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Breakeven at month 13.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one through six are construction and founding presales. Debt service is interest-only through construction and the ramp, then amortizes.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8138160" cy="2377440"/>
          </a:xfrm>
          <a:prstGeom prst="rect">
            <a:avLst/>
          </a:prstGeom>
          <a:solidFill>
            <a:srgbClr val="000000"/>
          </a:solidFill>
          <a:ln w="9525">
            <a:solidFill>
              <a:srgbClr val="2E42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569319"/>
            <a:ext cx="8138160" cy="1097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909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515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121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727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4333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69390" y="2569319"/>
            <a:ext cx="153721" cy="973870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4333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895450" y="2569319"/>
            <a:ext cx="153721" cy="1380889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21510" y="2569319"/>
            <a:ext cx="153721" cy="1116355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7570" y="2569319"/>
            <a:ext cx="153721" cy="814032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73630" y="2569319"/>
            <a:ext cx="153721" cy="58729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99690" y="2569319"/>
            <a:ext cx="153721" cy="360547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25750" y="2569319"/>
            <a:ext cx="153721" cy="133809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9969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3251810" y="2476381"/>
            <a:ext cx="153721" cy="92938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7870" y="2325219"/>
            <a:ext cx="153721" cy="244099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3930" y="2174058"/>
            <a:ext cx="153721" cy="39526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29990" y="2022896"/>
            <a:ext cx="153721" cy="546422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56050" y="1871735"/>
            <a:ext cx="153721" cy="697584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2110" y="1841840"/>
            <a:ext cx="153721" cy="727478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5605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608170" y="1811938"/>
            <a:ext cx="153721" cy="757380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34230" y="1782044"/>
            <a:ext cx="153721" cy="787275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60290" y="1752150"/>
            <a:ext cx="153721" cy="817169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86350" y="1722247"/>
            <a:ext cx="153721" cy="84707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12410" y="1702321"/>
            <a:ext cx="153721" cy="866998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8470" y="1682386"/>
            <a:ext cx="153721" cy="886933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241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M24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5964530" y="1662459"/>
            <a:ext cx="153721" cy="906860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90590" y="1642524"/>
            <a:ext cx="153721" cy="926795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16650" y="1632564"/>
            <a:ext cx="153721" cy="936754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42710" y="1612630"/>
            <a:ext cx="153721" cy="956689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68770" y="1602662"/>
            <a:ext cx="153721" cy="966656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94830" y="1592703"/>
            <a:ext cx="153721" cy="976616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6877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7320890" y="1582735"/>
            <a:ext cx="153721" cy="986583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46950" y="1572768"/>
            <a:ext cx="153721" cy="99655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73010" y="1572768"/>
            <a:ext cx="153721" cy="99655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999070" y="1572768"/>
            <a:ext cx="153721" cy="99655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5130" y="1572768"/>
            <a:ext cx="153721" cy="99655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51190" y="1572768"/>
            <a:ext cx="153721" cy="996551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25130" y="3977640"/>
            <a:ext cx="6781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M36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76072" y="1618488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$127,376 / mo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76072" y="374904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$-176,501 / mo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trough -$1,160,257 at month 14, against a $1,395,000 working capital and debt service reserve funded inside use of funds.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STABILIZED P&amp;L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Monthly, at stabilization. Projected.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07008"/>
          <a:ext cx="81381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828800"/>
                <a:gridCol w="1828800"/>
              </a:tblGrid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Line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revenue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revenue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$650,807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services delivered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-$149,021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 consumables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-$18,760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after COGS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 (6,700 SF NNN)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-$36,850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and club staff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-$165,000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and management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-$30,000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and member acquisition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-$32,000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Malpractice and liability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-$26,000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Equipment leases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Utilities, software, member platform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-$18,500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Licensing, compliance and accreditation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-$10,000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fixed overhead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-$355,650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$127,376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17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SENSITIVITY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If we are wrong, how wrong can we afford to be?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flexed against the base case with fixed overhead held constant, which is the conservative treatment.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2602992" cy="2468880"/>
          </a:xfrm>
          <a:prstGeom prst="roundRect">
            <a:avLst>
              <a:gd name="adj" fmla="val 2222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810512"/>
            <a:ext cx="2310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9224" y="2011680"/>
            <a:ext cx="2310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$-0.09M / yr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9224" y="2395728"/>
            <a:ext cx="2310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member ramp, 72% of base volume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9224" y="2880360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mo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04416" y="2880360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$468,581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9224" y="3172968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after COGS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04416" y="3172968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$347,779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9224" y="3465576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/ mo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04416" y="3465576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$-7,871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9224" y="3758184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04416" y="3758184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-0.11x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70504" y="1691640"/>
            <a:ext cx="2602992" cy="2468880"/>
          </a:xfrm>
          <a:prstGeom prst="roundRect">
            <a:avLst>
              <a:gd name="adj" fmla="val 2222"/>
            </a:avLst>
          </a:prstGeom>
          <a:solidFill>
            <a:srgbClr val="241C1A"/>
          </a:solidFill>
          <a:ln w="19050">
            <a:solidFill>
              <a:srgbClr val="C08D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16808" y="1810512"/>
            <a:ext cx="2310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4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16808" y="2011680"/>
            <a:ext cx="2310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$1.53M / yr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416808" y="2395728"/>
            <a:ext cx="2310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assumptions at stabilization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16808" y="2880360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mo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0" y="2880360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$650,807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16808" y="3172968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after COGS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0" y="3172968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$483,026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16808" y="3465576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/ mo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0" y="3465576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$127,376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6808" y="3758184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0" y="3758184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1.78x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38088" y="1691640"/>
            <a:ext cx="2602992" cy="2468880"/>
          </a:xfrm>
          <a:prstGeom prst="roundRect">
            <a:avLst>
              <a:gd name="adj" fmla="val 2222"/>
            </a:avLst>
          </a:prstGeom>
          <a:solidFill>
            <a:srgbClr val="16241C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84392" y="1810512"/>
            <a:ext cx="2310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UPSIDE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84392" y="2011680"/>
            <a:ext cx="2310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$3.15M / yr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184392" y="2395728"/>
            <a:ext cx="2310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demand, 128% of base volume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84392" y="2880360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mo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39584" y="2880360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$833,032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84392" y="3172968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after COGS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39584" y="3172968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$618,273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184392" y="3465576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/ mo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339584" y="3465576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$262,623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184392" y="3758184"/>
            <a:ext cx="12707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39584" y="3758184"/>
            <a:ext cx="115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3.67x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ASK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project cost, Surgical case.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423160"/>
          </a:xfrm>
          <a:prstGeom prst="roundRect">
            <a:avLst>
              <a:gd name="adj" fmla="val 2264"/>
            </a:avLst>
          </a:prstGeom>
          <a:solidFill>
            <a:srgbClr val="241C1A"/>
          </a:solidFill>
          <a:ln w="15875">
            <a:solidFill>
              <a:srgbClr val="C08D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020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$5.55M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95528" y="2578608"/>
            <a:ext cx="75529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the ample case, plus one accredited office-based surgery suite.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95528" y="3054096"/>
            <a:ext cx="177850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SBA 7(A) LOAN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95528" y="3364992"/>
            <a:ext cx="17785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$4,995,000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3764" y="3054096"/>
            <a:ext cx="177850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EQUITY INJECTION · 10% FLOOR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683764" y="3364992"/>
            <a:ext cx="17785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$555,000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3054096"/>
            <a:ext cx="177850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EQUITY AT 20% PLANNING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572000" y="3364992"/>
            <a:ext cx="17785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$1,110,000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60236" y="3054096"/>
            <a:ext cx="177850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4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FOOTPRINT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60236" y="3364992"/>
            <a:ext cx="17785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6,700 SF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4041648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 10% SOP floor and the 20% planning figure are shown because lenders routinely require more than the floor from a business with no operating history.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OF FUNDS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the $5.55M goes.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capital and debt service reserve is sized against the modeled cash trough of $1,160,257 at month 14, not to a round number.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81381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600200"/>
                <a:gridCol w="160020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Use of funds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Amount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project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Buildout and tenant improvements (5,800 SF clinic and club @ $250/SF)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$1,450,000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suite buildout (900 SF @ $320/SF, OR-grade HVAC and finishes)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$288,000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gas, emergency power, life-safety branch for the suite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Wet areas: 2 saunas, 2 plunges, steam, drainage, ventilation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$465,000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and aesthetic equipment (purchased)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capital equipment (balance leased)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technology: HBOT purchased, Ammortal deposit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$182,000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FF&amp;E, lounge, millwork, retail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Pre-opening: licensing, legal, insurance, hiring, transfer agreement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Accreditation: Quad A survey, policies, QA/PI program, staff training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Brand, launch, founding member 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and debt service reserve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$1,395,000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project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$5,550,000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SBA PACKAGE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Structured to the actual rule.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40233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508760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Loan structure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Value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project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$5,550,000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SBA 7(a) loan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$4,995,000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injection (10% SOP floor)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$555,000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injection (20% planning)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$1,110,000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9.5% (Prime + 2.75%)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years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Interest-only period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months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during interest-only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$39,544 /mo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once amortizing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$71,558 /mo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and reserve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$1,395,000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371600"/>
          <a:ext cx="39776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188720"/>
                <a:gridCol w="77724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Year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Debt service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DSCR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-$1,308,352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$355,896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$979,922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$666,612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$1,487,751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$858,696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Stabilized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$1,528,512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$858,701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800600" y="278892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sensitivity: 1.78x at 9.5%   ·   1.72x at 10.5%   ·   1.66x at 11.5%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502920" y="3794760"/>
            <a:ext cx="8138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 7(a) caps at a $5,000,000 loan; SBA maximum guarantee exposure is $3,750,000. SOP 50 10 8 requires a minimum 10% equity injection for a startup, and lenders routinely require more of a business with no operating history. An unconditional personal guaranty is required from any owner holding 20% or more. The 1.25x coverage threshold is prevailing lender underwriting convention, not an SBA regulation.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9" name="Text 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DISCLOSURES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we are flagging before you ask.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1381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operating income is negative. Six of those months are construction and the rest are the opening ramp. Debt service is interest-only for the first 18 months, and the $1,395,000 reserve inside use of funds is sized against a modeled cash trough of $1,160,257 at month 14.</a:t>
            </a:r>
            <a:endParaRPr lang="en-US" sz="10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 coverage of 1.47x already clears the 1.25x convention, before the business reaches stabilization.</a:t>
            </a:r>
            <a:endParaRPr lang="en-US" sz="10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sensitivity: stabilized coverage runs 1.78x at 9.5%, 1.72x at 10.5%, 1.66x at 11.5%. Coverage holds above 1.25x even 200 basis points above the assumed rate.</a:t>
            </a:r>
            <a:endParaRPr lang="en-US" sz="10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18-month interest-only period compresses amortization into the remaining 102 months, raising the eventual payment. It buys ramp-year survivability at the cost of stabilized coverage, and both effects are reflected in the figures above.</a:t>
            </a:r>
            <a:endParaRPr lang="en-US" sz="10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forward-looking figures are projections on the stated assumptions and are not guarantees. Market and demographic figures carry their sources; anything unsourced was cut rather than estimated.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TIMELINE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From signature to stabilization.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525219" cy="2560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63624"/>
            <a:ext cx="100584" cy="100584"/>
          </a:xfrm>
          <a:prstGeom prst="ellipse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52521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0–3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1938528"/>
            <a:ext cx="15252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Close and design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2212848"/>
            <a:ext cx="15252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closes, lease executed, architect and contractor engaged, permits filed. Founding member campaign opens.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56155" y="1600200"/>
            <a:ext cx="1525219" cy="2560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56155" y="1563624"/>
            <a:ext cx="100584" cy="100584"/>
          </a:xfrm>
          <a:prstGeom prst="ellipse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6155" y="1755648"/>
            <a:ext cx="152521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3–6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156155" y="1938528"/>
            <a:ext cx="15252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56155" y="2212848"/>
            <a:ext cx="15252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Buildout, wet-area rough-in, equipment ordered. Medical director and injector recruited and credentialed.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809390" y="1600200"/>
            <a:ext cx="1525219" cy="2560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09390" y="1563624"/>
            <a:ext cx="100584" cy="100584"/>
          </a:xfrm>
          <a:prstGeom prst="ellipse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09390" y="1755648"/>
            <a:ext cx="152521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7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09390" y="1938528"/>
            <a:ext cx="15252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09390" y="2212848"/>
            <a:ext cx="15252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 open to founding members first, public booking the same week. Clinic and club launch together.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62626" y="1600200"/>
            <a:ext cx="1525219" cy="2560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62626" y="1563624"/>
            <a:ext cx="100584" cy="100584"/>
          </a:xfrm>
          <a:prstGeom prst="ellipse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2626" y="1755648"/>
            <a:ext cx="152521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8–14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462626" y="1938528"/>
            <a:ext cx="15252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Fill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62626" y="2212848"/>
            <a:ext cx="15252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ramp, events programming, referral engine from the open clinic. Operating breakeven lands here.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15861" y="1600200"/>
            <a:ext cx="1525219" cy="25603"/>
          </a:xfrm>
          <a:prstGeom prst="rect">
            <a:avLst/>
          </a:prstGeom>
          <a:solidFill>
            <a:srgbClr val="2E4237"/>
          </a:solidFill>
          <a:ln w="12700">
            <a:solidFill>
              <a:srgbClr val="2E423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15861" y="1563624"/>
            <a:ext cx="100584" cy="100584"/>
          </a:xfrm>
          <a:prstGeom prst="ellipse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15861" y="1755648"/>
            <a:ext cx="152521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 15–36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115861" y="1938528"/>
            <a:ext cx="15252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Stabilize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15861" y="2212848"/>
            <a:ext cx="15252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Amortization begins at month 19. Caps approached on Resident and Longevity. Waitlist opens.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operating team is in place.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Clinical, aesthetic, longevity and hospitality leadership are all seated. No key role is open at opening.</a:t>
            </a:r>
            <a:endParaRPr lang="en-US" sz="11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840480"/>
                <a:gridCol w="16459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Seat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Responsibility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Status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&amp; Operator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Operations, brand, capital, compliance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Director (MD/DO)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oversight, protocols, standing orders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Surgeon (plastic or facial plastic) · Principal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Operative cases, patient selection, surgical QA. Bills professional fees directly, not facility payroll.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Tech, Circulator and Monitoring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setup, sterile field, sedation monitoring, PACU, instrument processing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 Injector (NP or PA)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Neuromodulators, filler, energy devices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Longevity Clinical Lead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Hormone, peptide, GLP-1 and biomarker programs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Club General Manager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Membership, events, hospitality, retention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Nurses (2)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therapy, regenerative, recovery floor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A8A2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RISKS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could go wrong, and what we did about it.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70432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3949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Risk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Mitigation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Membership fills slower than modeled.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clinic is open to non-members from day one, so revenue does not depend on the club filling. The low case flexes volume to 72% of base and still services debt.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redeem more than their fees cover.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banks are sized against measured redemption and the model asserts the ratio stays below 100%. The three-month minimum with 30-day change notice makes repricing operationally possible.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key clinical seat turns over during the ramp.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club layer, recovery floor and IV lounge run on materially less scarce staffing than the injectable and physician-led lines, so a temporary gap narrows the offering without closing the building. Clinical compensation carries retention terms through the ramp.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adverse surgical event, or an accreditation lapse.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sedation ceiling and two-hour recovery cap exclude every general-anesthesia procedure and its acuity. Patient-selection criteria, a written transfer agreement with a nearby acute-care facility, and a standing QA program sit behind that.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room utilization comes in below plan.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facility bills for the room, not for a particular surgeon, so this is not one person’s key-person exposure — further credentialed principals can be added without changing the model. Facility fees are roughly a tenth of revenue and the OR runs at 61% of practical capacity, so coverage holds above 1.25x on the wellness business alone.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Rates move against us before close.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is stress-tested 200 basis points above assumption and disclosed at each level rather than quoted at one.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national brand opens nearby.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defensible asset is the licensed medical practice, not the sauna. A recovery studio cannot add injectables, hormones and physician oversight without becoming a medical practice.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Wet-area construction overruns.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highest-variance line in the buildout. The lean case exists precisely as the fallback scope, and the reserve is sized against the modeled cash trough rather than to a round number.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117" marR="20117" marT="20117" marB="20117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051560"/>
            <a:ext cx="8138160" cy="2834640"/>
          </a:xfrm>
          <a:prstGeom prst="roundRect">
            <a:avLst>
              <a:gd name="adj" fmla="val 2581"/>
            </a:avLst>
          </a:prstGeom>
          <a:solidFill>
            <a:srgbClr val="241C1A"/>
          </a:solidFill>
          <a:ln w="15875">
            <a:solidFill>
              <a:srgbClr val="C08D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3716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PLAYA VISTA, CALIFORNIA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8138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Self-care is already social.</a:t>
            </a:r>
            <a:endParaRPr lang="en-US" sz="2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Nobody has built the room for it.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case  ·  $5.55M project  ·  6,700 SF  ·  1.78x stabilized coverage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model, capacity workbook and buildout detail available under NDA.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364992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Laura@culvercitysurgical.com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is not an offer to sell or a solicitation of an offer to buy any security. Forward-looking figures are projections and not guarantees of future performance.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417320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4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these numbers were built.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2359152"/>
            <a:ext cx="822960" cy="36576"/>
          </a:xfrm>
          <a:prstGeom prst="rect">
            <a:avLst/>
          </a:prstGeom>
          <a:solidFill>
            <a:srgbClr val="C08D7C"/>
          </a:solidFill>
          <a:ln w="12700">
            <a:solidFill>
              <a:srgbClr val="C08D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606040"/>
            <a:ext cx="667329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brief resolves to a stabilized P&amp;L and a use-of-funds table. The slides that follow itemise both — every overhead line broken into its components, every capital line into what it buys, and the staffing plan named role by role.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3310128"/>
            <a:ext cx="6673291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figures are generated from the same financial model that produces the rest of the deck, so the appendix cannot disagree with the pages in front of it. Each build-up is checked at build time to sum to the total it explains. The final page shows what happens to debt service coverage if the largest assumption — rent — turns out to be wrong.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APPENDIX · FIXED OVERHEAD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Rent, equipment and administration.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overhead totals $355,650 a month. Rent is 6,700 SF at $5.50/SF/month NNN.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3968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8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EQUIPMENT LEASES</a:t>
            </a:r>
            <a:endParaRPr lang="en-US" sz="7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11096"/>
          <a:ext cx="3968496" cy="914400"/>
        </p:xfrm>
        <a:graphic>
          <a:graphicData uri="http://schemas.openxmlformats.org/drawingml/2006/table">
            <a:tbl>
              <a:tblPr/>
              <a:tblGrid>
                <a:gridCol w="2619207"/>
                <a:gridCol w="1349289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Component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Ammortal chambers (2 units) financed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robotic massage (2 units) subscription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of clinical and surgical equipment financed (~$900,000 @ 2.2%/mo)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672584" y="1691640"/>
            <a:ext cx="3968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8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ADMIN AND MANAGEMENT</a:t>
            </a:r>
            <a:endParaRPr lang="en-US" sz="75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72584" y="1911096"/>
          <a:ext cx="3968496" cy="914400"/>
        </p:xfrm>
        <a:graphic>
          <a:graphicData uri="http://schemas.openxmlformats.org/drawingml/2006/table">
            <a:tbl>
              <a:tblPr/>
              <a:tblGrid>
                <a:gridCol w="2619207"/>
                <a:gridCol w="1349289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Component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Bookkeeping and accounting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and compliance retainer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and managed services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insurance (GL, property, cyber)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processing and banking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Recruiting, training, miscellaneous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388620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Ammortal is financed as a single facility covering both chambers: $320,000 of equipment, $32,000 down, $6,500 a month. Aescape cannot be purchased — it is $5,500 a month per unit, plus $10 for every completed massage, which is a variable cost and sits in cost of goods on that service line rather than here.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1" name="Text 7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APPENDIX · FIXED OVERHEAD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Clinical and club staff — $165,000/month.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club runs 14 hours a day, 7 days a week — 98 hours — so one continuously staffed post is 2.45 FTE, not 1. All figures are fully loaded: base plus payroll tax, workers compensation and benefits.</a:t>
            </a:r>
            <a:endParaRPr lang="en-US" sz="11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097280"/>
                <a:gridCol w="1920240"/>
              </a:tblGrid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Role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FTE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Monthly, loaded</a:t>
                      </a:r>
                      <a:endParaRPr lang="en-US" sz="8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&amp; Operator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Director (MD/DO)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 Injector (NP or PA)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Longevity Clinical Lead (NP or PA)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Nurses — IV, regenerative, recovery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assistants / technicians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Club General Manager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 desk / concierge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$11,875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Club hosts / floor attendants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$11,250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Membership &amp; events coordinator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Facilities / housekeeping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$7,375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Technologist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Circulator RN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RN — sedation and PACU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Sterile processing technician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$165,000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459" marR="16459" marT="16459" marB="16459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29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APPENDIX · FIXED OVERHEAD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Marketing and insurance.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3968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8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MARKETING AND MEMBER ACQUISITION</a:t>
            </a:r>
            <a:endParaRPr lang="en-US" sz="7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73936"/>
          <a:ext cx="3968496" cy="914400"/>
        </p:xfrm>
        <a:graphic>
          <a:graphicData uri="http://schemas.openxmlformats.org/drawingml/2006/table">
            <a:tbl>
              <a:tblPr/>
              <a:tblGrid>
                <a:gridCol w="2619207"/>
                <a:gridCol w="134928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Component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digital and social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Content, photography, video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and community programming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Agency / fractional marketing lead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Referral and partnership incentives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72584" y="1554480"/>
            <a:ext cx="3968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8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MALPRACTICE AND LIABILITY</a:t>
            </a:r>
            <a:endParaRPr lang="en-US" sz="750" dirty="0"/>
          </a:p>
        </p:txBody>
      </p:sp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72584" y="1773936"/>
          <a:ext cx="3968496" cy="914400"/>
        </p:xfrm>
        <a:graphic>
          <a:graphicData uri="http://schemas.openxmlformats.org/drawingml/2006/table">
            <a:tbl>
              <a:tblPr/>
              <a:tblGrid>
                <a:gridCol w="2619207"/>
                <a:gridCol w="134928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Component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Director policy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 injector policy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Longevity clinical lead policy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Nursing and surgical staff coverage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 OR facility coverage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policy and raised umbrella limits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384048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per credentialed provider plus an entity policy and umbrella. The surgical case adds facility coverage for an accredited operating room, which is the single largest driver of the difference.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10" name="Text 6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APPENDIX · FIXED OVERHEAD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Utilities and compliance.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3968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8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UTILITIES, SOFTWARE, MEMBER PLATFORM</a:t>
            </a:r>
            <a:endParaRPr lang="en-US" sz="7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73936"/>
          <a:ext cx="3968496" cy="914400"/>
        </p:xfrm>
        <a:graphic>
          <a:graphicData uri="http://schemas.openxmlformats.org/drawingml/2006/table">
            <a:tbl>
              <a:tblPr/>
              <a:tblGrid>
                <a:gridCol w="2619207"/>
                <a:gridCol w="134928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Component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Utilities (electric, gas, water, OR HVAC)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platform and booking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EMR / charting and surgical records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Phone, internet, security monitoring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Laundry and linen 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Music, AV, miscellaneous systems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72584" y="1554480"/>
            <a:ext cx="3968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8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LICENSING, COMPLIANCE AND ACCREDITATION</a:t>
            </a:r>
            <a:endParaRPr lang="en-US" sz="750" dirty="0"/>
          </a:p>
        </p:txBody>
      </p:sp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72584" y="1773936"/>
          <a:ext cx="3968496" cy="914400"/>
        </p:xfrm>
        <a:graphic>
          <a:graphicData uri="http://schemas.openxmlformats.org/drawingml/2006/table">
            <a:tbl>
              <a:tblPr/>
              <a:tblGrid>
                <a:gridCol w="2619207"/>
                <a:gridCol w="134928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Component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licenses and DEA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licenses and permits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CLIA waiver / lab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and policy management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Continuing education and training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Biohazard and sharps disposal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 A accreditation maintenance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QA / PI programme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9" name="Text 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31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APPENDIX · COST OF GOODS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the margins pay for.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goods runs $167,781 a month against $650,807 of revenue, a blended 74.2% margin.</a:t>
            </a:r>
            <a:endParaRPr lang="en-US" sz="11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5577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Category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Margin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What the cost side is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80–85%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Consumables, filters and water treatment, linens, device servicing contracts. Almost no per-session variable cost, which is why these margins are the highest in the building.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72–78%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PRP kits and centrifuge consumables, IV bags, vitamins and NAD+, peptides and pharmacy cost, tubing and sharps.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65–70%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Neuromodulator and filler units at acquisition cost, laser tips and consumables, RF and cryo applicators, topicals. The lowest wellness margins because product cost dominates.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62–70%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lab send-out fees, DEXA consumables, DNA and DUTCH collection kits, interpretation time.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— facility fee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78–80%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Disposables, implants, drugs and linens, instrument reprocessing. Clinical staff sits in fixed overhead and the surgeon takes no share of the facility fee, which is why these exceed the treatment-room lines.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— full fee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73–76%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above, plus graft handling and technician time on hair restoration and laser consumables on ablative resurfacing.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06908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consumables — towels, laundry, water and amenities — are carried separately at $8 a visit across 2,345 monthly visits, or $18,760.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APPENDIX · USE OF FUNDS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itemised capital lines.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3968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8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WET AREAS</a:t>
            </a:r>
            <a:endParaRPr lang="en-US" sz="7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82496"/>
          <a:ext cx="3968496" cy="914400"/>
        </p:xfrm>
        <a:graphic>
          <a:graphicData uri="http://schemas.openxmlformats.org/drawingml/2006/table">
            <a:tbl>
              <a:tblPr/>
              <a:tblGrid>
                <a:gridCol w="2619207"/>
                <a:gridCol w="1349289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Component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Amount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Saunas (2), cedar, heaters, controls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plunges (2), chillers, filtration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Steam room and generator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Waterproofing, drainage, floor slopes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ventilation and dehumidification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Tile, benching, finishes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$465,000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72584" y="1463040"/>
            <a:ext cx="3968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8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RECOVERY TECHNOLOGY</a:t>
            </a:r>
            <a:endParaRPr lang="en-US" sz="75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72584" y="1682496"/>
          <a:ext cx="3968496" cy="914400"/>
        </p:xfrm>
        <a:graphic>
          <a:graphicData uri="http://schemas.openxmlformats.org/drawingml/2006/table">
            <a:tbl>
              <a:tblPr/>
              <a:tblGrid>
                <a:gridCol w="2619207"/>
                <a:gridCol w="1349289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Component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Amount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Hyperbaric oxygen chamber, purchased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Ammortal chambers (2 units, $160,000 each), 10% finance deposit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robotic massage (2 units), subscription only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$182,000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9" name="Text 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APPENDIX · USE OF FUNDS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each capital line covers.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280160"/>
                <a:gridCol w="416052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Line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Amount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7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Buildout and tenant improvements (5,800 SF clinic and…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$1,450,000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Square footage × $250/SF for clinic and club space.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suite buildout (900 SF @ $320/SF, OR-grade…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$288,000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SF × $320/SF for OR-grade construction.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gas, emergency power, life-safety branch for…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gas plus emergency power and life-safety branch for the suite.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Wet areas: 2 saunas, 2 plunges, steam, drainage…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$465,000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Itemised below. Wet construction is the highest-variance line in the whole buildout — waterproofing…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and aesthetic equipment (purchased)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Purchased portion of the medical and aesthetic package.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capital equipment (balance leased)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Purchased portion of the surgical package; the balance is leased.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technology: HBOT purchased, Ammortal deposit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$182,000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hyperbaric chamber is bought outright. The Ammortal chambers are financed, so the capital cost is…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FF&amp;E, lounge, millwork, retail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Furniture, lounge fit-out, millwork and retail fixtures.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Pre-opening: licensing, legal, insurance, hiring…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Licensing, legal, insurance binders, recruiting and pre-opening payroll.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Accreditation: Quad A survey, policies, QA/PI…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 A survey fees, policy and procedure development, QA/PI programme, staff training.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Brand, launch, founding member campaign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Identity, site, photography, launch campaign and the founding member drive.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and debt service reserve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$1,395,000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Sized against the modelled cash trough, not set to a round number.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project cost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8D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$5,550,000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A2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</a:t>
            </a:r>
            <a:endParaRPr lang="en-US" sz="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08D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APPENDIX · SENSITIVITY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DE6D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If rent is wrong, what happens.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8A2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is the largest single assumption in the model and the easiest to check. Everything else is held constant.</a:t>
            </a:r>
            <a:endParaRPr lang="en-US" sz="11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463040"/>
                <a:gridCol w="1645920"/>
                <a:gridCol w="155448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Rent $/SF/month NNN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Monthly rent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/mo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Annual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spc="140" kern="0" dirty="0">
                          <a:solidFill>
                            <a:srgbClr val="C08D7C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DSCR</a:t>
                      </a:r>
                      <a:endParaRPr lang="en-US" sz="8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$5.50  (modelled)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$36,850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$127,376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$1,528,512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$124,026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$1,488,312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$43,550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$120,676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$1,448,112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$46,900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$117,326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$1,407,912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DE6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2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36118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against the 1.25x underwriting convention. The modelled rate is the more aggressive of the figures shown; a broker letter or signed lease would replace this assumption with a fact.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02920" y="475488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L&amp;K WELLNESS  ·  PLAYA VISTA, CA  ·  SURGICAL CASE  ·  CONFIDENTIAL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183880" y="475488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A6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35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LK Wellness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L and K Wellness — Investor and SBA Brief</dc:subject>
  <dc:creator>LK Wellness</dc:creator>
  <cp:lastModifiedBy>LK Wellness</cp:lastModifiedBy>
  <cp:revision>1</cp:revision>
  <dcterms:created xsi:type="dcterms:W3CDTF">2026-08-12T10:01:02Z</dcterms:created>
  <dcterms:modified xsi:type="dcterms:W3CDTF">2026-08-12T10:01:02Z</dcterms:modified>
</cp:coreProperties>
</file>